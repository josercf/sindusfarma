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8" r:id="rId2"/>
  </p:sldMasterIdLst>
  <p:notesMasterIdLst>
    <p:notesMasterId r:id="rId85"/>
  </p:notesMasterIdLst>
  <p:sldIdLst>
    <p:sldId id="256" r:id="rId3"/>
    <p:sldId id="364" r:id="rId4"/>
    <p:sldId id="406" r:id="rId5"/>
    <p:sldId id="257" r:id="rId6"/>
    <p:sldId id="439" r:id="rId8"/>
    <p:sldId id="369" r:id="rId11"/>
    <p:sldId id="431" r:id="rId56"/>
    <p:sldId id="271" r:id="rId58"/>
    <p:sldId id="392" r:id="rId59"/>
    <p:sldId id="393" r:id="rId60"/>
    <p:sldId id="394" r:id="rId61"/>
    <p:sldId id="395" r:id="rId62"/>
    <p:sldId id="397" r:id="rId63"/>
    <p:sldId id="396" r:id="rId66"/>
    <p:sldId id="398" r:id="rId67"/>
    <p:sldId id="399" r:id="rId68"/>
    <p:sldId id="400" r:id="rId69"/>
    <p:sldId id="403" r:id="rId70"/>
    <p:sldId id="404" r:id="rId71"/>
    <p:sldId id="405" r:id="rId72"/>
    <p:sldId id="361" r:id="rId30"/>
    <p:sldId id="449" r:id="rId113"/>
    <p:sldId id="450" r:id="rId114"/>
    <p:sldId id="451" r:id="rId115"/>
    <p:sldId id="411" r:id="rId73"/>
    <p:sldId id="412" r:id="rId74"/>
    <p:sldId id="413" r:id="rId75"/>
    <p:sldId id="436" r:id="rId77"/>
    <p:sldId id="414" r:id="rId79"/>
    <p:sldId id="452" r:id="rId116"/>
    <p:sldId id="282" r:id="rId47"/>
    <p:sldId id="281" r:id="rId46"/>
    <p:sldId id="326" r:id="rId45"/>
    <p:sldId id="463" r:id="rId78"/>
    <p:sldId id="453" r:id="rId117"/>
    <p:sldId id="454" r:id="rId118"/>
    <p:sldId id="455" r:id="rId119"/>
    <p:sldId id="456" r:id="rId120"/>
    <p:sldId id="457" r:id="rId121"/>
    <p:sldId id="458" r:id="rId122"/>
    <p:sldId id="459" r:id="rId123"/>
    <p:sldId id="460" r:id="rId124"/>
    <p:sldId id="461" r:id="rId125"/>
    <p:sldId id="462" r:id="rId126"/>
    <p:sldId id="340" r:id="rId81"/>
    <p:sldId id="401" r:id="rId82"/>
    <p:sldId id="417" r:id="rId83"/>
    <p:sldId id="341" r:id="rId84"/>
  </p:sldIdLst>
  <p:sldSz cx="9144000" cy="5143500" type="screen16x9"/>
  <p:notesSz cx="5143500" cy="9144000"/>
  <p:embeddedFontLst>
    <p:embeddedFont>
      <p:font typeface="Manrope" pitchFamily="2" charset="0"/>
      <p:regular r:id="rId86"/>
      <p:bold r:id="rId87"/>
    </p:embeddedFont>
    <p:embeddedFont>
      <p:font typeface="Manrope Light" pitchFamily="2" charset="0"/>
      <p:regular r:id="rId88"/>
    </p:embeddedFont>
    <p:embeddedFont>
      <p:font typeface="Manrope Medium" pitchFamily="2" charset="0"/>
      <p:regular r:id="rId89"/>
    </p:embeddedFont>
    <p:embeddedFont>
      <p:font typeface="Platypi" panose="020F0502020204030204" pitchFamily="34" charset="0"/>
      <p:regular r:id="rId90"/>
      <p:bold r:id="rId91"/>
      <p:italic r:id="rId92"/>
      <p:boldItalic r:id="rId93"/>
    </p:embeddedFont>
    <p:embeddedFont>
      <p:font typeface="Platypi Light" panose="020F0502020204030204" pitchFamily="34" charset="0"/>
      <p:regular r:id="rId94"/>
      <p:bold r:id="rId95"/>
      <p:italic r:id="rId96"/>
      <p:boldItalic r:id="rId97"/>
    </p:embeddedFont>
    <p:embeddedFont>
      <p:font typeface="Platypi Medium" panose="020F0502020204030204" pitchFamily="34" charset="0"/>
      <p:regular r:id="rId98"/>
      <p:bold r:id="rId99"/>
      <p:italic r:id="rId100"/>
      <p:boldItalic r:id="rId101"/>
    </p:embeddedFont>
    <p:embeddedFont>
      <p:font typeface="Space Mono" panose="02010509030202000204" pitchFamily="49" charset="77"/>
      <p:regular r:id="rId102"/>
      <p:bold r:id="rId103"/>
      <p:italic r:id="rId104"/>
      <p:boldItalic r:id="rId10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9" roundtripDataSignature="AMtx7mhE9eunjq4jI1S68ZgHjFKT6J0Z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2D888-38A8-4440-9CC0-006FE3714675}" v="1" dt="2026-09-20T14:33:31.636"/>
  </p1510:revLst>
</p1510:revInfo>
</file>

<file path=ppt/tableStyles.xml><?xml version="1.0" encoding="utf-8"?>
<a:tblStyleLst xmlns:a="http://schemas.openxmlformats.org/drawingml/2006/main" def="{ADAD4E3E-3B28-4D4B-8860-2DF9D5CB9701}">
  <a:tblStyle styleId="{ADAD4E3E-3B28-4D4B-8860-2DF9D5CB970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8"/>
    <p:restoredTop sz="94612"/>
  </p:normalViewPr>
  <p:slideViewPr>
    <p:cSldViewPr snapToGrid="0">
      <p:cViewPr>
        <p:scale>
          <a:sx n="136" d="100"/>
          <a:sy n="136" d="100"/>
        </p:scale>
        <p:origin x="108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8" Type="http://schemas.openxmlformats.org/officeDocument/2006/relationships/slide" Target="slides/slide5.xml"/><Relationship Id="rId11" Type="http://schemas.openxmlformats.org/officeDocument/2006/relationships/slide" Target="slides/slide6.xml"/><Relationship Id="rId30" Type="http://schemas.openxmlformats.org/officeDocument/2006/relationships/slide" Target="slides/slide21.xml"/><Relationship Id="rId45" Type="http://schemas.openxmlformats.org/officeDocument/2006/relationships/slide" Target="slides/slide33.xml"/><Relationship Id="rId46" Type="http://schemas.openxmlformats.org/officeDocument/2006/relationships/slide" Target="slides/slide32.xml"/><Relationship Id="rId47" Type="http://schemas.openxmlformats.org/officeDocument/2006/relationships/slide" Target="slides/slide31.xml"/><Relationship Id="rId56" Type="http://schemas.openxmlformats.org/officeDocument/2006/relationships/slide" Target="slides/slide7.xml"/><Relationship Id="rId58" Type="http://schemas.openxmlformats.org/officeDocument/2006/relationships/slide" Target="slides/slide8.xml"/><Relationship Id="rId59" Type="http://schemas.openxmlformats.org/officeDocument/2006/relationships/slide" Target="slides/slide9.xml"/><Relationship Id="rId60" Type="http://schemas.openxmlformats.org/officeDocument/2006/relationships/slide" Target="slides/slide10.xml"/><Relationship Id="rId61" Type="http://schemas.openxmlformats.org/officeDocument/2006/relationships/slide" Target="slides/slide11.xml"/><Relationship Id="rId62" Type="http://schemas.openxmlformats.org/officeDocument/2006/relationships/slide" Target="slides/slide12.xml"/><Relationship Id="rId63" Type="http://schemas.openxmlformats.org/officeDocument/2006/relationships/slide" Target="slides/slide13.xml"/><Relationship Id="rId66" Type="http://schemas.openxmlformats.org/officeDocument/2006/relationships/slide" Target="slides/slide14.xml"/><Relationship Id="rId67" Type="http://schemas.openxmlformats.org/officeDocument/2006/relationships/slide" Target="slides/slide15.xml"/><Relationship Id="rId68" Type="http://schemas.openxmlformats.org/officeDocument/2006/relationships/slide" Target="slides/slide16.xml"/><Relationship Id="rId69" Type="http://schemas.openxmlformats.org/officeDocument/2006/relationships/slide" Target="slides/slide17.xml"/><Relationship Id="rId70" Type="http://schemas.openxmlformats.org/officeDocument/2006/relationships/slide" Target="slides/slide18.xml"/><Relationship Id="rId71" Type="http://schemas.openxmlformats.org/officeDocument/2006/relationships/slide" Target="slides/slide19.xml"/><Relationship Id="rId72" Type="http://schemas.openxmlformats.org/officeDocument/2006/relationships/slide" Target="slides/slide20.xml"/><Relationship Id="rId73" Type="http://schemas.openxmlformats.org/officeDocument/2006/relationships/slide" Target="slides/slide25.xml"/><Relationship Id="rId74" Type="http://schemas.openxmlformats.org/officeDocument/2006/relationships/slide" Target="slides/slide26.xml"/><Relationship Id="rId75" Type="http://schemas.openxmlformats.org/officeDocument/2006/relationships/slide" Target="slides/slide27.xml"/><Relationship Id="rId77" Type="http://schemas.openxmlformats.org/officeDocument/2006/relationships/slide" Target="slides/slide28.xml"/><Relationship Id="rId78" Type="http://schemas.openxmlformats.org/officeDocument/2006/relationships/slide" Target="slides/slide49.xml"/><Relationship Id="rId79" Type="http://schemas.openxmlformats.org/officeDocument/2006/relationships/slide" Target="slides/slide29.xml"/><Relationship Id="rId81" Type="http://schemas.openxmlformats.org/officeDocument/2006/relationships/slide" Target="slides/slide45.xml"/><Relationship Id="rId82" Type="http://schemas.openxmlformats.org/officeDocument/2006/relationships/slide" Target="slides/slide46.xml"/><Relationship Id="rId83" Type="http://schemas.openxmlformats.org/officeDocument/2006/relationships/slide" Target="slides/slide47.xml"/><Relationship Id="rId84" Type="http://schemas.openxmlformats.org/officeDocument/2006/relationships/slide" Target="slides/slide48.xml"/><Relationship Id="rId85" Type="http://schemas.openxmlformats.org/officeDocument/2006/relationships/notesMaster" Target="notesMasters/notesMaster1.xml"/><Relationship Id="rId86" Type="http://schemas.openxmlformats.org/officeDocument/2006/relationships/font" Target="fonts/font1.fntdata"/><Relationship Id="rId87" Type="http://schemas.openxmlformats.org/officeDocument/2006/relationships/font" Target="fonts/font2.fntdata"/><Relationship Id="rId88" Type="http://schemas.openxmlformats.org/officeDocument/2006/relationships/font" Target="fonts/font3.fntdata"/><Relationship Id="rId89" Type="http://schemas.openxmlformats.org/officeDocument/2006/relationships/font" Target="fonts/font4.fntdata"/><Relationship Id="rId90" Type="http://schemas.openxmlformats.org/officeDocument/2006/relationships/font" Target="fonts/font5.fntdata"/><Relationship Id="rId91" Type="http://schemas.openxmlformats.org/officeDocument/2006/relationships/font" Target="fonts/font6.fntdata"/><Relationship Id="rId92" Type="http://schemas.openxmlformats.org/officeDocument/2006/relationships/font" Target="fonts/font7.fntdata"/><Relationship Id="rId93" Type="http://schemas.openxmlformats.org/officeDocument/2006/relationships/font" Target="fonts/font8.fntdata"/><Relationship Id="rId94" Type="http://schemas.openxmlformats.org/officeDocument/2006/relationships/font" Target="fonts/font9.fntdata"/><Relationship Id="rId95" Type="http://schemas.openxmlformats.org/officeDocument/2006/relationships/font" Target="fonts/font10.fntdata"/><Relationship Id="rId96" Type="http://schemas.openxmlformats.org/officeDocument/2006/relationships/font" Target="fonts/font11.fntdata"/><Relationship Id="rId97" Type="http://schemas.openxmlformats.org/officeDocument/2006/relationships/font" Target="fonts/font12.fntdata"/><Relationship Id="rId98" Type="http://schemas.openxmlformats.org/officeDocument/2006/relationships/font" Target="fonts/font13.fntdata"/><Relationship Id="rId99" Type="http://schemas.openxmlformats.org/officeDocument/2006/relationships/font" Target="fonts/font14.fntdata"/><Relationship Id="rId100" Type="http://schemas.openxmlformats.org/officeDocument/2006/relationships/font" Target="fonts/font15.fntdata"/><Relationship Id="rId101" Type="http://schemas.openxmlformats.org/officeDocument/2006/relationships/font" Target="fonts/font16.fntdata"/><Relationship Id="rId102" Type="http://schemas.openxmlformats.org/officeDocument/2006/relationships/font" Target="fonts/font17.fntdata"/><Relationship Id="rId103" Type="http://schemas.openxmlformats.org/officeDocument/2006/relationships/font" Target="fonts/font18.fntdata"/><Relationship Id="rId104" Type="http://schemas.openxmlformats.org/officeDocument/2006/relationships/font" Target="fonts/font19.fntdata"/><Relationship Id="rId105" Type="http://schemas.openxmlformats.org/officeDocument/2006/relationships/font" Target="fonts/font20.fntdata"/><Relationship Id="rId113" Type="http://schemas.openxmlformats.org/officeDocument/2006/relationships/slide" Target="slides/slide22.xml"/><Relationship Id="rId114" Type="http://schemas.openxmlformats.org/officeDocument/2006/relationships/slide" Target="slides/slide23.xml"/><Relationship Id="rId115" Type="http://schemas.openxmlformats.org/officeDocument/2006/relationships/slide" Target="slides/slide24.xml"/><Relationship Id="rId116" Type="http://schemas.openxmlformats.org/officeDocument/2006/relationships/slide" Target="slides/slide30.xml"/><Relationship Id="rId117" Type="http://schemas.openxmlformats.org/officeDocument/2006/relationships/slide" Target="slides/slide35.xml"/><Relationship Id="rId118" Type="http://schemas.openxmlformats.org/officeDocument/2006/relationships/slide" Target="slides/slide36.xml"/><Relationship Id="rId119" Type="http://schemas.openxmlformats.org/officeDocument/2006/relationships/slide" Target="slides/slide37.xml"/><Relationship Id="rId120" Type="http://schemas.openxmlformats.org/officeDocument/2006/relationships/slide" Target="slides/slide38.xml"/><Relationship Id="rId121" Type="http://schemas.openxmlformats.org/officeDocument/2006/relationships/slide" Target="slides/slide39.xml"/><Relationship Id="rId122" Type="http://schemas.openxmlformats.org/officeDocument/2006/relationships/slide" Target="slides/slide40.xml"/><Relationship Id="rId123" Type="http://schemas.openxmlformats.org/officeDocument/2006/relationships/slide" Target="slides/slide41.xml"/><Relationship Id="rId124" Type="http://schemas.openxmlformats.org/officeDocument/2006/relationships/slide" Target="slides/slide42.xml"/><Relationship Id="rId125" Type="http://schemas.openxmlformats.org/officeDocument/2006/relationships/slide" Target="slides/slide43.xml"/><Relationship Id="rId126" Type="http://schemas.openxmlformats.org/officeDocument/2006/relationships/slide" Target="slides/slide44.xml"/><Relationship Id="rId129" Type="http://customschemas.google.com/relationships/presentationmetadata" Target="metadata"/><Relationship Id="rId130" Type="http://schemas.openxmlformats.org/officeDocument/2006/relationships/presProps" Target="presProps.xml"/><Relationship Id="rId131" Type="http://schemas.openxmlformats.org/officeDocument/2006/relationships/viewProps" Target="viewProps.xml"/><Relationship Id="rId132" Type="http://schemas.openxmlformats.org/officeDocument/2006/relationships/theme" Target="theme/theme1.xml"/><Relationship Id="rId133" Type="http://schemas.openxmlformats.org/officeDocument/2006/relationships/tableStyles" Target="tableStyles.xml"/><Relationship Id="rId134" Type="http://schemas.microsoft.com/office/2016/11/relationships/changesInfo" Target="changesInfos/changesInfo1.xml"/><Relationship Id="rId1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Romualdo Costa Filho" userId="a811325af1610333" providerId="LiveId" clId="{1A5078BE-E6DE-530E-AD2F-11A3B71CEA17}"/>
    <pc:docChg chg="addSld delSld modSld sldOrd">
      <pc:chgData name="José Romualdo Costa Filho" userId="a811325af1610333" providerId="LiveId" clId="{1A5078BE-E6DE-530E-AD2F-11A3B71CEA17}" dt="2026-09-20T14:37:41.504" v="28" actId="2696"/>
      <pc:docMkLst>
        <pc:docMk/>
      </pc:docMkLst>
      <pc:sldChg chg="addSp delSp modSp add mod modNotes">
        <pc:chgData name="José Romualdo Costa Filho" userId="a811325af1610333" providerId="LiveId" clId="{1A5078BE-E6DE-530E-AD2F-11A3B71CEA17}" dt="2026-09-20T14:33:32.507" v="25"/>
        <pc:sldMkLst>
          <pc:docMk/>
          <pc:sldMk cId="0" sldId="366"/>
        </pc:sldMkLst>
        <pc:spChg chg="add del mod">
          <ac:chgData name="José Romualdo Costa Filho" userId="a811325af1610333" providerId="LiveId" clId="{1A5078BE-E6DE-530E-AD2F-11A3B71CEA17}" dt="2026-09-20T14:33:32.507" v="25"/>
          <ac:spMkLst>
            <pc:docMk/>
            <pc:sldMk cId="0" sldId="366"/>
            <ac:spMk id="2" creationId="{538331B5-0080-C23B-6348-90B45541D937}"/>
          </ac:spMkLst>
        </pc:spChg>
      </pc:sldChg>
      <pc:sldChg chg="del">
        <pc:chgData name="José Romualdo Costa Filho" userId="a811325af1610333" providerId="LiveId" clId="{1A5078BE-E6DE-530E-AD2F-11A3B71CEA17}" dt="2026-09-20T14:37:39.876" v="26" actId="2696"/>
        <pc:sldMkLst>
          <pc:docMk/>
          <pc:sldMk cId="0" sldId="371"/>
        </pc:sldMkLst>
      </pc:sldChg>
      <pc:sldChg chg="del">
        <pc:chgData name="José Romualdo Costa Filho" userId="a811325af1610333" providerId="LiveId" clId="{1A5078BE-E6DE-530E-AD2F-11A3B71CEA17}" dt="2026-09-20T14:37:40.668" v="27" actId="2696"/>
        <pc:sldMkLst>
          <pc:docMk/>
          <pc:sldMk cId="0" sldId="372"/>
        </pc:sldMkLst>
      </pc:sldChg>
      <pc:sldChg chg="del">
        <pc:chgData name="José Romualdo Costa Filho" userId="a811325af1610333" providerId="LiveId" clId="{1A5078BE-E6DE-530E-AD2F-11A3B71CEA17}" dt="2026-09-20T14:37:41.504" v="28" actId="2696"/>
        <pc:sldMkLst>
          <pc:docMk/>
          <pc:sldMk cId="0" sldId="37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07a91374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g3f07a913747_0_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5affc34e5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2" name="Google Shape;502;g3f5affc34e5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 err="1"/>
              <a:t>Manhã</a:t>
            </a:r>
            <a:r>
              <a:rPr dirty="0"/>
              <a:t>: </a:t>
            </a:r>
            <a:r>
              <a:rPr dirty="0" err="1"/>
              <a:t>Módulo</a:t>
            </a:r>
            <a:r>
              <a:rPr dirty="0"/>
              <a:t> 1 (</a:t>
            </a:r>
            <a:r>
              <a:rPr dirty="0" err="1"/>
              <a:t>este</a:t>
            </a:r>
            <a:r>
              <a:rPr dirty="0"/>
              <a:t> deck). Tarde: </a:t>
            </a:r>
            <a:r>
              <a:rPr dirty="0" err="1"/>
              <a:t>Módulo</a:t>
            </a:r>
            <a:r>
              <a:rPr dirty="0"/>
              <a:t> 2, </a:t>
            </a:r>
            <a:r>
              <a:rPr dirty="0" err="1"/>
              <a:t>conforme</a:t>
            </a:r>
            <a:r>
              <a:rPr dirty="0"/>
              <a:t> o </a:t>
            </a:r>
            <a:r>
              <a:rPr dirty="0" err="1"/>
              <a:t>guia</a:t>
            </a:r>
            <a:r>
              <a:rPr dirty="0"/>
              <a:t> do </a:t>
            </a:r>
            <a:r>
              <a:rPr dirty="0" err="1"/>
              <a:t>curso</a:t>
            </a:r>
            <a:r>
              <a:rPr dirty="0"/>
              <a:t>; </a:t>
            </a:r>
            <a:r>
              <a:rPr dirty="0" err="1"/>
              <a:t>conferir</a:t>
            </a:r>
            <a:r>
              <a:rPr dirty="0"/>
              <a:t> com a </a:t>
            </a:r>
            <a:r>
              <a:rPr dirty="0" err="1"/>
              <a:t>coordenação</a:t>
            </a:r>
            <a:r>
              <a:rPr dirty="0"/>
              <a:t> quem </a:t>
            </a:r>
            <a:r>
              <a:rPr dirty="0" err="1"/>
              <a:t>conduz</a:t>
            </a:r>
            <a:r>
              <a:rPr dirty="0"/>
              <a:t>. O </a:t>
            </a:r>
            <a:r>
              <a:rPr dirty="0" err="1"/>
              <a:t>guia</a:t>
            </a:r>
            <a:r>
              <a:rPr dirty="0"/>
              <a:t> </a:t>
            </a:r>
            <a:r>
              <a:rPr dirty="0" err="1"/>
              <a:t>diz</a:t>
            </a:r>
            <a:r>
              <a:rPr dirty="0"/>
              <a:t> 8h30; a agenda do professor </a:t>
            </a:r>
            <a:r>
              <a:rPr dirty="0" err="1"/>
              <a:t>diz</a:t>
            </a:r>
            <a:r>
              <a:rPr dirty="0"/>
              <a:t> 9h.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Mostrar</a:t>
            </a:r>
            <a:r>
              <a:rPr dirty="0"/>
              <a:t> logo </a:t>
            </a:r>
            <a:r>
              <a:rPr dirty="0" err="1"/>
              <a:t>depois</a:t>
            </a:r>
            <a:r>
              <a:rPr dirty="0"/>
              <a:t> da agenda e </a:t>
            </a:r>
            <a:r>
              <a:rPr dirty="0" err="1"/>
              <a:t>voltar</a:t>
            </a:r>
            <a:r>
              <a:rPr dirty="0"/>
              <a:t> a </a:t>
            </a:r>
            <a:r>
              <a:rPr dirty="0" err="1"/>
              <a:t>ele</a:t>
            </a:r>
            <a:r>
              <a:rPr dirty="0"/>
              <a:t> no </a:t>
            </a:r>
            <a:r>
              <a:rPr dirty="0" err="1"/>
              <a:t>fechamento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checklist. </a:t>
            </a:r>
            <a:r>
              <a:rPr dirty="0" err="1"/>
              <a:t>Combinado</a:t>
            </a:r>
            <a:r>
              <a:rPr dirty="0"/>
              <a:t> com a Camila no </a:t>
            </a:r>
            <a:r>
              <a:rPr dirty="0" err="1"/>
              <a:t>alinhamento</a:t>
            </a:r>
            <a:r>
              <a:rPr dirty="0"/>
              <a:t> de 15/10: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mundo</a:t>
            </a:r>
            <a:r>
              <a:rPr dirty="0"/>
              <a:t> </a:t>
            </a:r>
            <a:r>
              <a:rPr dirty="0" err="1"/>
              <a:t>passa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processo</a:t>
            </a:r>
            <a:r>
              <a:rPr dirty="0"/>
              <a:t>, inclusive a </a:t>
            </a:r>
            <a:r>
              <a:rPr dirty="0" err="1"/>
              <a:t>liderança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5d7fd1e03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395d7fd1e03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95d7fd1e03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395d7fd1e03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Antes de </a:t>
            </a:r>
            <a:r>
              <a:rPr dirty="0" err="1"/>
              <a:t>apresentar</a:t>
            </a:r>
            <a:r>
              <a:rPr dirty="0"/>
              <a:t>, </a:t>
            </a:r>
            <a:r>
              <a:rPr dirty="0" err="1"/>
              <a:t>confirmar</a:t>
            </a:r>
            <a:r>
              <a:rPr dirty="0"/>
              <a:t> a </a:t>
            </a:r>
            <a:r>
              <a:rPr dirty="0" err="1"/>
              <a:t>fonte</a:t>
            </a:r>
            <a:r>
              <a:rPr dirty="0"/>
              <a:t> da nota 5 do MEC: qual </a:t>
            </a:r>
            <a:r>
              <a:rPr dirty="0" err="1"/>
              <a:t>indicador</a:t>
            </a:r>
            <a:r>
              <a:rPr dirty="0"/>
              <a:t> (</a:t>
            </a:r>
            <a:r>
              <a:rPr dirty="0" err="1"/>
              <a:t>conceito</a:t>
            </a:r>
            <a:r>
              <a:rPr dirty="0"/>
              <a:t> de </a:t>
            </a:r>
            <a:r>
              <a:rPr dirty="0" err="1"/>
              <a:t>curso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CPC),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ano</a:t>
            </a:r>
            <a:r>
              <a:rPr dirty="0"/>
              <a:t> e para quais </a:t>
            </a:r>
            <a:r>
              <a:rPr dirty="0" err="1"/>
              <a:t>cursos</a:t>
            </a:r>
            <a:r>
              <a:rPr dirty="0"/>
              <a:t>. O slide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traz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referência</a:t>
            </a:r>
            <a:r>
              <a:rPr dirty="0"/>
              <a:t> e </a:t>
            </a:r>
            <a:r>
              <a:rPr dirty="0" err="1"/>
              <a:t>ela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localizada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 </a:t>
            </a:r>
            <a:r>
              <a:rPr dirty="0" err="1"/>
              <a:t>nesta</a:t>
            </a:r>
            <a:r>
              <a:rPr dirty="0"/>
              <a:t> </a:t>
            </a:r>
            <a:r>
              <a:rPr dirty="0" err="1"/>
              <a:t>revisão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0" name="Google Shape;148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É heurística de alocação de esforço, publicada pela BCG em 2024: as empresas que geram valor com IA põem cerca de 10% dos recursos em algoritmo, 20% em tecnologia e dados e 70% em pessoas e processos. Não prova que o modelo seja 10% de qualquer projeto. O recado para a sala: vocês, das áreas de negócio, estão nos 70%.</a:t>
            </a:r>
          </a:p>
        </p:txBody>
      </p:sp>
      <p:sp>
        <p:nvSpPr>
          <p:cNvPr id="1481" name="Google Shape;1481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5" name="Google Shape;515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As cinco causas são uma síntese minha a partir dos relatórios citados nos slides anteriores. Nenhum estudo único traz essa lista. Quase nenhuma é sobre o modelo: é negócio, dado, integração, dono e verificação.</a:t>
            </a:r>
          </a:p>
        </p:txBody>
      </p:sp>
      <p:sp>
        <p:nvSpPr>
          <p:cNvPr id="516" name="Google Shape;516;p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Cada número tem escopo. Bradesco: 118% a mais de funcionalidades de negócio entregues pela TI entre o fim de 2023 e o fim de 2025, numa transformação que incluiu IA, mais desenvolvedores e métodos ágeis; o lead time caiu 43%. Klarna: US$ 40 milhões é estimativa de melhoria de lucro para 2024, divulgada em fevereiro daquele ano, antes de qualquer resultado apurado. Merck: redação do relatório de estudo clínico, primeiro rascunho de 180 para 80 horas e erros 50% menores. Nos três casos o ganho vem de processo redesenhado, e o número é da própria empresa.</a:t>
            </a:r>
          </a:p>
        </p:txBody>
      </p:sp>
      <p:sp>
        <p:nvSpPr>
          <p:cNvPr id="533" name="Google Shape;533;p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Uma ferramenta de IA, sozinha, raramente é vantagem, porque o concorrente pode comprar a mesma. A vantagem tende a vir de aplicar IA sobre recursos que só a empresa tem, e dado é um deles, ao lado de processo, integração, confiança, talento e governança (Barney, 1991).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Bloco 1 · 15h10. Afonso já apresentou o CREATE no encontro 1: partir dele e subir um degrau (níveis 0 a 3, estratégias e verificação).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290" name="Google Shape;290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Mapa de consulta, não conteúdo para decorar. Em coral, o que usamos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Rode ao vivo. Saída típica: galpão classe A, 32.000 m², inquilino AAA até 2031, R$ 134 mi, cap de 8,0%. O modelo repete o vendedor.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dúvidas que aparecem aqui (área, contrato, inquilino) viram a pauta do nível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Aqui já costumam aparecer a diferença de área (32.000 x 28.450 m²) e a alienação fiduciária. Deixe a sala descobrir.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É o chain-of-thought que a ementa pede, no enquadramento de justificativa verificável: audita-se o trecho citado e a conta, não o texto da explicação (Wei et al., 2022; OpenAI, 2025). Anexe matrícula, contrato, laudo e clipping. Compare a lista com a de quem usou outra ferramenta.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Ligação com a contribuição 03: teasers e propostas consomem horas de sênior. Com os dois teasers do PDF 06, peça o teaser do Galpão Atlas na mesma voz, com o bloco Pontos de atenção.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Bom momento para chamar quem é de Capital Markets ou Industrial &amp; Logística e perguntar se as objeções soam como as de um comitê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Self-refine melhora forma e estrutura. Para conferir fato, o mesmo modelo tende a repetir o próprio erro: o próximo slide resolve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Reduz alucinação, sem garantir acerto (Dhuliawala et al., 2023).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Passos 1, 2 e 4 no mesmo chat. O passo 3 em janela nova, com os PDFs anexados. A independência é parcial, porque o modelo é o mesmo.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Quem não tiver documento seguro à mão usa o caso do galpão. Sugestões por família: contratos (datas críticas com cláusula citada), avaliação (premissas rotuladas como fato ou hipótese), material comercial (teaser na voz da casa), finanças (conferir premissas de um fluxo). Cobre o critério de aceite.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AVCB costuma cair aqui: nenhum documento comprova a renovação, então vira NÃO LOCALIZADO e pergunta ao proprietário.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Abram a planilha Comparaveis_Galpoes_IA4B.xlsx.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limiar de 10% é convenção do exercício e mostra que a régua vem antes do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Armadilhas plantadas: C07 duplica C03; C12 está em pés quadrados (344.000 ft², cerca de 31.959 m²); C18 não tem cap rate; C21 é built-to-suit com cap de 7,1%; C24 é de 2022; C09, C10, C15 e C19 estão fora dos eixos.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Rode ao vivo e compare com o gabarito do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Diga em voz alta que o red team também alucina: uma objeção inventada pode matar uma boa recomendação.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107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5" name="Google Shape;1785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Voltar ao slide de entregáveis como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3f07a913747_0_1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7" name="Google Shape;1797;g3f07a913747_0_172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Lembrar a turma: os quatro artefatos do dia vão para a atividade do Dia 1 na Adalove.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Essa e a distincao mais importante da manha. A maioria so conhece o assistente. O salto de valor esta no copiloto e no agente. Guardem os quatro nomes.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Nao vou dar a resposta de cara. Quero ouvir voces. O que diferencia os niveis e uma pergunta so: quanta decisao voce esta entregando? Esse e o fio do dia inteiro. (Respostas: automacao, assistente, copiloto, agente.)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erro clássico é começar perguntando onde usar IA. A pergunta certa é qual processo dói e como ele funciona hoje, com número. Quando se mapeia decisão, regra e exceção, o lugar da IA aparece.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Aqui o dia deixa de ser sobre mim e passa a ser sobre voces. Escolham um processo que incomoda de verdade e, de preferencia, que toque um recurso unico. Ele vai atravessar a engenharia de prompt, a priorizacao e virar prototipo a tarde.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grupos usam o FLUXO ATUAL e a DECISÃO QUE SE REPETE da ficha de diagnóstico da manhã. O ponto do passo 2 é o (?) e o DADO FALTANTE: o Copilot não conhece o Tasy nem o fluxo de vocês, e o que ele inventar vira teste do prompt da tarde.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qualquer conta, o olho. Todo projeto cai num desses quatro quadrantes. Comecem pelos quick wins para gerar confianca e dado, e tratem o moon shot com o respeito de um programa, nao de um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RICE transforma discussao de opiniao em numero. Alcance vezes impacto vezes confianca, dividido pelo esforco. O poder nao esta na conta exata, esta em obrigar o grupo a olhar os quatro fatores em vez de brigar por gosto.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RICE e ICE vieram do mundo de produto. Para IA sao incompletos. Um projeto pode ter RICE alto e morrer por falta de dado ou por risco de LGPD. E ha um criterio que nenhuma conta captura: constroi vantagem sustentavel? Dois projetos com mesmo RICE, aquele que se apoia na base de medidores vale mais no longo prazo.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Cuidado com a tentação de escolher só quick win. Sem investir na base de dados e na plataforma, os projetos transformacionais não saem, e é essa base que vira recurso próprio. Priorizem olhando a carteira, as dependências de dado e sistema e a capacidade do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Peguem o processo, joguem na matriz e calculem o RICE. A precisão importa menos que a conversa que a nota provoca. Cada nota sem evidência vira hipótese, e ela alimenta o stress test das 15h.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 1">
  <p:cSld name="CUSTOM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Marcadores 1">
  <p:cSld name="TITLE_AND_BODY_2_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07a913747_0_159"/>
          <p:cNvSpPr txBox="1">
            <a:spLocks noGrp="1"/>
          </p:cNvSpPr>
          <p:nvPr>
            <p:ph type="sldNum" idx="12"/>
          </p:nvPr>
        </p:nvSpPr>
        <p:spPr>
          <a:xfrm>
            <a:off x="4500563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3" name="Google Shape;13;g3f07a913747_0_159"/>
          <p:cNvSpPr/>
          <p:nvPr/>
        </p:nvSpPr>
        <p:spPr>
          <a:xfrm>
            <a:off x="0" y="0"/>
            <a:ext cx="2972700" cy="51435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" name="Google Shape;14;g3f07a913747_0_1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1669" y="4317725"/>
            <a:ext cx="1019604" cy="4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g3f07a913747_0_159"/>
          <p:cNvPicPr preferRelativeResize="0"/>
          <p:nvPr/>
        </p:nvPicPr>
        <p:blipFill rotWithShape="1">
          <a:blip r:embed="rId3">
            <a:alphaModFix/>
          </a:blip>
          <a:srcRect r="9886"/>
          <a:stretch/>
        </p:blipFill>
        <p:spPr>
          <a:xfrm>
            <a:off x="-69481" y="2239663"/>
            <a:ext cx="3041913" cy="2078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>
  <p:cSld name="TITLE_AND_BODY_1_2">
    <p:bg>
      <p:bgPr>
        <a:solidFill>
          <a:srgbClr val="2E2640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 2 1 1 1 1 1">
  <p:cSld name="One column text 1 2 1 1 1 1">
    <p:bg>
      <p:bgPr>
        <a:solidFill>
          <a:srgbClr val="E6EAEB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g3f07a913747_0_397" title="AF_Inteli_Exec_Positiva.png"/>
          <p:cNvPicPr preferRelativeResize="0"/>
          <p:nvPr/>
        </p:nvPicPr>
        <p:blipFill rotWithShape="1">
          <a:blip r:embed="rId2">
            <a:alphaModFix/>
          </a:blip>
          <a:srcRect l="25000" t="24965" r="24556" b="39431"/>
          <a:stretch/>
        </p:blipFill>
        <p:spPr>
          <a:xfrm>
            <a:off x="8179364" y="355763"/>
            <a:ext cx="617185" cy="245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07a913747_0_6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">
  <p:cSld name="TITLE_AND_BODY_1_1">
    <p:bg>
      <p:bgPr>
        <a:solidFill>
          <a:srgbClr val="E6EAEB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g3f07a913747_0_243" title="AF_Inteli_Exec_Positiva.png"/>
          <p:cNvPicPr preferRelativeResize="0"/>
          <p:nvPr/>
        </p:nvPicPr>
        <p:blipFill rotWithShape="1">
          <a:blip r:embed="rId2">
            <a:alphaModFix/>
          </a:blip>
          <a:srcRect l="25000" t="24965" r="24556" b="39431"/>
          <a:stretch/>
        </p:blipFill>
        <p:spPr>
          <a:xfrm>
            <a:off x="8179364" y="355763"/>
            <a:ext cx="617185" cy="245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">
  <p:cSld name="1_Título 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2"/>
          <p:cNvSpPr txBox="1">
            <a:spLocks noGrp="1"/>
          </p:cNvSpPr>
          <p:nvPr>
            <p:ph type="body" idx="1"/>
          </p:nvPr>
        </p:nvSpPr>
        <p:spPr>
          <a:xfrm>
            <a:off x="450502" y="4447449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34300" rIns="34300" bIns="34300" anchor="t" anchorCtr="0">
            <a:normAutofit/>
          </a:bodyPr>
          <a:lstStyle>
            <a:lvl1pPr marL="22860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800"/>
              <a:buFont typeface="Helvetica Neue"/>
              <a:buNone/>
              <a:defRPr sz="1400" b="1"/>
            </a:lvl1pPr>
            <a:lvl2pPr marL="457200" lvl="1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3400"/>
              <a:buFont typeface="Helvetica Neue"/>
              <a:buNone/>
              <a:defRPr sz="1400" b="1"/>
            </a:lvl2pPr>
            <a:lvl3pPr marL="685800" lvl="2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3400"/>
              <a:buFont typeface="Helvetica Neue"/>
              <a:buNone/>
              <a:defRPr sz="1400" b="1"/>
            </a:lvl3pPr>
            <a:lvl4pPr marL="914400" lvl="3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3400"/>
              <a:buFont typeface="Helvetica Neue"/>
              <a:buNone/>
              <a:defRPr sz="1400" b="1"/>
            </a:lvl4pPr>
            <a:lvl5pPr marL="1143000" lvl="4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3400"/>
              <a:buFont typeface="Helvetica Neue"/>
              <a:buNone/>
              <a:defRPr sz="1400" b="1"/>
            </a:lvl5pPr>
            <a:lvl6pPr marL="1371600" lvl="5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6pPr>
            <a:lvl7pPr marL="1600200" lvl="6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7pPr>
            <a:lvl8pPr marL="1828800" lvl="7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8pPr>
            <a:lvl9pPr marL="2057400" lvl="8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62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800"/>
              <a:buFont typeface="Helvetica Neue"/>
              <a:buNone/>
              <a:defRPr sz="4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62"/>
          <p:cNvSpPr txBox="1">
            <a:spLocks noGrp="1"/>
          </p:cNvSpPr>
          <p:nvPr>
            <p:ph type="body" idx="2"/>
          </p:nvPr>
        </p:nvSpPr>
        <p:spPr>
          <a:xfrm>
            <a:off x="450503" y="2708697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rmAutofit/>
          </a:bodyPr>
          <a:lstStyle>
            <a:lvl1pPr marL="228600" lvl="0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1pPr>
            <a:lvl2pPr marL="457200" lvl="1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2pPr>
            <a:lvl3pPr marL="685800" lvl="2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3pPr>
            <a:lvl4pPr marL="914400" lvl="3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4pPr>
            <a:lvl5pPr marL="1143000" lvl="4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5pPr>
            <a:lvl6pPr marL="1371600" lvl="5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6pPr>
            <a:lvl7pPr marL="1600200" lvl="6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7pPr>
            <a:lvl8pPr marL="1828800" lvl="7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8pPr>
            <a:lvl9pPr marL="2057400" lvl="8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62"/>
          <p:cNvSpPr txBox="1">
            <a:spLocks noGrp="1"/>
          </p:cNvSpPr>
          <p:nvPr>
            <p:ph type="sldNum" idx="12"/>
          </p:nvPr>
        </p:nvSpPr>
        <p:spPr>
          <a:xfrm>
            <a:off x="4500563" y="4651515"/>
            <a:ext cx="1383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1400">
              <a:solidFill>
                <a:srgbClr val="8888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973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2286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457200" lvl="1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685800" lvl="2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914400" lvl="3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1143000" lvl="4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1371600" lvl="5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1600200" lvl="6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1828800" lvl="7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2057400" lvl="8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83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8173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marL="914400" lvl="1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marL="1371600" lvl="2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marL="1828800" lvl="3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marL="2286000" lvl="4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marL="2743200" lvl="5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marL="3200400" lvl="6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marL="3657600" lvl="7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marL="4114800" lvl="8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928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8.jpe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8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2.png"/><Relationship Id="rId4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.png"/><Relationship Id="rId4" Type="http://schemas.openxmlformats.org/officeDocument/2006/relationships/hyperlink" Target="https://www.microsoft.com/en-us/worklab/work-trend-index/2025-the-year-the-frontier-firm-is-born" TargetMode="External"/><Relationship Id="rId5" Type="http://schemas.openxmlformats.org/officeDocument/2006/relationships/hyperlink" Target="https://www.gartner.com/en/articles/3-bold-and-actionable-predictions-for-the-future-of-genai" TargetMode="External"/><Relationship Id="rId6" Type="http://schemas.openxmlformats.org/officeDocument/2006/relationships/hyperlink" Target="https://www.microsoft.com/en-us/security/blog/2026/02/10/80-of-fortune-500-use-active-ai-agents-observability-governance-and-security-shape-the-new-frontier/" TargetMode="External"/><Relationship Id="rId7" Type="http://schemas.openxmlformats.org/officeDocument/2006/relationships/hyperlink" Target="https://www.mckinsey.com/capabilities/quantumblack/our-insights/seizing-the-agentic-ai-advantage" TargetMode="External"/><Relationship Id="rId8" Type="http://schemas.openxmlformats.org/officeDocument/2006/relationships/hyperlink" Target="https://www.cio.com/article/3850763/88-of-ai-pilots-fail-to-reach-production-but-thats-not-all-on-it.html" TargetMode="External"/><Relationship Id="rId9" Type="http://schemas.openxmlformats.org/officeDocument/2006/relationships/hyperlink" Target="https://www.deloitte.com/us/en/about/press-room/state-of-ai-report-2026.html" TargetMode="External"/><Relationship Id="rId10" Type="http://schemas.openxmlformats.org/officeDocument/2006/relationships/hyperlink" Target="https://www.bcg.com/press/24october2024-ai-adoption-in-2024-74-of-companies-struggle-to-achieve-and-scale-value" TargetMode="External"/><Relationship Id="rId11" Type="http://schemas.openxmlformats.org/officeDocument/2006/relationships/hyperlink" Target="https://www.nber.org/papers/w25148" TargetMode="External"/><Relationship Id="rId12" Type="http://schemas.openxmlformats.org/officeDocument/2006/relationships/hyperlink" Target="https://www.merck.com/news/merck-expands-innovative-internal-generative-ai-solutions-helping-to-deliver-medicines-to-patients-faster/" TargetMode="External"/><Relationship Id="rId13" Type="http://schemas.openxmlformats.org/officeDocument/2006/relationships/hyperlink" Target="https://www.prnewswire.com/news-releases/klarna-ai-assistant-handles-two-thirds-of-customer-service-chats-in-its-first-month-302072740.html" TargetMode="External"/><Relationship Id="rId14" Type="http://schemas.openxmlformats.org/officeDocument/2006/relationships/hyperlink" Target="https://filemanager-cdn.mziq.com/published/80f2e993-0a30-421a-9470-a4d5c8ad5e9f/401fefb6-866a-4e7e-95eb-939966d0e73d_bradesco_4q25_earnings_presentation.pdf" TargetMode="External"/><Relationship Id="rId15" Type="http://schemas.openxmlformats.org/officeDocument/2006/relationships/hyperlink" Target="https://www.infomoney.com.br/business/conta-da-ia-chega-as-empresas-e-forca-limites-para-funcionarios/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07a913747_0_0"/>
          <p:cNvSpPr txBox="1"/>
          <p:nvPr/>
        </p:nvSpPr>
        <p:spPr>
          <a:xfrm>
            <a:off x="3073338" y="2096675"/>
            <a:ext cx="5389500" cy="14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600"/>
              <a:buFont typeface="Manrope"/>
              <a:buNone/>
            </a:pPr>
            <a:r>
              <a:rPr lang="en-US" sz="2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Laboratório Prático:</a:t>
            </a:r>
            <a:endParaRPr sz="2600" b="0" i="0" u="none" strike="noStrike" cap="none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600"/>
              <a:buFont typeface="Manrope"/>
              <a:buNone/>
            </a:pPr>
            <a:r>
              <a:rPr lang="en-US" sz="2600" b="1" i="0" u="none" strike="noStrike" cap="none" dirty="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Ferramentas e Aplicação Tática</a:t>
            </a:r>
            <a:endParaRPr sz="2600" b="0" i="0" u="none" strike="noStrike" cap="none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29;g3f07a913747_0_0"/>
          <p:cNvSpPr txBox="1"/>
          <p:nvPr/>
        </p:nvSpPr>
        <p:spPr>
          <a:xfrm>
            <a:off x="2355400" y="3526275"/>
            <a:ext cx="61074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7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Encontro 2 · AI for Business · Sindusfarma · 22/10/2026</a:t>
            </a:r>
            <a:endParaRPr sz="17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" name="Google Shape;30;g3f07a913747_0_0"/>
          <p:cNvSpPr/>
          <p:nvPr/>
        </p:nvSpPr>
        <p:spPr>
          <a:xfrm>
            <a:off x="5558675" y="361875"/>
            <a:ext cx="4390500" cy="105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583" dist="7528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36125" tIns="36125" rIns="36125" bIns="36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6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1" name="Google Shape;31;g3f07a913747_0_0" title="AF_Inteli_Exec_Positiva.png"/>
          <p:cNvPicPr preferRelativeResize="0"/>
          <p:nvPr/>
        </p:nvPicPr>
        <p:blipFill rotWithShape="1">
          <a:blip r:embed="rId4">
            <a:alphaModFix/>
          </a:blip>
          <a:srcRect l="25000" t="24965" r="24556" b="39431"/>
          <a:stretch/>
        </p:blipFill>
        <p:spPr>
          <a:xfrm>
            <a:off x="7644596" y="641313"/>
            <a:ext cx="1373230" cy="54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8"/>
          <p:cNvSpPr/>
          <p:nvPr/>
        </p:nvSpPr>
        <p:spPr>
          <a:xfrm>
            <a:off x="6023300" y="-94950"/>
            <a:ext cx="3120750" cy="53971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1400"/>
            </a:pPr>
            <a:endParaRPr sz="900"/>
          </a:p>
        </p:txBody>
      </p:sp>
      <p:sp>
        <p:nvSpPr>
          <p:cNvPr id="505" name="Google Shape;505;p88"/>
          <p:cNvSpPr/>
          <p:nvPr/>
        </p:nvSpPr>
        <p:spPr>
          <a:xfrm>
            <a:off x="2066543" y="1078992"/>
            <a:ext cx="4453128" cy="2743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200"/>
            </a:pPr>
            <a:r>
              <a:rPr lang="pt-BR" sz="115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Engenharia de prompt para executivos</a:t>
            </a:r>
            <a:endParaRPr sz="9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6" name="Google Shape;506;p88"/>
          <p:cNvSpPr/>
          <p:nvPr/>
        </p:nvSpPr>
        <p:spPr>
          <a:xfrm>
            <a:off x="640080" y="1078992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15:10 - 15:35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7" name="Google Shape;507;p88"/>
          <p:cNvSpPr txBox="1"/>
          <p:nvPr/>
        </p:nvSpPr>
        <p:spPr>
          <a:xfrm>
            <a:off x="3291840" y="2093976"/>
            <a:ext cx="835800" cy="23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000" tIns="43000" rIns="43000" bIns="43000" anchor="t" anchorCtr="0">
            <a:spAutoFit/>
          </a:bodyPr>
          <a:lstStyle/>
          <a:p>
            <a:pPr>
              <a:lnSpc>
                <a:spcPct val="115000"/>
              </a:lnSpc>
              <a:buSzPts val="1700"/>
            </a:pPr>
            <a:r>
              <a:rPr lang="pt-BR" sz="900" b="1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10min: Break</a:t>
            </a:r>
            <a:endParaRPr sz="9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8" name="Google Shape;508;p88"/>
          <p:cNvSpPr/>
          <p:nvPr/>
        </p:nvSpPr>
        <p:spPr>
          <a:xfrm>
            <a:off x="640080" y="1417320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15:35 - 15:55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9" name="Google Shape;509;p88"/>
          <p:cNvSpPr/>
          <p:nvPr/>
        </p:nvSpPr>
        <p:spPr>
          <a:xfrm>
            <a:off x="2066543" y="1417320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 1 · Prompt versionado e verificado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0" name="Google Shape;510;p88"/>
          <p:cNvSpPr/>
          <p:nvPr/>
        </p:nvSpPr>
        <p:spPr>
          <a:xfrm>
            <a:off x="640080" y="2395728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16:30 - 16:55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1" name="Google Shape;511;p88"/>
          <p:cNvSpPr/>
          <p:nvPr/>
        </p:nvSpPr>
        <p:spPr>
          <a:xfrm>
            <a:off x="2066543" y="2395728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 2 · Do relatório à decisão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12" name="Google Shape;512;p88"/>
          <p:cNvCxnSpPr/>
          <p:nvPr/>
        </p:nvCxnSpPr>
        <p:spPr>
          <a:xfrm>
            <a:off x="1014984" y="2203704"/>
            <a:ext cx="2276856" cy="600"/>
          </a:xfrm>
          <a:prstGeom prst="straightConnector1">
            <a:avLst/>
          </a:prstGeom>
          <a:noFill/>
          <a:ln w="9525" cap="flat" cmpd="sng">
            <a:solidFill>
              <a:srgbClr val="FF454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3" name="Google Shape;513;p88"/>
          <p:cNvSpPr/>
          <p:nvPr/>
        </p:nvSpPr>
        <p:spPr>
          <a:xfrm>
            <a:off x="2066543" y="740664"/>
            <a:ext cx="4453128" cy="2743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200"/>
            </a:pPr>
            <a:r>
              <a:rPr lang="pt-BR" sz="115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Abertura e ponte com o encontro 1</a:t>
            </a:r>
            <a:endParaRPr sz="9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4" name="Google Shape;514;p88"/>
          <p:cNvSpPr/>
          <p:nvPr/>
        </p:nvSpPr>
        <p:spPr>
          <a:xfrm>
            <a:off x="640080" y="740664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15:00 - 15:10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6" name="Google Shape;516;p88"/>
          <p:cNvSpPr/>
          <p:nvPr/>
        </p:nvSpPr>
        <p:spPr>
          <a:xfrm>
            <a:off x="640080" y="2734056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16:55 - 17:20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7" name="Google Shape;517;p88"/>
          <p:cNvSpPr/>
          <p:nvPr/>
        </p:nvSpPr>
        <p:spPr>
          <a:xfrm>
            <a:off x="2066543" y="2734056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Mapeamento de oportunidades e casos de uso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8" name="Google Shape;518;p88"/>
          <p:cNvSpPr/>
          <p:nvPr/>
        </p:nvSpPr>
        <p:spPr>
          <a:xfrm>
            <a:off x="640080" y="3070800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17:20 - 17:50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9" name="Google Shape;519;p88"/>
          <p:cNvSpPr/>
          <p:nvPr/>
        </p:nvSpPr>
        <p:spPr>
          <a:xfrm>
            <a:off x="2066543" y="3070800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 3 · Matriz impacto × viabilidade em grupos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5" name="Google Shape;525;p88"/>
          <p:cNvSpPr/>
          <p:nvPr/>
        </p:nvSpPr>
        <p:spPr>
          <a:xfrm>
            <a:off x="640080" y="1755648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82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15:55 - 16:20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6" name="Google Shape;526;p88"/>
          <p:cNvSpPr/>
          <p:nvPr/>
        </p:nvSpPr>
        <p:spPr>
          <a:xfrm>
            <a:off x="2066543" y="1755648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Produtividade executiva e análise de informação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7" name="Google Shape;527;p88"/>
          <p:cNvSpPr/>
          <p:nvPr/>
        </p:nvSpPr>
        <p:spPr>
          <a:xfrm>
            <a:off x="640080" y="3409200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17:50 - 18:00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8" name="Google Shape;528;p88"/>
          <p:cNvSpPr/>
          <p:nvPr/>
        </p:nvSpPr>
        <p:spPr>
          <a:xfrm>
            <a:off x="2066543" y="3409200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Fechamento e ponte para o encontro 3 (27/10)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9" name="Google Shape;529;p88"/>
          <p:cNvSpPr txBox="1"/>
          <p:nvPr/>
        </p:nvSpPr>
        <p:spPr>
          <a:xfrm>
            <a:off x="0" y="4745438"/>
            <a:ext cx="239715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buSzPts val="1600"/>
            </a:pPr>
            <a:r>
              <a:rPr lang="pt-BR" sz="900" i="1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*Sujeito a alteração sem aviso prévio.</a:t>
            </a:r>
            <a:endParaRPr sz="900" i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31" name="Google Shape;531;p88"/>
          <p:cNvSpPr txBox="1"/>
          <p:nvPr/>
        </p:nvSpPr>
        <p:spPr>
          <a:xfrm>
            <a:off x="7024225" y="2310075"/>
            <a:ext cx="1396200" cy="573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buSzPts val="4400"/>
            </a:pPr>
            <a:r>
              <a:rPr lang="pt-BR" sz="2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DIA 22/10</a:t>
            </a:r>
            <a:endParaRPr sz="2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2" name="Google Shape;532;p88"/>
          <p:cNvSpPr/>
          <p:nvPr/>
        </p:nvSpPr>
        <p:spPr>
          <a:xfrm>
            <a:off x="280263" y="644034"/>
            <a:ext cx="1188750" cy="27450"/>
          </a:xfrm>
          <a:prstGeom prst="rect">
            <a:avLst/>
          </a:prstGeom>
          <a:solidFill>
            <a:srgbClr val="FF4545"/>
          </a:solidFill>
          <a:ln w="12700" cap="flat" cmpd="sng">
            <a:solidFill>
              <a:srgbClr val="FF4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endParaRPr sz="900"/>
          </a:p>
        </p:txBody>
      </p:sp>
      <p:sp>
        <p:nvSpPr>
          <p:cNvPr id="533" name="Google Shape;533;p88"/>
          <p:cNvSpPr txBox="1"/>
          <p:nvPr/>
        </p:nvSpPr>
        <p:spPr>
          <a:xfrm>
            <a:off x="280263" y="213088"/>
            <a:ext cx="5072100" cy="48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5" rIns="45725" bIns="45725" anchor="t" anchorCtr="0">
            <a:spAutoFit/>
          </a:bodyPr>
          <a:lstStyle/>
          <a:p>
            <a:pPr>
              <a:lnSpc>
                <a:spcPct val="115000"/>
              </a:lnSpc>
              <a:buSzPts val="4400"/>
            </a:pPr>
            <a:r>
              <a:rPr lang="pt-BR" sz="22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AGENDA</a:t>
            </a:r>
            <a:endParaRPr sz="12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43" name="Picture 542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233172"/>
            <a:ext cx="100584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ENTREGÁVEIS DO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que cada um leva pronto às 18h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5727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7739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1755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Prompt versionado · 15h55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0756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v1, v2, o que mudou e o critério de aceite, sobre uma tarefa recorrente da sua área, com dado fictício ou público.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5727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864607" y="17739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1755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Achados conferidos · 16h20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20756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O que o documento não diz, cada ponto com o trecho citado e o veredito: fato, suposição ou não localizado.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443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9808" y="31455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1272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Parecer com cenários · 16h55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472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Resumo executivo, cenários com a conta à vista e recomendação, estressada por um red team de 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9443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64607" y="31455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1" y="31272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Caso de uso priorizado · 17h50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1" y="34472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Dores da sua área convertidas em casos de uso, na matriz impacto × viabilidade, com um caso escolhido para o encontro 3.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15968"/>
            <a:ext cx="8046720" cy="438912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Tudo sai de uma tarefa real da sua área. O caso escolhido hoje vira o business case dos encontros 3 e 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0" y="0"/>
            <a:ext cx="2971800" cy="51435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164983" y="748084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659714" y="748075"/>
            <a:ext cx="13353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PROF. ORIENTADOR &amp; INSTRUTOR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Inteli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164983" y="1396988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4659714" y="1396980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PROFESSOR MBA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Mackenzie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4164983" y="2044688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4659714" y="2044680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CONSULTOR TRANSFORMAÇÃO DIGITAL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655221" y="2729275"/>
            <a:ext cx="13353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TECH ADVISOR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FOOTSTATS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4655221" y="3378180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CONSULTOR EM IA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ALLOS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4655221" y="4025759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SÓCIO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Askklog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4161358" y="2731918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4161358" y="3380823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4161358" y="4029728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7441014" y="745024"/>
            <a:ext cx="13353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DOUTORANDO EM ADM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Uninove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7441014" y="1393929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MBA Digital Transformation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MIT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7441014" y="2041509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MESTRE GESTÃO DE PROJETOS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Uninove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7441014" y="2690413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ANALISTA DE SISTEMAS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Uninove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6946840" y="745484"/>
            <a:ext cx="494700" cy="4947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6946840" y="1394390"/>
            <a:ext cx="494700" cy="4947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6946845" y="2046708"/>
            <a:ext cx="494700" cy="4947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6946845" y="2695613"/>
            <a:ext cx="494700" cy="4947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7" name="Google Shape;57;p1"/>
          <p:cNvCxnSpPr/>
          <p:nvPr/>
        </p:nvCxnSpPr>
        <p:spPr>
          <a:xfrm>
            <a:off x="3740950" y="232050"/>
            <a:ext cx="0" cy="4895400"/>
          </a:xfrm>
          <a:prstGeom prst="straightConnector1">
            <a:avLst/>
          </a:prstGeom>
          <a:noFill/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1"/>
          <p:cNvCxnSpPr/>
          <p:nvPr/>
        </p:nvCxnSpPr>
        <p:spPr>
          <a:xfrm>
            <a:off x="6522250" y="232050"/>
            <a:ext cx="0" cy="4895400"/>
          </a:xfrm>
          <a:prstGeom prst="straightConnector1">
            <a:avLst/>
          </a:prstGeom>
          <a:noFill/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1"/>
          <p:cNvSpPr txBox="1"/>
          <p:nvPr/>
        </p:nvSpPr>
        <p:spPr>
          <a:xfrm>
            <a:off x="4163112" y="238813"/>
            <a:ext cx="16884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100" b="1" i="0" u="none" strike="noStrike" cap="none">
                <a:solidFill>
                  <a:srgbClr val="FF4545"/>
                </a:solidFill>
                <a:latin typeface="Space Mono"/>
                <a:ea typeface="Space Mono"/>
                <a:cs typeface="Space Mono"/>
                <a:sym typeface="Space Mono"/>
              </a:rPr>
              <a:t>PROFISSIONAL</a:t>
            </a:r>
            <a:endParaRPr sz="1500" b="1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6961938" y="238813"/>
            <a:ext cx="15000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100" b="1" i="0" u="none" strike="noStrike" cap="none">
                <a:solidFill>
                  <a:srgbClr val="FF4545"/>
                </a:solidFill>
                <a:latin typeface="Space Mono"/>
                <a:ea typeface="Space Mono"/>
                <a:cs typeface="Space Mono"/>
                <a:sym typeface="Space Mono"/>
              </a:rPr>
              <a:t>ACADÊMICO</a:t>
            </a:r>
            <a:endParaRPr sz="1500" b="1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856621" y="2778400"/>
            <a:ext cx="19365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JOSÉ ROMUALDO</a:t>
            </a:r>
            <a:endParaRPr sz="1500" b="1" i="0" u="none" strike="noStrike" cap="none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934" y="3143387"/>
            <a:ext cx="343313" cy="343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" title="IMG_8300.jpeg"/>
          <p:cNvPicPr preferRelativeResize="0"/>
          <p:nvPr/>
        </p:nvPicPr>
        <p:blipFill rotWithShape="1">
          <a:blip r:embed="rId4">
            <a:alphaModFix/>
          </a:blip>
          <a:srcRect t="25454" b="25454"/>
          <a:stretch/>
        </p:blipFill>
        <p:spPr>
          <a:xfrm>
            <a:off x="903600" y="591063"/>
            <a:ext cx="2383500" cy="2080200"/>
          </a:xfrm>
          <a:prstGeom prst="rect">
            <a:avLst/>
          </a:prstGeom>
          <a:noFill/>
          <a:ln w="143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9525" dir="5400000" algn="bl" rotWithShape="0">
              <a:srgbClr val="000000">
                <a:alpha val="49411"/>
              </a:srgbClr>
            </a:outerShdw>
          </a:effectLst>
        </p:spPr>
      </p:pic>
      <p:pic>
        <p:nvPicPr>
          <p:cNvPr id="64" name="Google Shape;6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3600" y="3143375"/>
            <a:ext cx="939800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 txBox="1"/>
          <p:nvPr/>
        </p:nvSpPr>
        <p:spPr>
          <a:xfrm>
            <a:off x="6309360" y="4776450"/>
            <a:ext cx="2743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10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jose.romualdo@prof.inteli.edu.br</a:t>
            </a:r>
            <a:endParaRPr sz="11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9800" y="4318000"/>
            <a:ext cx="10160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 descr="Maleta profissional"/>
          <p:cNvSpPr/>
          <p:nvPr/>
        </p:nvSpPr>
        <p:spPr>
          <a:xfrm>
            <a:off x="4286250" y="8699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8" name="Google Shape;68;p1" descr="Maleta profissional"/>
          <p:cNvSpPr/>
          <p:nvPr/>
        </p:nvSpPr>
        <p:spPr>
          <a:xfrm>
            <a:off x="4286250" y="15176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9" name="Google Shape;69;p1" descr="Maleta profissional"/>
          <p:cNvSpPr/>
          <p:nvPr/>
        </p:nvSpPr>
        <p:spPr>
          <a:xfrm>
            <a:off x="4286250" y="21653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" name="Google Shape;70;p1" descr="Maleta profissional"/>
          <p:cNvSpPr/>
          <p:nvPr/>
        </p:nvSpPr>
        <p:spPr>
          <a:xfrm>
            <a:off x="4286250" y="28511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1" name="Google Shape;71;p1" descr="Maleta profissional"/>
          <p:cNvSpPr/>
          <p:nvPr/>
        </p:nvSpPr>
        <p:spPr>
          <a:xfrm>
            <a:off x="4286250" y="34988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2" name="Google Shape;72;p1" descr="Maleta profissional"/>
          <p:cNvSpPr/>
          <p:nvPr/>
        </p:nvSpPr>
        <p:spPr>
          <a:xfrm>
            <a:off x="4286250" y="41465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3" name="Google Shape;73;p1" descr="Capelo acadêmico"/>
          <p:cNvSpPr/>
          <p:nvPr/>
        </p:nvSpPr>
        <p:spPr>
          <a:xfrm>
            <a:off x="7067550" y="8699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4" name="Google Shape;74;p1" descr="Capelo acadêmico"/>
          <p:cNvSpPr/>
          <p:nvPr/>
        </p:nvSpPr>
        <p:spPr>
          <a:xfrm>
            <a:off x="7067550" y="15176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5" name="Google Shape;75;p1" descr="Capelo acadêmico"/>
          <p:cNvSpPr/>
          <p:nvPr/>
        </p:nvSpPr>
        <p:spPr>
          <a:xfrm>
            <a:off x="7067550" y="21653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6" name="Google Shape;76;p1" descr="Capelo acadêmico"/>
          <p:cNvSpPr/>
          <p:nvPr/>
        </p:nvSpPr>
        <p:spPr>
          <a:xfrm>
            <a:off x="7067550" y="28130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5"/>
          <p:cNvSpPr txBox="1">
            <a:spLocks noGrp="1"/>
          </p:cNvSpPr>
          <p:nvPr>
            <p:ph type="ctrTitle" idx="4294967295"/>
          </p:nvPr>
        </p:nvSpPr>
        <p:spPr>
          <a:xfrm>
            <a:off x="5101125" y="1675163"/>
            <a:ext cx="3303750" cy="2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SzPts val="2000"/>
            </a:pPr>
            <a:r>
              <a:rPr lang="pt-BR" sz="1300" b="1">
                <a:solidFill>
                  <a:srgbClr val="2C233B"/>
                </a:solidFill>
                <a:latin typeface="Manrope"/>
                <a:ea typeface="Manrope"/>
                <a:cs typeface="Manrope"/>
                <a:sym typeface="Manrope"/>
              </a:rPr>
              <a:t>Somos uma organização sem fins lucrativos,</a:t>
            </a:r>
            <a:r>
              <a:rPr lang="pt-BR" sz="1300">
                <a:solidFill>
                  <a:srgbClr val="2C233B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</a:t>
            </a:r>
            <a:r>
              <a:rPr lang="pt-BR" sz="1300">
                <a:solidFill>
                  <a:srgbClr val="2C233B"/>
                </a:solidFill>
                <a:latin typeface="Manrope Light"/>
                <a:ea typeface="Manrope Light"/>
                <a:cs typeface="Manrope Light"/>
                <a:sym typeface="Manrope Light"/>
              </a:rPr>
              <a:t>fundada por líderes do setor privado do Brasil, com o propósito de criar um instituto de tecnologia de excelência</a:t>
            </a:r>
            <a:r>
              <a:rPr lang="pt-BR" sz="1300">
                <a:solidFill>
                  <a:srgbClr val="2C233B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, </a:t>
            </a:r>
            <a:r>
              <a:rPr lang="pt-BR" sz="1300" b="1">
                <a:solidFill>
                  <a:srgbClr val="2C233B"/>
                </a:solidFill>
                <a:latin typeface="Manrope"/>
                <a:ea typeface="Manrope"/>
                <a:cs typeface="Manrope"/>
                <a:sym typeface="Manrope"/>
              </a:rPr>
              <a:t>comprometido em formar os futuros líderes de tecnologia que vão revolucionar a América Latina. </a:t>
            </a:r>
            <a:endParaRPr sz="1300" b="1">
              <a:solidFill>
                <a:srgbClr val="2C233B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>
              <a:lnSpc>
                <a:spcPct val="150000"/>
              </a:lnSpc>
              <a:buSzPts val="2000"/>
            </a:pPr>
            <a:endParaRPr sz="1300" b="1">
              <a:solidFill>
                <a:srgbClr val="2C233B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3" name="Google Shape;273;p65"/>
          <p:cNvSpPr txBox="1"/>
          <p:nvPr/>
        </p:nvSpPr>
        <p:spPr>
          <a:xfrm>
            <a:off x="5031350" y="1013357"/>
            <a:ext cx="3740550" cy="733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defTabSz="457200">
              <a:lnSpc>
                <a:spcPct val="115000"/>
              </a:lnSpc>
              <a:buSzPts val="9600"/>
            </a:pPr>
            <a:r>
              <a:rPr lang="pt-BR" sz="3100">
                <a:solidFill>
                  <a:srgbClr val="2C233B"/>
                </a:solidFill>
                <a:latin typeface="Platypi"/>
                <a:ea typeface="Platypi"/>
                <a:cs typeface="Platypi"/>
                <a:sym typeface="Platypi"/>
              </a:rPr>
              <a:t>QUEM SOMOS</a:t>
            </a:r>
            <a:endParaRPr sz="3100">
              <a:solidFill>
                <a:srgbClr val="2C233B"/>
              </a:solidFill>
              <a:latin typeface="Platypi"/>
              <a:ea typeface="Platypi"/>
              <a:cs typeface="Platypi"/>
              <a:sym typeface="Platypi"/>
            </a:endParaRPr>
          </a:p>
        </p:txBody>
      </p:sp>
      <p:pic>
        <p:nvPicPr>
          <p:cNvPr id="274" name="Google Shape;274;p65"/>
          <p:cNvPicPr preferRelativeResize="0"/>
          <p:nvPr/>
        </p:nvPicPr>
        <p:blipFill rotWithShape="1">
          <a:blip r:embed="rId3">
            <a:alphaModFix/>
          </a:blip>
          <a:srcRect t="9357" b="9349"/>
          <a:stretch/>
        </p:blipFill>
        <p:spPr>
          <a:xfrm>
            <a:off x="0" y="0"/>
            <a:ext cx="40209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grpSp>
        <p:nvGrpSpPr>
          <p:cNvPr id="275" name="Google Shape;275;p65"/>
          <p:cNvGrpSpPr/>
          <p:nvPr/>
        </p:nvGrpSpPr>
        <p:grpSpPr>
          <a:xfrm>
            <a:off x="7855100" y="171375"/>
            <a:ext cx="1755600" cy="303600"/>
            <a:chOff x="15710199" y="342750"/>
            <a:chExt cx="3511200" cy="607200"/>
          </a:xfrm>
        </p:grpSpPr>
        <p:sp>
          <p:nvSpPr>
            <p:cNvPr id="276" name="Google Shape;276;p65"/>
            <p:cNvSpPr/>
            <p:nvPr/>
          </p:nvSpPr>
          <p:spPr>
            <a:xfrm>
              <a:off x="15710199" y="342750"/>
              <a:ext cx="3511200" cy="607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>
              <a:outerShdw blurRad="12977" dist="4326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0375" tIns="10375" rIns="10375" bIns="10375" anchor="ctr" anchorCtr="0">
              <a:noAutofit/>
            </a:bodyPr>
            <a:lstStyle/>
            <a:p>
              <a:pPr algn="ctr" defTabSz="457200"/>
              <a:endParaRPr sz="159"/>
            </a:p>
          </p:txBody>
        </p:sp>
        <p:pic>
          <p:nvPicPr>
            <p:cNvPr id="277" name="Google Shape;277;p65" title="AF_Inteli_Exec_Positiva.png"/>
            <p:cNvPicPr preferRelativeResize="0"/>
            <p:nvPr/>
          </p:nvPicPr>
          <p:blipFill rotWithShape="1">
            <a:blip r:embed="rId4">
              <a:alphaModFix/>
            </a:blip>
            <a:srcRect l="25000" t="24965" r="24556" b="39431"/>
            <a:stretch/>
          </p:blipFill>
          <p:spPr>
            <a:xfrm>
              <a:off x="17051053" y="467577"/>
              <a:ext cx="827474" cy="3285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8"/>
          <p:cNvSpPr txBox="1"/>
          <p:nvPr/>
        </p:nvSpPr>
        <p:spPr>
          <a:xfrm>
            <a:off x="287838" y="348900"/>
            <a:ext cx="39270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3600"/>
            </a:pPr>
            <a:r>
              <a:rPr lang="pt-BR" sz="24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PORTFÓLIO DE CURSOS</a:t>
            </a:r>
            <a:endParaRPr sz="24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4" name="Google Shape;334;p68"/>
          <p:cNvSpPr/>
          <p:nvPr/>
        </p:nvSpPr>
        <p:spPr>
          <a:xfrm>
            <a:off x="287838" y="2012700"/>
            <a:ext cx="2776800" cy="445200"/>
          </a:xfrm>
          <a:prstGeom prst="rect">
            <a:avLst/>
          </a:prstGeom>
          <a:solidFill>
            <a:srgbClr val="89CEA5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GRADUAÇÃO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5" name="Google Shape;335;p68"/>
          <p:cNvSpPr/>
          <p:nvPr/>
        </p:nvSpPr>
        <p:spPr>
          <a:xfrm>
            <a:off x="3183600" y="2012700"/>
            <a:ext cx="2776800" cy="445200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PÓS-GRADUAÇÃO</a:t>
            </a:r>
            <a:endParaRPr sz="1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6" name="Google Shape;336;p68"/>
          <p:cNvSpPr/>
          <p:nvPr/>
        </p:nvSpPr>
        <p:spPr>
          <a:xfrm>
            <a:off x="6079363" y="2012700"/>
            <a:ext cx="2776800" cy="445200"/>
          </a:xfrm>
          <a:prstGeom prst="rect">
            <a:avLst/>
          </a:prstGeom>
          <a:solidFill>
            <a:srgbClr val="90A5E5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EDUCAÇÃO &amp; ENSINO BÁSICO</a:t>
            </a:r>
            <a:endParaRPr sz="1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7" name="Google Shape;337;p68"/>
          <p:cNvSpPr/>
          <p:nvPr/>
        </p:nvSpPr>
        <p:spPr>
          <a:xfrm>
            <a:off x="3183600" y="3046222"/>
            <a:ext cx="2776800" cy="445200"/>
          </a:xfrm>
          <a:prstGeom prst="rect">
            <a:avLst/>
          </a:prstGeom>
          <a:solidFill>
            <a:srgbClr val="B2B6BF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EDUCAÇÃO EXECUTIVA</a:t>
            </a:r>
            <a:endParaRPr sz="1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8" name="Google Shape;338;p68"/>
          <p:cNvSpPr/>
          <p:nvPr/>
        </p:nvSpPr>
        <p:spPr>
          <a:xfrm>
            <a:off x="287838" y="2529463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Ciência da Computação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9" name="Google Shape;339;p68"/>
          <p:cNvSpPr/>
          <p:nvPr/>
        </p:nvSpPr>
        <p:spPr>
          <a:xfrm>
            <a:off x="287836" y="2969132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Engenharia de Software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0" name="Google Shape;340;p68"/>
          <p:cNvSpPr/>
          <p:nvPr/>
        </p:nvSpPr>
        <p:spPr>
          <a:xfrm>
            <a:off x="287838" y="3414338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Engenharia de Computação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1" name="Google Shape;341;p68"/>
          <p:cNvSpPr/>
          <p:nvPr/>
        </p:nvSpPr>
        <p:spPr>
          <a:xfrm>
            <a:off x="287836" y="3854007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Sistemas de Informação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2" name="Google Shape;342;p68"/>
          <p:cNvSpPr/>
          <p:nvPr/>
        </p:nvSpPr>
        <p:spPr>
          <a:xfrm>
            <a:off x="287836" y="4299207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ADM Tech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3" name="Google Shape;343;p68"/>
          <p:cNvSpPr/>
          <p:nvPr/>
        </p:nvSpPr>
        <p:spPr>
          <a:xfrm>
            <a:off x="3183600" y="2529463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MBA em IA e Dados para Negócios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4" name="Google Shape;344;p68"/>
          <p:cNvSpPr/>
          <p:nvPr/>
        </p:nvSpPr>
        <p:spPr>
          <a:xfrm>
            <a:off x="3183600" y="3554359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Data Science for Decision Makers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5" name="Google Shape;345;p68"/>
          <p:cNvSpPr/>
          <p:nvPr/>
        </p:nvSpPr>
        <p:spPr>
          <a:xfrm>
            <a:off x="3183599" y="3994029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Compass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6" name="Google Shape;346;p68"/>
          <p:cNvSpPr/>
          <p:nvPr/>
        </p:nvSpPr>
        <p:spPr>
          <a:xfrm>
            <a:off x="3183599" y="4439229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AI for Business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7" name="Google Shape;347;p68"/>
          <p:cNvSpPr/>
          <p:nvPr/>
        </p:nvSpPr>
        <p:spPr>
          <a:xfrm>
            <a:off x="6079361" y="2529457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Inteli Camp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8" name="Google Shape;348;p68"/>
          <p:cNvSpPr/>
          <p:nvPr/>
        </p:nvSpPr>
        <p:spPr>
          <a:xfrm>
            <a:off x="6079363" y="2974663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Hackathon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9" name="Google Shape;349;p68"/>
          <p:cNvSpPr/>
          <p:nvPr/>
        </p:nvSpPr>
        <p:spPr>
          <a:xfrm>
            <a:off x="6079361" y="3414332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Metodologias ativas e PBL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0" name="Google Shape;350;p68"/>
          <p:cNvSpPr/>
          <p:nvPr/>
        </p:nvSpPr>
        <p:spPr>
          <a:xfrm>
            <a:off x="6079361" y="3859532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AI for Education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1" name="Google Shape;351;p68"/>
          <p:cNvSpPr txBox="1"/>
          <p:nvPr/>
        </p:nvSpPr>
        <p:spPr>
          <a:xfrm>
            <a:off x="8255264" y="885350"/>
            <a:ext cx="6009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63" tIns="15163" rIns="15163" bIns="15163" anchor="t" anchorCtr="0">
            <a:noAutofit/>
          </a:bodyPr>
          <a:lstStyle/>
          <a:p>
            <a:pPr>
              <a:buSzPts val="13262"/>
            </a:pPr>
            <a:r>
              <a:rPr lang="pt-BR" sz="6631" b="1">
                <a:solidFill>
                  <a:srgbClr val="2E2640"/>
                </a:solidFill>
                <a:latin typeface="Space Mono"/>
                <a:ea typeface="Space Mono"/>
                <a:cs typeface="Space Mono"/>
                <a:sym typeface="Space Mono"/>
              </a:rPr>
              <a:t>5</a:t>
            </a:r>
            <a:endParaRPr sz="6631" b="1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52" name="Google Shape;352;p68"/>
          <p:cNvSpPr txBox="1"/>
          <p:nvPr/>
        </p:nvSpPr>
        <p:spPr>
          <a:xfrm>
            <a:off x="8314035" y="944730"/>
            <a:ext cx="398250" cy="165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63" tIns="15163" rIns="15163" bIns="15163" anchor="t" anchorCtr="0">
            <a:spAutoFit/>
          </a:bodyPr>
          <a:lstStyle/>
          <a:p>
            <a:pPr algn="ctr">
              <a:buSzPts val="1757"/>
            </a:pPr>
            <a:r>
              <a:rPr lang="pt-BR" sz="900" b="1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NOTA</a:t>
            </a:r>
            <a:endParaRPr sz="900" b="1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3" name="Google Shape;353;p68"/>
          <p:cNvSpPr txBox="1"/>
          <p:nvPr/>
        </p:nvSpPr>
        <p:spPr>
          <a:xfrm>
            <a:off x="8297288" y="1737552"/>
            <a:ext cx="516900" cy="165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63" tIns="15163" rIns="15163" bIns="15163" anchor="t" anchorCtr="0">
            <a:spAutoFit/>
          </a:bodyPr>
          <a:lstStyle/>
          <a:p>
            <a:pPr algn="ctr">
              <a:buSzPts val="1757"/>
            </a:pPr>
            <a:r>
              <a:rPr lang="pt-BR" sz="900" b="1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NO MEC</a:t>
            </a:r>
            <a:endParaRPr sz="900" b="1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4" name="Google Shape;354;p68"/>
          <p:cNvSpPr/>
          <p:nvPr/>
        </p:nvSpPr>
        <p:spPr>
          <a:xfrm>
            <a:off x="8290474" y="1641072"/>
            <a:ext cx="100950" cy="9645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15163" tIns="15163" rIns="15163" bIns="15163" anchor="ctr" anchorCtr="0">
            <a:noAutofit/>
          </a:bodyPr>
          <a:lstStyle/>
          <a:p>
            <a:pPr algn="ctr">
              <a:buSzPts val="464"/>
            </a:pP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5" name="Google Shape;355;p68"/>
          <p:cNvSpPr/>
          <p:nvPr/>
        </p:nvSpPr>
        <p:spPr>
          <a:xfrm>
            <a:off x="8397872" y="1641072"/>
            <a:ext cx="100950" cy="9645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15163" tIns="15163" rIns="15163" bIns="15163" anchor="ctr" anchorCtr="0">
            <a:noAutofit/>
          </a:bodyPr>
          <a:lstStyle/>
          <a:p>
            <a:pPr algn="ctr">
              <a:buSzPts val="464"/>
            </a:pP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6" name="Google Shape;356;p68"/>
          <p:cNvSpPr/>
          <p:nvPr/>
        </p:nvSpPr>
        <p:spPr>
          <a:xfrm>
            <a:off x="8505269" y="1641072"/>
            <a:ext cx="100950" cy="9645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15163" tIns="15163" rIns="15163" bIns="15163" anchor="ctr" anchorCtr="0">
            <a:noAutofit/>
          </a:bodyPr>
          <a:lstStyle/>
          <a:p>
            <a:pPr algn="ctr">
              <a:buSzPts val="464"/>
            </a:pP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7" name="Google Shape;357;p68"/>
          <p:cNvSpPr txBox="1"/>
          <p:nvPr/>
        </p:nvSpPr>
        <p:spPr>
          <a:xfrm>
            <a:off x="4512214" y="1025025"/>
            <a:ext cx="4084500" cy="73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>
              <a:buSzPts val="3600"/>
            </a:pPr>
            <a:r>
              <a:rPr lang="pt-B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Com 4 anos de história, o Inteli tem nota máxima do MEC nos 5 cursos de graduação oferecidos.</a:t>
            </a:r>
            <a:endParaRPr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8" name="Google Shape;358;p68"/>
          <p:cNvSpPr/>
          <p:nvPr/>
        </p:nvSpPr>
        <p:spPr>
          <a:xfrm>
            <a:off x="7855100" y="171375"/>
            <a:ext cx="1755600" cy="303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977" dist="4326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0375" tIns="10375" rIns="10375" bIns="10375" anchor="ctr" anchorCtr="0">
            <a:noAutofit/>
          </a:bodyPr>
          <a:lstStyle/>
          <a:p>
            <a:pPr algn="ctr"/>
            <a:endParaRPr sz="900"/>
          </a:p>
        </p:txBody>
      </p:sp>
      <p:pic>
        <p:nvPicPr>
          <p:cNvPr id="359" name="Picture 35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237744"/>
            <a:ext cx="1005840" cy="4035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f07a913747_0_1898"/>
          <p:cNvSpPr txBox="1"/>
          <p:nvPr/>
        </p:nvSpPr>
        <p:spPr>
          <a:xfrm>
            <a:off x="2361563" y="2630075"/>
            <a:ext cx="6101400" cy="1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Engenharia de Prompt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para Decisores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1" name="Google Shape;1551;g3f07a913747_0_1898"/>
          <p:cNvSpPr txBox="1"/>
          <p:nvPr/>
        </p:nvSpPr>
        <p:spPr>
          <a:xfrm>
            <a:off x="3274900" y="3526275"/>
            <a:ext cx="51879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2" name="Google Shape;1552;g3f07a913747_0_1898"/>
          <p:cNvSpPr/>
          <p:nvPr/>
        </p:nvSpPr>
        <p:spPr>
          <a:xfrm>
            <a:off x="5558675" y="361875"/>
            <a:ext cx="4390500" cy="105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583" dist="7528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36125" tIns="36125" rIns="36125" bIns="36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6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553" name="Google Shape;1553;g3f07a913747_0_1898" title="AF_Inteli_Exec_Positiva.png"/>
          <p:cNvPicPr preferRelativeResize="0"/>
          <p:nvPr/>
        </p:nvPicPr>
        <p:blipFill rotWithShape="1">
          <a:blip r:embed="rId4">
            <a:alphaModFix/>
          </a:blip>
          <a:srcRect l="25000" t="24965" r="24556" b="39431"/>
          <a:stretch/>
        </p:blipFill>
        <p:spPr>
          <a:xfrm>
            <a:off x="7644596" y="641313"/>
            <a:ext cx="1373230" cy="54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B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TIPOS DE TAREFA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Nem toda tarefa acontece no mesmo ritmo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5" name="Google Shape;295;p34" descr="ex_runner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4775" y="1572768"/>
            <a:ext cx="643445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8" name="Picture 297" descr="logo_s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299" name="TextBox 298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E2640"/>
                </a:solidFill>
                <a:latin typeface="Manrope"/>
              </a:rPr>
              <a:t>Para classificar: duração, número de etapas, ferramentas envolvidas, dependências, reversibilidade e necessidade de supervisão.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mapa: princípios, frameworks e estratégias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" y="4480000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2640"/>
                </a:solidFill>
                <a:latin typeface="Manrope"/>
              </a:rPr>
              <a:t>Mapa de consulta. Hoje usamos: contexto estruturado, exemplos (few-shot), persona, justificativa verificável e Chain-of-Verification.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129844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PRINCÍPIOS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49961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3A3A4A"/>
                </a:solidFill>
                <a:latin typeface="Manrope"/>
              </a:rPr>
              <a:t>As diretrizes que valem para qualquer prompt: ser específico, organizar a instrução, ajustar o tom e iterar.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07568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7685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3A3A4A"/>
                </a:solidFill>
                <a:latin typeface="Manrope"/>
              </a:rPr>
              <a:t>Formas prontas de montar a anatomia do pedido. R-T-F e C-A-R-E são as duas que cabem no dia a dia de vocês.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5292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TÉCNICAS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5409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3A3A4A"/>
                </a:solidFill>
                <a:latin typeface="Manrope"/>
              </a:rPr>
              <a:t>Como pedir o raciocínio. Zero-shot para o simples, few-shot quando a categoria é sua, justificativa verificável quando a decisão precisa de defesa.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AVANÇADAS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3133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3A3A4A"/>
                </a:solidFill>
                <a:latin typeface="Manrope"/>
              </a:rPr>
              <a:t>Quando uma chamada só não resolve. Chain-of-Verification é a que vocês vão rodar sobre os achados do galpão.</a:t>
            </a:r>
          </a:p>
        </p:txBody>
      </p:sp>
      <p:sp>
        <p:nvSpPr>
          <p:cNvPr id="21" name="Block Arc 20"/>
          <p:cNvSpPr/>
          <p:nvPr/>
        </p:nvSpPr>
        <p:spPr>
          <a:xfrm>
            <a:off x="5204796" y="2141556"/>
            <a:ext cx="1386168" cy="1386168"/>
          </a:xfrm>
          <a:prstGeom prst="blockArc">
            <a:avLst>
              <a:gd name="adj1" fmla="val 16248000"/>
              <a:gd name="adj2" fmla="val 21552000"/>
              <a:gd name="adj3" fmla="val 25000"/>
            </a:avLst>
          </a:prstGeom>
          <a:solidFill>
            <a:srgbClr val="E6EAEB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lock Arc 21"/>
          <p:cNvSpPr/>
          <p:nvPr/>
        </p:nvSpPr>
        <p:spPr>
          <a:xfrm>
            <a:off x="5204796" y="2141556"/>
            <a:ext cx="1386168" cy="1386168"/>
          </a:xfrm>
          <a:prstGeom prst="blockArc">
            <a:avLst>
              <a:gd name="adj1" fmla="val 48000"/>
              <a:gd name="adj2" fmla="val 5352000"/>
              <a:gd name="adj3" fmla="val 25000"/>
            </a:avLst>
          </a:prstGeom>
          <a:solidFill>
            <a:srgbClr val="E6EAEB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Block Arc 22"/>
          <p:cNvSpPr/>
          <p:nvPr/>
        </p:nvSpPr>
        <p:spPr>
          <a:xfrm>
            <a:off x="5204796" y="2141556"/>
            <a:ext cx="1386168" cy="1386168"/>
          </a:xfrm>
          <a:prstGeom prst="blockArc">
            <a:avLst>
              <a:gd name="adj1" fmla="val 5448000"/>
              <a:gd name="adj2" fmla="val 10752000"/>
              <a:gd name="adj3" fmla="val 25000"/>
            </a:avLst>
          </a:prstGeom>
          <a:solidFill>
            <a:srgbClr val="E6EAEB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lock Arc 23"/>
          <p:cNvSpPr/>
          <p:nvPr/>
        </p:nvSpPr>
        <p:spPr>
          <a:xfrm>
            <a:off x="5204796" y="2141556"/>
            <a:ext cx="1386168" cy="1386168"/>
          </a:xfrm>
          <a:prstGeom prst="blockArc">
            <a:avLst>
              <a:gd name="adj1" fmla="val 10848000"/>
              <a:gd name="adj2" fmla="val 16152000"/>
              <a:gd name="adj3" fmla="val 25000"/>
            </a:avLst>
          </a:prstGeom>
          <a:solidFill>
            <a:srgbClr val="E6EAEB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Block Arc 24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16248000"/>
              <a:gd name="adj2" fmla="val 2047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lock Arc 25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20568000"/>
              <a:gd name="adj2" fmla="val 319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lock Arc 26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3288000"/>
              <a:gd name="adj2" fmla="val 751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lock Arc 27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7608000"/>
              <a:gd name="adj2" fmla="val 1183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Block Arc 28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11928000"/>
              <a:gd name="adj2" fmla="val 1615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lock Arc 29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16248000"/>
              <a:gd name="adj2" fmla="val 19237714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Block Arc 30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19333714"/>
              <a:gd name="adj2" fmla="val 723429"/>
              <a:gd name="adj3" fmla="val 11458"/>
            </a:avLst>
          </a:prstGeom>
          <a:solidFill>
            <a:srgbClr val="FF4545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lock Arc 31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819429"/>
              <a:gd name="adj2" fmla="val 3809143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lock Arc 32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3905143"/>
              <a:gd name="adj2" fmla="val 6894857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lock Arc 33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6990857"/>
              <a:gd name="adj2" fmla="val 9980571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Block Arc 34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10076571"/>
              <a:gd name="adj2" fmla="val 13066286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lock Arc 35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13162286"/>
              <a:gd name="adj2" fmla="val 16152000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Block Arc 36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16248000"/>
              <a:gd name="adj2" fmla="val 20472000"/>
              <a:gd name="adj3" fmla="val 9322"/>
            </a:avLst>
          </a:prstGeom>
          <a:solidFill>
            <a:srgbClr val="2E2640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lock Arc 37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20568000"/>
              <a:gd name="adj2" fmla="val 3192000"/>
              <a:gd name="adj3" fmla="val 9322"/>
            </a:avLst>
          </a:prstGeom>
          <a:solidFill>
            <a:srgbClr val="2E2640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Block Arc 38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3288000"/>
              <a:gd name="adj2" fmla="val 7512000"/>
              <a:gd name="adj3" fmla="val 9322"/>
            </a:avLst>
          </a:prstGeom>
          <a:solidFill>
            <a:srgbClr val="FF4545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lock Arc 39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7608000"/>
              <a:gd name="adj2" fmla="val 11832000"/>
              <a:gd name="adj3" fmla="val 9322"/>
            </a:avLst>
          </a:prstGeom>
          <a:solidFill>
            <a:srgbClr val="2E2640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Block Arc 40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11928000"/>
              <a:gd name="adj2" fmla="val 16152000"/>
              <a:gd name="adj3" fmla="val 9322"/>
            </a:avLst>
          </a:prstGeom>
          <a:solidFill>
            <a:srgbClr val="2E2640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551338" y="2488098"/>
            <a:ext cx="693084" cy="693084"/>
          </a:xfrm>
          <a:prstGeom prst="ellipse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51338" y="2596896"/>
            <a:ext cx="693084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Engenharia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de Prompt</a:t>
            </a:r>
          </a:p>
          <a:p>
            <a:pPr algn="ctr"/>
            <a:r>
              <a:rPr sz="900" b="1">
                <a:solidFill>
                  <a:srgbClr val="FF4545"/>
                </a:solidFill>
                <a:latin typeface="Manrope"/>
              </a:rPr>
              <a:t>IA4B</a:t>
            </a:r>
          </a:p>
        </p:txBody>
      </p:sp>
      <p:sp>
        <p:nvSpPr>
          <p:cNvPr id="44" name="TextBox 43"/>
          <p:cNvSpPr txBox="1"/>
          <p:nvPr/>
        </p:nvSpPr>
        <p:spPr>
          <a:xfrm rot="2700000">
            <a:off x="5888501" y="2342076"/>
            <a:ext cx="753884" cy="2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Especificidade</a:t>
            </a:r>
          </a:p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 Clareza</a:t>
            </a:r>
          </a:p>
        </p:txBody>
      </p:sp>
      <p:sp>
        <p:nvSpPr>
          <p:cNvPr id="45" name="TextBox 44"/>
          <p:cNvSpPr txBox="1"/>
          <p:nvPr/>
        </p:nvSpPr>
        <p:spPr>
          <a:xfrm rot="18900000">
            <a:off x="5888501" y="3077203"/>
            <a:ext cx="753884" cy="2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Estruturação</a:t>
            </a:r>
          </a:p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Lógica</a:t>
            </a:r>
          </a:p>
        </p:txBody>
      </p:sp>
      <p:sp>
        <p:nvSpPr>
          <p:cNvPr id="46" name="TextBox 45"/>
          <p:cNvSpPr txBox="1"/>
          <p:nvPr/>
        </p:nvSpPr>
        <p:spPr>
          <a:xfrm rot="2700000">
            <a:off x="5153374" y="3077203"/>
            <a:ext cx="753884" cy="2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Tonalidade</a:t>
            </a:r>
          </a:p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 Linguagem</a:t>
            </a:r>
          </a:p>
        </p:txBody>
      </p:sp>
      <p:sp>
        <p:nvSpPr>
          <p:cNvPr id="47" name="TextBox 46"/>
          <p:cNvSpPr txBox="1"/>
          <p:nvPr/>
        </p:nvSpPr>
        <p:spPr>
          <a:xfrm rot="18900000">
            <a:off x="5153374" y="2342076"/>
            <a:ext cx="753884" cy="2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Etapas</a:t>
            </a:r>
          </a:p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 Iterações</a:t>
            </a:r>
          </a:p>
        </p:txBody>
      </p:sp>
      <p:sp>
        <p:nvSpPr>
          <p:cNvPr id="48" name="TextBox 47"/>
          <p:cNvSpPr txBox="1"/>
          <p:nvPr/>
        </p:nvSpPr>
        <p:spPr>
          <a:xfrm rot="2160000">
            <a:off x="5906521" y="2092810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R-T-F</a:t>
            </a:r>
          </a:p>
        </p:txBody>
      </p:sp>
      <p:sp>
        <p:nvSpPr>
          <p:cNvPr id="49" name="TextBox 48"/>
          <p:cNvSpPr txBox="1"/>
          <p:nvPr/>
        </p:nvSpPr>
        <p:spPr>
          <a:xfrm rot="17280000">
            <a:off x="6211559" y="3031620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C-A-R-E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12959" y="3611838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T-A-G</a:t>
            </a:r>
          </a:p>
        </p:txBody>
      </p:sp>
      <p:sp>
        <p:nvSpPr>
          <p:cNvPr id="51" name="TextBox 50"/>
          <p:cNvSpPr txBox="1"/>
          <p:nvPr/>
        </p:nvSpPr>
        <p:spPr>
          <a:xfrm rot="4320000">
            <a:off x="4614358" y="3031620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B-A-B</a:t>
            </a:r>
          </a:p>
        </p:txBody>
      </p:sp>
      <p:sp>
        <p:nvSpPr>
          <p:cNvPr id="52" name="TextBox 51"/>
          <p:cNvSpPr txBox="1"/>
          <p:nvPr/>
        </p:nvSpPr>
        <p:spPr>
          <a:xfrm rot="19440000">
            <a:off x="4919396" y="2092810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R-I-S-E</a:t>
            </a:r>
          </a:p>
        </p:txBody>
      </p:sp>
      <p:sp>
        <p:nvSpPr>
          <p:cNvPr id="53" name="TextBox 52"/>
          <p:cNvSpPr txBox="1"/>
          <p:nvPr/>
        </p:nvSpPr>
        <p:spPr>
          <a:xfrm rot="1542857">
            <a:off x="5926359" y="1751408"/>
            <a:ext cx="926158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Zero-shot</a:t>
            </a:r>
          </a:p>
        </p:txBody>
      </p:sp>
      <p:sp>
        <p:nvSpPr>
          <p:cNvPr id="54" name="TextBox 53"/>
          <p:cNvSpPr txBox="1"/>
          <p:nvPr/>
        </p:nvSpPr>
        <p:spPr>
          <a:xfrm rot="4628571">
            <a:off x="6539322" y="2520040"/>
            <a:ext cx="926158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Few-shot</a:t>
            </a:r>
          </a:p>
        </p:txBody>
      </p:sp>
      <p:sp>
        <p:nvSpPr>
          <p:cNvPr id="55" name="TextBox 54"/>
          <p:cNvSpPr txBox="1"/>
          <p:nvPr/>
        </p:nvSpPr>
        <p:spPr>
          <a:xfrm rot="18514286">
            <a:off x="6042711" y="3478507"/>
            <a:ext cx="148185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Chain-of-Thought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6954" y="3905066"/>
            <a:ext cx="148185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Tree-of-Thought</a:t>
            </a:r>
          </a:p>
        </p:txBody>
      </p:sp>
      <p:sp>
        <p:nvSpPr>
          <p:cNvPr id="57" name="TextBox 56"/>
          <p:cNvSpPr txBox="1"/>
          <p:nvPr/>
        </p:nvSpPr>
        <p:spPr>
          <a:xfrm rot="3085714">
            <a:off x="4271196" y="3478507"/>
            <a:ext cx="148185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Skeleton-of-Thought</a:t>
            </a:r>
          </a:p>
        </p:txBody>
      </p:sp>
      <p:sp>
        <p:nvSpPr>
          <p:cNvPr id="58" name="TextBox 57"/>
          <p:cNvSpPr txBox="1"/>
          <p:nvPr/>
        </p:nvSpPr>
        <p:spPr>
          <a:xfrm rot="16971429">
            <a:off x="4052432" y="2520040"/>
            <a:ext cx="148185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Self-Consistency</a:t>
            </a:r>
          </a:p>
        </p:txBody>
      </p:sp>
      <p:sp>
        <p:nvSpPr>
          <p:cNvPr id="59" name="TextBox 58"/>
          <p:cNvSpPr txBox="1"/>
          <p:nvPr/>
        </p:nvSpPr>
        <p:spPr>
          <a:xfrm rot="20057143">
            <a:off x="4943242" y="1751408"/>
            <a:ext cx="926158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Step-Back</a:t>
            </a:r>
          </a:p>
        </p:txBody>
      </p:sp>
      <p:sp>
        <p:nvSpPr>
          <p:cNvPr id="60" name="TextBox 59"/>
          <p:cNvSpPr txBox="1"/>
          <p:nvPr/>
        </p:nvSpPr>
        <p:spPr>
          <a:xfrm rot="2160000">
            <a:off x="5912556" y="1618357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Prompt Chaining</a:t>
            </a:r>
          </a:p>
        </p:txBody>
      </p:sp>
      <p:sp>
        <p:nvSpPr>
          <p:cNvPr id="61" name="TextBox 60"/>
          <p:cNvSpPr txBox="1"/>
          <p:nvPr/>
        </p:nvSpPr>
        <p:spPr>
          <a:xfrm rot="17280000">
            <a:off x="6430637" y="3212845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Least-to-Most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74284" y="4198294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Chain-of-Verification</a:t>
            </a:r>
          </a:p>
        </p:txBody>
      </p:sp>
      <p:sp>
        <p:nvSpPr>
          <p:cNvPr id="63" name="TextBox 62"/>
          <p:cNvSpPr txBox="1"/>
          <p:nvPr/>
        </p:nvSpPr>
        <p:spPr>
          <a:xfrm rot="4320000">
            <a:off x="3717930" y="3212845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Self-Refine</a:t>
            </a:r>
          </a:p>
        </p:txBody>
      </p:sp>
      <p:sp>
        <p:nvSpPr>
          <p:cNvPr id="64" name="TextBox 63"/>
          <p:cNvSpPr txBox="1"/>
          <p:nvPr/>
        </p:nvSpPr>
        <p:spPr>
          <a:xfrm rot="19440000">
            <a:off x="4236011" y="1618357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ReAct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 · NÍVEL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Nível 0: uma descrição não é uma análise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164592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"Resuma o teaser do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Galpão Atlas."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POR QUE FALHA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CACED6"/>
                </a:highlight>
                <a:latin typeface="Manrope"/>
              </a:rPr>
              <a:t> ENTRADA VAGA </a:t>
            </a:r>
            <a:r>
              <a:rPr sz="1300" b="0">
                <a:solidFill>
                  <a:srgbClr val="3A3A4A"/>
                </a:solidFill>
                <a:latin typeface="Manrope"/>
              </a:rPr>
              <a:t>  só o teaser, a versão do vendedor.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OBJETIVO VAGO </a:t>
            </a:r>
            <a:r>
              <a:rPr sz="1300" b="0">
                <a:solidFill>
                  <a:srgbClr val="3A3A4A"/>
                </a:solidFill>
                <a:latin typeface="Manrope"/>
              </a:rPr>
              <a:t>  'resuma' não aponta nenhuma decisão.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Resultado: uma descrição educada que não decide nada. E nenhum modelo conserta um pedido mal feito.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Ninguém disse ao modelo qual decisão estava em jogo. Ele respondeu o que deu.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 · NÍVEL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Nível 1: papel, dado e objetivo mudam tudo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"Você é diretor de Capital Markets.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Um FII quer sua leitura às 14h.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Leia o teaser e aponte os 3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pontos que mudam a decisão.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CACED6"/>
                </a:highlight>
                <a:latin typeface="Space Mono"/>
              </a:rPr>
              <a:t>Para cada um, o número e a dúvida."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PAPEL </a:t>
            </a:r>
            <a:r>
              <a:rPr sz="1300" b="0">
                <a:solidFill>
                  <a:srgbClr val="3A3A4A"/>
                </a:solidFill>
                <a:latin typeface="Manrope"/>
              </a:rPr>
              <a:t>  quem a IA deve ser: enquadra vocabulário e critério.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DADO DE ENTRADA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insumo e o período que delimitam a análise.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OBJETIVO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pergunta voltada à decisão, não à descrição.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CACED6"/>
                </a:highlight>
                <a:latin typeface="Manrope"/>
              </a:rPr>
              <a:t> FORMATO </a:t>
            </a:r>
            <a:r>
              <a:rPr sz="1300" b="0">
                <a:solidFill>
                  <a:srgbClr val="3A3A4A"/>
                </a:solidFill>
                <a:latin typeface="Manrope"/>
              </a:rPr>
              <a:t>  'os 3' e 'número e dúvida' forçam a priorização.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Quatro peças, e nenhuma delas é sobre tecnologia.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 · NÍVEL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Nível 2: estrutura na entrada, estrutura na saída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"Cruze três fontes: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o teaser, a matrícula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e o contrato de locação.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Devolva no schema JSON: atributo,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90A5E5"/>
                </a:highlight>
                <a:latin typeface="Space Mono"/>
              </a:rPr>
              <a:t>teaser, documento, trecho."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OPERAÇÃO </a:t>
            </a:r>
            <a:r>
              <a:rPr sz="1300" b="0">
                <a:solidFill>
                  <a:srgbClr val="3A3A4A"/>
                </a:solidFill>
                <a:latin typeface="Manrope"/>
              </a:rPr>
              <a:t>  cruzar, e não só ler: a tensão entre as fontes é que vira achado.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FONTES MÚLTIPLAS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teaser diz o que o vendedor quer; o registro diz o que existe.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FORMATO FIXO </a:t>
            </a:r>
            <a:r>
              <a:rPr sz="1300" b="0">
                <a:solidFill>
                  <a:srgbClr val="3A3A4A"/>
                </a:solidFill>
                <a:latin typeface="Manrope"/>
              </a:rPr>
              <a:t>  saída que a próxima etapa do fluxo consome sem retrabalho.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Acrescentem a regra de fonte: use só os documentos anexados e escreva NÃO LOCALIZADO quando faltar evidência.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 · NÍVEL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Nível 3: em vez de "resuma", diga "desconfie"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Desconfie do teaser. Devolva: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1. O trecho que confirma ou nega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2. A diferença: área, prazo, ônus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3. O que é fato e o que é suposição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4. Veredito: CONSISTENTE,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INCOMPLETO ou CONTRADITÓRIO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CONTA E CRITÉRIO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conta aparece e dá para refazer.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EVIDÊNCIA E SUPOSIÇÃO </a:t>
            </a:r>
            <a:r>
              <a:rPr sz="1300" b="0">
                <a:solidFill>
                  <a:srgbClr val="3A3A4A"/>
                </a:solidFill>
                <a:latin typeface="Manrope"/>
              </a:rPr>
              <a:t>  separa o que veio do dado do que foi suposto.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INCERTEZA </a:t>
            </a:r>
            <a:r>
              <a:rPr sz="1300" b="0">
                <a:solidFill>
                  <a:srgbClr val="3A3A4A"/>
                </a:solidFill>
                <a:latin typeface="Manrope"/>
              </a:rPr>
              <a:t>  grau de confiança e dado que falta.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O texto que o modelo escreve não é o raciocínio interno dele e pode ser montado depois da resposta. Auditem a conta, a fonte e o teste.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ESTRATÉGIAS DE PROMPT · FEW-SHOT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Few-shot: dê exemplos rotulados antes do pedido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Classifique as cláusulas: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'Reajuste anual pelo IPCA' → Aluguel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'Multa de 3 aluguéis na saída' → Saída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'Preferência na compra' → Direito do inquilino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90A5E5"/>
                </a:highlight>
                <a:latin typeface="Space Mono"/>
              </a:rPr>
              <a:t>Agora: 'desconto de 12,5% até set/2027'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TAREFA </a:t>
            </a:r>
            <a:r>
              <a:rPr sz="1300" b="0">
                <a:solidFill>
                  <a:srgbClr val="3A3A4A"/>
                </a:solidFill>
                <a:latin typeface="Manrope"/>
              </a:rPr>
              <a:t>  definida uma vez, sem regra extensa.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EXEMPLOS ROTULADOS </a:t>
            </a:r>
            <a:r>
              <a:rPr sz="1300" b="0">
                <a:solidFill>
                  <a:srgbClr val="3A3A4A"/>
                </a:solidFill>
                <a:latin typeface="Manrope"/>
              </a:rPr>
              <a:t>  dois ou três casos mostram o padrão.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CASO NOVO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IA aplica o padrão que aprendeu.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Quando usar: quando as categorias são da sua operação. Incluam um caso-limite, porque o modelo copia também o viés dos exemplos. Vale também para a voz da casa: dois teasers antigos ensinam o formato do novo (PDF 06 do kit).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ESTRATÉGIAS DE PROMPT · ROLE PLAYING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Role Playing: dê um papel e um ponto de vista à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Simule o comitê de investimento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do FII. Leia o teaser e aponte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o que derrubaria a compra, com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a cláusula, a evidência, a lacuna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e o grau de confiança.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PAPEL </a:t>
            </a:r>
            <a:r>
              <a:rPr sz="1300" b="0">
                <a:solidFill>
                  <a:srgbClr val="3A3A4A"/>
                </a:solidFill>
                <a:latin typeface="Manrope"/>
              </a:rPr>
              <a:t>  quem a IA é: muda vocabulário e critério.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TAREFA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pedido sob o olhar desse papel.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CACED6"/>
                </a:highlight>
                <a:latin typeface="Manrope"/>
              </a:rPr>
              <a:t> CRITÉRIO </a:t>
            </a:r>
            <a:r>
              <a:rPr sz="1300" b="0">
                <a:solidFill>
                  <a:srgbClr val="3A3A4A"/>
                </a:solidFill>
                <a:latin typeface="Manrope"/>
              </a:rPr>
              <a:t>  regra, evidência, lacuna e confiança explícitas.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Quando usar: revisão crítica antes de enviar. O papel orienta formato e vocabulário, mas não dá ao modelo a competência de um auditor.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ESTRATÉGIAS DE PROMPT · SELF-REFINE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Self-Refine: peça para a IA revisar a forma da própria resposta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Você acabou de escrever o teaser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para o FII. Agora critique 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próprio texto: onde ele afirma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mais do que os documentos dizem,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e produza uma segunda versão.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AUTOCRÍTICA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pedido já embute a revisão do próprio output.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CRITÉRIOS EXPLÍCITOS </a:t>
            </a:r>
            <a:r>
              <a:rPr sz="1300" b="0">
                <a:solidFill>
                  <a:srgbClr val="3A3A4A"/>
                </a:solidFill>
                <a:latin typeface="Manrope"/>
              </a:rPr>
              <a:t>  fragilidade do dado e risco de erro viram padrão.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SEGUNDA VERSÃO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correção sai na mesma chamada, sem retrabalho.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Quando usar: para melhorar texto e estrutura. Para conferir fato, o mesmo modelo tende a repetir o próprio erro: use fonte externa, outra execução independente ou um especialista.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ESTRATÉGIAS DE PROMPT · CHAIN-OF-VERIFICATION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Chain-of-Verification: separe quem responde de quem confere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468879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847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1. </a:t>
            </a:r>
            <a:r>
              <a:rPr sz="1300" b="0">
                <a:solidFill>
                  <a:srgbClr val="2E2640"/>
                </a:solidFill>
                <a:highlight>
                  <a:srgbClr val="CACED6"/>
                </a:highlight>
                <a:latin typeface="Space Mono"/>
              </a:rPr>
              <a:t>Resposta inicial</a:t>
            </a:r>
            <a:r>
              <a:rPr sz="1300" b="0">
                <a:solidFill>
                  <a:srgbClr val="E0E0E8"/>
                </a:solidFill>
                <a:latin typeface="Space Mono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2. Gere </a:t>
            </a: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perguntas sobre o domínio</a:t>
            </a:r>
            <a:r>
              <a:rPr sz="1300" b="0">
                <a:solidFill>
                  <a:srgbClr val="E0E0E8"/>
                </a:solidFill>
                <a:latin typeface="Space Mono"/>
              </a:rPr>
              <a:t>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   não sobre a resposta</a:t>
            </a:r>
            <a:r>
              <a:rPr sz="1300" b="0">
                <a:solidFill>
                  <a:srgbClr val="E0E0E8"/>
                </a:solidFill>
                <a:latin typeface="Space Mono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3. Responda em </a:t>
            </a: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janela NOVA</a:t>
            </a:r>
            <a:r>
              <a:rPr sz="1300" b="0">
                <a:solidFill>
                  <a:srgbClr val="E0E0E8"/>
                </a:solidFill>
                <a:latin typeface="Space Mono"/>
              </a:rPr>
              <a:t>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   sem ver a resposta original</a:t>
            </a:r>
            <a:r>
              <a:rPr sz="1300" b="0">
                <a:solidFill>
                  <a:srgbClr val="E0E0E8"/>
                </a:solidFill>
                <a:latin typeface="Space Mono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4. </a:t>
            </a:r>
            <a:r>
              <a:rPr sz="1300" b="0">
                <a:solidFill>
                  <a:srgbClr val="2E2640"/>
                </a:solidFill>
                <a:highlight>
                  <a:srgbClr val="90A5E5"/>
                </a:highlight>
                <a:latin typeface="Space Mono"/>
              </a:rPr>
              <a:t>Reescreva com o que sobreviveu</a:t>
            </a:r>
            <a:r>
              <a:rPr sz="1300" b="0">
                <a:solidFill>
                  <a:srgbClr val="E0E0E8"/>
                </a:solidFill>
                <a:latin typeface="Space Mono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CACED6"/>
                </a:highlight>
                <a:latin typeface="Manrope"/>
              </a:rPr>
              <a:t> RESPOSTA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primeira versão, que ainda não vale nada.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PERGUNTAS DE DOMÍNIO </a:t>
            </a:r>
            <a:r>
              <a:rPr sz="1300" b="0">
                <a:solidFill>
                  <a:srgbClr val="3A3A4A"/>
                </a:solidFill>
                <a:latin typeface="Manrope"/>
              </a:rPr>
              <a:t>  perguntar sobre o contrato, não sobre o que ele escreveu.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JANELA NOVA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isolamento é o que evita o viés de confirmação.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Quando usar: quando errar custa caro. Numa diligência, uma averbação inventada vira laudo errado. Reduz o risco de alucinação, sem garantir acerto (Dhuliawala et al., 2023).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CHAIN-OF-VERIFICATION · MECÂNICA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Quatro passos, e o terceiro muda de janela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783080"/>
            <a:ext cx="187451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956816"/>
            <a:ext cx="292608" cy="292608"/>
          </a:xfrm>
          <a:prstGeom prst="ellipse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35915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E2640"/>
                </a:solidFill>
                <a:latin typeface="Manrope"/>
              </a:rPr>
              <a:t>RESPOSTA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670048"/>
            <a:ext cx="148132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3A3A4A"/>
                </a:solidFill>
                <a:latin typeface="Manrope"/>
              </a:rPr>
              <a:t>O modelo responde à pergunta original. Guarde essa resposta e não olhe mais para ela.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2478024" y="2724912"/>
            <a:ext cx="118872" cy="182880"/>
          </a:xfrm>
          <a:prstGeom prst="triangle">
            <a:avLst/>
          </a:prstGeom>
          <a:solidFill>
            <a:srgbClr val="CACE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96896" y="1783080"/>
            <a:ext cx="187451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798064" y="1956816"/>
            <a:ext cx="292608" cy="292608"/>
          </a:xfrm>
          <a:prstGeom prst="ellipse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235915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E2640"/>
                </a:solidFill>
                <a:latin typeface="Manrope"/>
              </a:rPr>
              <a:t>PERGUNTAS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8064" y="2670048"/>
            <a:ext cx="148132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3A3A4A"/>
                </a:solidFill>
                <a:latin typeface="Manrope"/>
              </a:rPr>
              <a:t>Ele gera perguntas de verificação sobre o domínio: regra, prazo, exceção. Não sobre o que escreveu.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4526280" y="2724912"/>
            <a:ext cx="118872" cy="182880"/>
          </a:xfrm>
          <a:prstGeom prst="triangle">
            <a:avLst/>
          </a:prstGeom>
          <a:solidFill>
            <a:srgbClr val="CACE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645152" y="1783080"/>
            <a:ext cx="1874519" cy="210312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846320" y="1956816"/>
            <a:ext cx="292608" cy="292608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35915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F4545"/>
                </a:solidFill>
                <a:latin typeface="Manrope"/>
              </a:rPr>
              <a:t>VERIFICAÇÃO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670048"/>
            <a:ext cx="148132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E0E0E8"/>
                </a:solidFill>
                <a:latin typeface="Manrope"/>
              </a:rPr>
              <a:t>Janela nova responde cada pergunta, sem acesso à resposta original.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96849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JANELA NOVA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6574536" y="2724912"/>
            <a:ext cx="118872" cy="182880"/>
          </a:xfrm>
          <a:prstGeom prst="triangle">
            <a:avLst/>
          </a:prstGeom>
          <a:solidFill>
            <a:srgbClr val="CACE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693408" y="1783080"/>
            <a:ext cx="187451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94576" y="1956816"/>
            <a:ext cx="292608" cy="292608"/>
          </a:xfrm>
          <a:prstGeom prst="ellipse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235915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E2640"/>
                </a:solidFill>
                <a:latin typeface="Manrope"/>
              </a:rPr>
              <a:t>REESCRITA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2670048"/>
            <a:ext cx="148132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3A3A4A"/>
                </a:solidFill>
                <a:latin typeface="Manrope"/>
              </a:rPr>
              <a:t>De volta ao chat original, reescreve usando só o que sobreviveu à conferência.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261104"/>
            <a:ext cx="8046720" cy="512064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Passos 1, 2 e 4 no mesmo chat. O passo 3 em janela nova.  </a:t>
            </a:r>
            <a:r>
              <a:rPr sz="1150" b="0">
                <a:solidFill>
                  <a:srgbClr val="FF4545"/>
                </a:solidFill>
                <a:latin typeface="Manrope"/>
              </a:rPr>
              <a:t>A independência é parcial, porque o modelo é o mesmo: combinem com fonte autorizada.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ATIVIDADE ·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Construa, rode e versione o prompt do seu projeto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48132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>
                <a:solidFill>
                  <a:srgbClr val="3A3A4A"/>
                </a:solidFill>
                <a:latin typeface="Manrope"/>
              </a:rPr>
              <a:t>Use o processo da sua ficha. Trate o prompt como artefato de trabalho: ele tem versão, e tem um critério que diz quando está bom.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874519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048256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2E2640"/>
                </a:solidFill>
                <a:latin typeface="Manrope"/>
              </a:rPr>
              <a:t>1  Escreva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3A3A4A"/>
                </a:solidFill>
                <a:latin typeface="Manrope"/>
              </a:rPr>
              <a:t>Monte a v1 com a anatomia: papel, dado de entrada, objetivo e formato. Escolha uma técnica do anel de fora.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1874519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2048256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2E2640"/>
                </a:solidFill>
                <a:latin typeface="Manrope"/>
              </a:rPr>
              <a:t>2  Rode e refine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37744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3A3A4A"/>
                </a:solidFill>
                <a:latin typeface="Manrope"/>
              </a:rPr>
              <a:t>Rode na sua ferramenta, olhe onde a resposta falhou e corrija o pedido, não a resposta. Isso vira a v2.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8464" y="1874519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9631" y="2048256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2E2640"/>
                </a:solidFill>
                <a:latin typeface="Manrope"/>
              </a:rPr>
              <a:t>3  Registre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1" y="237744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3A3A4A"/>
                </a:solidFill>
                <a:latin typeface="Manrope"/>
              </a:rPr>
              <a:t>Anote o que mudou da v1 para a v2 e o critério que você usou para dizer que a v2 serve.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5643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ENTREGÁVEIS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49039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384962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E2640"/>
                </a:solidFill>
                <a:latin typeface="Manrope"/>
              </a:rPr>
              <a:t>PROMPT V1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96896" y="3749039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0" y="384962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E2640"/>
                </a:solidFill>
                <a:latin typeface="Manrope"/>
              </a:rPr>
              <a:t>PROMPT V2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45152" y="3749039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91456" y="384962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E2640"/>
                </a:solidFill>
                <a:latin typeface="Manrope"/>
              </a:rPr>
              <a:t>O QUE MUDOU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93408" y="3749039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39712" y="384962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E2640"/>
                </a:solidFill>
                <a:latin typeface="Manrope"/>
              </a:rPr>
              <a:t>CRITÉRIO DE ACEITE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315968"/>
            <a:ext cx="8046720" cy="438912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Registro mínimo: objetivo, dados de entrada, prompt, modelo, versão, saída e avaliação.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ATIVIDADE · CHAIN-OF-VERIFICATION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Agora confira os achados do Galpão Atlas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481328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>
                <a:solidFill>
                  <a:srgbClr val="3A3A4A"/>
                </a:solidFill>
                <a:latin typeface="Manrope"/>
              </a:rPr>
              <a:t>Os dois prompts abaixo são para colar. O segundo vai em uma janela nova. No mesmo chat, o exercício perde a graça.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00784"/>
            <a:ext cx="3931920" cy="2107691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84708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PASSO 2 · NO MESMO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176272"/>
            <a:ext cx="352958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B2B6BF"/>
                </a:solidFill>
                <a:latin typeface="Manrope"/>
              </a:rPr>
              <a:t>Pede as perguntas, não as respostas: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414016"/>
            <a:ext cx="3566160" cy="1248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Gere 5 perguntas de verificação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sobre o imóvel e o contrato.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Sobre o domínio: área, ônus,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prazo, multa. NÃO sobre o texto.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Não responda agora.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700784"/>
            <a:ext cx="3931920" cy="2107691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7" y="184708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PASSO 3 · EM JANELA NOVA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7" y="2176272"/>
            <a:ext cx="352958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B2B6BF"/>
                </a:solidFill>
                <a:latin typeface="Manrope"/>
              </a:rPr>
              <a:t>Chat limpo, com as fontes anexadas: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7" y="2414016"/>
            <a:ext cx="3566160" cy="1248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Responda uma a uma, usando só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os documentos anexados (matrícula,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contrato, laudo). Cite o trecho.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Sem trecho, escreva NÃO LOCALIZADO.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[anexe os PDFs e cole as perguntas]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136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PASSO 4 · DE VOLTA AO CHAT ORIGINAL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>
                <a:solidFill>
                  <a:srgbClr val="3A3A4A"/>
                </a:solidFill>
                <a:latin typeface="Space Mono"/>
              </a:rPr>
              <a:t>"Considerando estas respostas, reescreva a tabela de achados e marque o que mudou."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07408"/>
            <a:ext cx="8046720" cy="402336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O que não sobreviver ao passo 3 não vai para o FII.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CAPACIDADE DOS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que o modelo faz sozinho e o que ele faz com um harness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950" y="1250000"/>
            <a:ext cx="4020000" cy="3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62050" y="1250000"/>
            <a:ext cx="4020000" cy="3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1950" y="1470000"/>
            <a:ext cx="354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640"/>
                </a:solidFill>
                <a:latin typeface="Manrope"/>
              </a:rPr>
              <a:t>MODELO BASE ISOLADO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2050" y="1470000"/>
            <a:ext cx="354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4545"/>
                </a:solidFill>
                <a:latin typeface="Manrope"/>
              </a:rPr>
              <a:t>SISTEMA DE IA: MODELO + HARNESS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50" y="1870000"/>
            <a:ext cx="3540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Lê o contexto e gera a resposta no chat.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Limitado à janela de contexto da conversa.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Não acessa sistemas, arquivos ou dados da empresa.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Não guarda nada entre sessões por conta própria.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2050" y="1870000"/>
            <a:ext cx="3540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Usa ferramentas: busca, planilhas, sistemas internos.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Mantém estado e memória entre etapas.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Executa em loop até atingir o objetivo.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Para e pede aprovação humana onde você definir.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" y="4480000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2640"/>
                </a:solidFill>
                <a:latin typeface="Manrope"/>
              </a:rPr>
              <a:t>Com o mesmo modelo, outro harness produz outro resultado. Vocês montam cada uma dessas caixas ao longo da semana.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pic>
        <p:nvPicPr>
          <p:cNvPr id="13" name="Picture 12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17320"/>
            <a:ext cx="420624" cy="420624"/>
          </a:xfrm>
          <a:prstGeom prst="rect">
            <a:avLst/>
          </a:prstGeom>
        </p:spPr>
      </p:pic>
      <p:pic>
        <p:nvPicPr>
          <p:cNvPr id="14" name="Picture 13" descr="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417320"/>
            <a:ext cx="420624" cy="420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92608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223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E2640"/>
                </a:solidFill>
                <a:latin typeface="Manrope"/>
              </a:rPr>
              <a:t>Harness: a infraestrutura que transforma modelo em agente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8046720" cy="3218688"/>
          </a:xfrm>
          <a:prstGeom prst="roundRect">
            <a:avLst>
              <a:gd name="adj" fmla="val 5000"/>
            </a:avLst>
          </a:prstGeom>
          <a:solidFill>
            <a:srgbClr val="F5F3FC"/>
          </a:solidFill>
          <a:ln w="13970">
            <a:solidFill>
              <a:srgbClr val="DDD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C5BC7"/>
                </a:solidFill>
                <a:latin typeface="Manrope"/>
              </a:rPr>
              <a:t>HARNESS</a:t>
            </a:r>
            <a:r>
              <a:rPr sz="900" b="0">
                <a:solidFill>
                  <a:srgbClr val="3A3A4A"/>
                </a:solidFill>
                <a:latin typeface="Manrope"/>
              </a:rPr>
              <a:t>   tudo o que existe em volta do modelo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2384" y="1847088"/>
            <a:ext cx="2999232" cy="1005840"/>
          </a:xfrm>
          <a:prstGeom prst="roundRect">
            <a:avLst>
              <a:gd name="adj" fmla="val 10000"/>
            </a:avLst>
          </a:prstGeom>
          <a:solidFill>
            <a:srgbClr val="E9E2F8"/>
          </a:solidFill>
          <a:ln w="13970">
            <a:solidFill>
              <a:srgbClr val="7C5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la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1975104"/>
            <a:ext cx="274320" cy="274320"/>
          </a:xfrm>
          <a:prstGeom prst="rect">
            <a:avLst/>
          </a:prstGeom>
        </p:spPr>
      </p:pic>
      <p:pic>
        <p:nvPicPr>
          <p:cNvPr id="9" name="Picture 8" descr="open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975104"/>
            <a:ext cx="274320" cy="274320"/>
          </a:xfrm>
          <a:prstGeom prst="rect">
            <a:avLst/>
          </a:prstGeom>
        </p:spPr>
      </p:pic>
      <p:pic>
        <p:nvPicPr>
          <p:cNvPr id="10" name="Picture 9" descr="gemin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975104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18688" y="2340864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E2640"/>
                </a:solidFill>
                <a:latin typeface="Manrope"/>
              </a:rPr>
              <a:t>MODELO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3A3A4A"/>
                </a:solidFill>
                <a:latin typeface="Manrope"/>
              </a:rPr>
              <a:t>Claude, GPT,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5564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F6B3B"/>
                </a:solidFill>
                <a:latin typeface="Manrope"/>
              </a:rPr>
              <a:t>GUIAS</a:t>
            </a:r>
            <a:r>
              <a:rPr sz="800" b="0">
                <a:solidFill>
                  <a:srgbClr val="3A3A4A"/>
                </a:solidFill>
                <a:latin typeface="Manrope"/>
              </a:rPr>
              <a:t>   o que entra 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029968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D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" y="217627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6B3B"/>
                </a:solidFill>
                <a:latin typeface="Manrope"/>
              </a:rPr>
              <a:t>Instruções e políticas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70048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D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3544" y="28163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6B3B"/>
                </a:solidFill>
                <a:latin typeface="Manrope"/>
              </a:rPr>
              <a:t>Contexto do negócio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10128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D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3544" y="34564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6B3B"/>
                </a:solidFill>
                <a:latin typeface="Manrope"/>
              </a:rPr>
              <a:t>Exemplos e padrões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75564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8A5A12"/>
                </a:solidFill>
                <a:latin typeface="Manrope"/>
              </a:rPr>
              <a:t>SENSORES</a:t>
            </a:r>
            <a:r>
              <a:rPr sz="800" b="0">
                <a:solidFill>
                  <a:srgbClr val="3A3A4A"/>
                </a:solidFill>
                <a:latin typeface="Manrope"/>
              </a:rPr>
              <a:t>   o que valida depois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029968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DE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01384" y="217627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8A5A12"/>
                </a:solidFill>
                <a:latin typeface="Manrope"/>
              </a:rPr>
              <a:t>Validação da saída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670048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DE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01384" y="28163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8A5A12"/>
                </a:solidFill>
                <a:latin typeface="Manrope"/>
              </a:rPr>
              <a:t>Revisor automático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310128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DE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01384" y="34564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8A5A12"/>
                </a:solidFill>
                <a:latin typeface="Manrope"/>
              </a:rPr>
              <a:t>Alçada e auditoria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299923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A6068"/>
                </a:solidFill>
                <a:latin typeface="Manrope"/>
              </a:rPr>
              <a:t>FERRAMENTAS E MEMÓRIA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62656" y="3255264"/>
            <a:ext cx="3218688" cy="1042416"/>
          </a:xfrm>
          <a:prstGeom prst="roundRect">
            <a:avLst>
              <a:gd name="adj" fmla="val 10000"/>
            </a:avLst>
          </a:prstGeom>
          <a:solidFill>
            <a:srgbClr val="DC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outl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7832" y="3438144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962656" y="3785616"/>
            <a:ext cx="8046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A6068"/>
                </a:solidFill>
                <a:latin typeface="Manrope"/>
              </a:rPr>
              <a:t>E-mail</a:t>
            </a:r>
          </a:p>
        </p:txBody>
      </p:sp>
      <p:pic>
        <p:nvPicPr>
          <p:cNvPr id="30" name="Picture 29" descr="dri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2504" y="3438144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767328" y="3785616"/>
            <a:ext cx="8046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A6068"/>
                </a:solidFill>
                <a:latin typeface="Manrope"/>
              </a:rPr>
              <a:t>Arquivos</a:t>
            </a:r>
          </a:p>
        </p:txBody>
      </p:sp>
      <p:pic>
        <p:nvPicPr>
          <p:cNvPr id="32" name="Picture 31" descr="sl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7176" y="3438144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72000" y="3785616"/>
            <a:ext cx="8046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A6068"/>
                </a:solidFill>
                <a:latin typeface="Manrope"/>
              </a:rPr>
              <a:t>Mensagens</a:t>
            </a:r>
          </a:p>
        </p:txBody>
      </p:sp>
      <p:pic>
        <p:nvPicPr>
          <p:cNvPr id="34" name="Picture 33" descr="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1848" y="3438144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376672" y="3785616"/>
            <a:ext cx="8046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A6068"/>
                </a:solidFill>
                <a:latin typeface="Manrope"/>
              </a:rPr>
              <a:t>Bases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02336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0A6068"/>
                </a:solidFill>
                <a:latin typeface="Manrope"/>
              </a:rPr>
              <a:t>memória, arquivos e sistemas que o agente aciona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A3A4A"/>
                </a:solidFill>
                <a:latin typeface="Manrope"/>
              </a:rPr>
              <a:t>Sem harness o modelo responde, mas não age. Trocar o harness muda o resultado sem trocar o modelo.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84632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8" grpId="0"/>
      <p:bldP spid="9" grpId="0"/>
      <p:bldP spid="10" grpId="0"/>
      <p:bldP spid="5" grpId="0"/>
      <p:bldP spid="6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6"/>
          <p:cNvSpPr/>
          <p:nvPr/>
        </p:nvSpPr>
        <p:spPr>
          <a:xfrm>
            <a:off x="548640" y="292608"/>
            <a:ext cx="7041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NÍVEIS DE USO DE IA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5" name="Google Shape;375;p56"/>
          <p:cNvSpPr/>
          <p:nvPr/>
        </p:nvSpPr>
        <p:spPr>
          <a:xfrm>
            <a:off x="548640" y="548640"/>
            <a:ext cx="73152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Da automação ao agente: quatro níveis de uso de IA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6" name="Google Shape;376;p56"/>
          <p:cNvSpPr/>
          <p:nvPr/>
        </p:nvSpPr>
        <p:spPr>
          <a:xfrm>
            <a:off x="566928" y="1353312"/>
            <a:ext cx="502800" cy="41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6"/>
          <p:cNvSpPr/>
          <p:nvPr/>
        </p:nvSpPr>
        <p:spPr>
          <a:xfrm>
            <a:off x="457200" y="4846320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56"/>
          <p:cNvSpPr/>
          <p:nvPr/>
        </p:nvSpPr>
        <p:spPr>
          <a:xfrm>
            <a:off x="8321040" y="4846320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9" name="Google Shape;379;p56"/>
          <p:cNvSpPr txBox="1"/>
          <p:nvPr/>
        </p:nvSpPr>
        <p:spPr>
          <a:xfrm>
            <a:off x="546100" y="1473200"/>
            <a:ext cx="80518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Conforme o humano sai do loop (in → on → out), a IA assume mais etapas da decisão.</a:t>
            </a:r>
            <a:endParaRPr/>
          </a:p>
        </p:txBody>
      </p:sp>
      <p:sp>
        <p:nvSpPr>
          <p:cNvPr id="380" name="Google Shape;380;p56"/>
          <p:cNvSpPr/>
          <p:nvPr/>
        </p:nvSpPr>
        <p:spPr>
          <a:xfrm>
            <a:off x="546100" y="1905000"/>
            <a:ext cx="1905000" cy="256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6"/>
          <p:cNvSpPr txBox="1"/>
          <p:nvPr/>
        </p:nvSpPr>
        <p:spPr>
          <a:xfrm>
            <a:off x="698500" y="2057400"/>
            <a:ext cx="1600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Automação</a:t>
            </a:r>
            <a:endParaRPr/>
          </a:p>
        </p:txBody>
      </p:sp>
      <p:sp>
        <p:nvSpPr>
          <p:cNvPr id="382" name="Google Shape;382;p56"/>
          <p:cNvSpPr/>
          <p:nvPr/>
        </p:nvSpPr>
        <p:spPr>
          <a:xfrm>
            <a:off x="6985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6"/>
          <p:cNvSpPr/>
          <p:nvPr/>
        </p:nvSpPr>
        <p:spPr>
          <a:xfrm>
            <a:off x="9271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6"/>
          <p:cNvSpPr/>
          <p:nvPr/>
        </p:nvSpPr>
        <p:spPr>
          <a:xfrm>
            <a:off x="11557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6"/>
          <p:cNvSpPr/>
          <p:nvPr/>
        </p:nvSpPr>
        <p:spPr>
          <a:xfrm>
            <a:off x="13843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6"/>
          <p:cNvSpPr txBox="1"/>
          <p:nvPr/>
        </p:nvSpPr>
        <p:spPr>
          <a:xfrm>
            <a:off x="698500" y="2565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Segue regras fixas; faz sempre igual.</a:t>
            </a:r>
            <a:endParaRPr/>
          </a:p>
        </p:txBody>
      </p:sp>
      <p:sp>
        <p:nvSpPr>
          <p:cNvPr id="387" name="Google Shape;387;p56"/>
          <p:cNvSpPr txBox="1"/>
          <p:nvPr/>
        </p:nvSpPr>
        <p:spPr>
          <a:xfrm>
            <a:off x="698500" y="3327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Ex.: RPA que preenche sistemas.</a:t>
            </a:r>
            <a:endParaRPr/>
          </a:p>
        </p:txBody>
      </p:sp>
      <p:sp>
        <p:nvSpPr>
          <p:cNvPr id="388" name="Google Shape;388;p56"/>
          <p:cNvSpPr/>
          <p:nvPr/>
        </p:nvSpPr>
        <p:spPr>
          <a:xfrm>
            <a:off x="647700" y="4064000"/>
            <a:ext cx="1701800" cy="2794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Regras humanas</a:t>
            </a:r>
            <a:endParaRPr/>
          </a:p>
        </p:txBody>
      </p:sp>
      <p:sp>
        <p:nvSpPr>
          <p:cNvPr id="389" name="Google Shape;389;p56"/>
          <p:cNvSpPr/>
          <p:nvPr/>
        </p:nvSpPr>
        <p:spPr>
          <a:xfrm>
            <a:off x="2552700" y="1905000"/>
            <a:ext cx="1905000" cy="256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6"/>
          <p:cNvSpPr txBox="1"/>
          <p:nvPr/>
        </p:nvSpPr>
        <p:spPr>
          <a:xfrm>
            <a:off x="2705100" y="2057400"/>
            <a:ext cx="1600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Assistente</a:t>
            </a:r>
            <a:endParaRPr/>
          </a:p>
        </p:txBody>
      </p:sp>
      <p:sp>
        <p:nvSpPr>
          <p:cNvPr id="391" name="Google Shape;391;p56"/>
          <p:cNvSpPr/>
          <p:nvPr/>
        </p:nvSpPr>
        <p:spPr>
          <a:xfrm>
            <a:off x="27051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6"/>
          <p:cNvSpPr/>
          <p:nvPr/>
        </p:nvSpPr>
        <p:spPr>
          <a:xfrm>
            <a:off x="29337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6"/>
          <p:cNvSpPr/>
          <p:nvPr/>
        </p:nvSpPr>
        <p:spPr>
          <a:xfrm>
            <a:off x="31623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6"/>
          <p:cNvSpPr/>
          <p:nvPr/>
        </p:nvSpPr>
        <p:spPr>
          <a:xfrm>
            <a:off x="33909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6"/>
          <p:cNvSpPr txBox="1"/>
          <p:nvPr/>
        </p:nvSpPr>
        <p:spPr>
          <a:xfrm>
            <a:off x="2705100" y="2565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Responde quando é chamado.</a:t>
            </a:r>
            <a:endParaRPr/>
          </a:p>
        </p:txBody>
      </p:sp>
      <p:sp>
        <p:nvSpPr>
          <p:cNvPr id="396" name="Google Shape;396;p56"/>
          <p:cNvSpPr txBox="1"/>
          <p:nvPr/>
        </p:nvSpPr>
        <p:spPr>
          <a:xfrm>
            <a:off x="2705100" y="3327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Ex.: resumir um chamado.</a:t>
            </a:r>
            <a:endParaRPr/>
          </a:p>
        </p:txBody>
      </p:sp>
      <p:sp>
        <p:nvSpPr>
          <p:cNvPr id="397" name="Google Shape;397;p56"/>
          <p:cNvSpPr/>
          <p:nvPr/>
        </p:nvSpPr>
        <p:spPr>
          <a:xfrm>
            <a:off x="2654300" y="4064000"/>
            <a:ext cx="1701800" cy="2794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Decisão humana</a:t>
            </a:r>
            <a:endParaRPr/>
          </a:p>
        </p:txBody>
      </p:sp>
      <p:sp>
        <p:nvSpPr>
          <p:cNvPr id="398" name="Google Shape;398;p56"/>
          <p:cNvSpPr/>
          <p:nvPr/>
        </p:nvSpPr>
        <p:spPr>
          <a:xfrm>
            <a:off x="4559300" y="1905000"/>
            <a:ext cx="1905000" cy="256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6"/>
          <p:cNvSpPr txBox="1"/>
          <p:nvPr/>
        </p:nvSpPr>
        <p:spPr>
          <a:xfrm>
            <a:off x="4711700" y="2057400"/>
            <a:ext cx="1600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Copiloto</a:t>
            </a:r>
            <a:endParaRPr/>
          </a:p>
        </p:txBody>
      </p:sp>
      <p:sp>
        <p:nvSpPr>
          <p:cNvPr id="400" name="Google Shape;400;p56"/>
          <p:cNvSpPr/>
          <p:nvPr/>
        </p:nvSpPr>
        <p:spPr>
          <a:xfrm>
            <a:off x="47117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6"/>
          <p:cNvSpPr/>
          <p:nvPr/>
        </p:nvSpPr>
        <p:spPr>
          <a:xfrm>
            <a:off x="49403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6"/>
          <p:cNvSpPr/>
          <p:nvPr/>
        </p:nvSpPr>
        <p:spPr>
          <a:xfrm>
            <a:off x="51689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6"/>
          <p:cNvSpPr/>
          <p:nvPr/>
        </p:nvSpPr>
        <p:spPr>
          <a:xfrm>
            <a:off x="53975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6"/>
          <p:cNvSpPr txBox="1"/>
          <p:nvPr/>
        </p:nvSpPr>
        <p:spPr>
          <a:xfrm>
            <a:off x="4711700" y="2565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Sugere dentro do fluxo de trabalho.</a:t>
            </a:r>
            <a:endParaRPr/>
          </a:p>
        </p:txBody>
      </p:sp>
      <p:sp>
        <p:nvSpPr>
          <p:cNvPr id="405" name="Google Shape;405;p56"/>
          <p:cNvSpPr txBox="1"/>
          <p:nvPr/>
        </p:nvSpPr>
        <p:spPr>
          <a:xfrm>
            <a:off x="4711700" y="3327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Ex.: sugerir resposta ao atendente.</a:t>
            </a:r>
            <a:endParaRPr/>
          </a:p>
        </p:txBody>
      </p:sp>
      <p:sp>
        <p:nvSpPr>
          <p:cNvPr id="406" name="Google Shape;406;p56"/>
          <p:cNvSpPr/>
          <p:nvPr/>
        </p:nvSpPr>
        <p:spPr>
          <a:xfrm>
            <a:off x="4660900" y="4064000"/>
            <a:ext cx="1701800" cy="2794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Aprovação humana</a:t>
            </a:r>
            <a:endParaRPr/>
          </a:p>
        </p:txBody>
      </p:sp>
      <p:sp>
        <p:nvSpPr>
          <p:cNvPr id="407" name="Google Shape;407;p56"/>
          <p:cNvSpPr/>
          <p:nvPr/>
        </p:nvSpPr>
        <p:spPr>
          <a:xfrm>
            <a:off x="6565900" y="1905000"/>
            <a:ext cx="1905000" cy="256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6"/>
          <p:cNvSpPr txBox="1"/>
          <p:nvPr/>
        </p:nvSpPr>
        <p:spPr>
          <a:xfrm>
            <a:off x="6718300" y="2057400"/>
            <a:ext cx="1600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Agente</a:t>
            </a:r>
            <a:endParaRPr/>
          </a:p>
        </p:txBody>
      </p:sp>
      <p:sp>
        <p:nvSpPr>
          <p:cNvPr id="409" name="Google Shape;409;p56"/>
          <p:cNvSpPr/>
          <p:nvPr/>
        </p:nvSpPr>
        <p:spPr>
          <a:xfrm>
            <a:off x="67183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6"/>
          <p:cNvSpPr/>
          <p:nvPr/>
        </p:nvSpPr>
        <p:spPr>
          <a:xfrm>
            <a:off x="69469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6"/>
          <p:cNvSpPr/>
          <p:nvPr/>
        </p:nvSpPr>
        <p:spPr>
          <a:xfrm>
            <a:off x="71755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6"/>
          <p:cNvSpPr/>
          <p:nvPr/>
        </p:nvSpPr>
        <p:spPr>
          <a:xfrm>
            <a:off x="74041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6"/>
          <p:cNvSpPr txBox="1"/>
          <p:nvPr/>
        </p:nvSpPr>
        <p:spPr>
          <a:xfrm>
            <a:off x="6718300" y="2565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Recebe um objetivo e executa.</a:t>
            </a:r>
            <a:endParaRPr/>
          </a:p>
        </p:txBody>
      </p:sp>
      <p:sp>
        <p:nvSpPr>
          <p:cNvPr id="414" name="Google Shape;414;p56"/>
          <p:cNvSpPr txBox="1"/>
          <p:nvPr/>
        </p:nvSpPr>
        <p:spPr>
          <a:xfrm>
            <a:off x="6718300" y="3327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Ex.: triagem e escalonamento de documentos.</a:t>
            </a:r>
            <a:endParaRPr/>
          </a:p>
        </p:txBody>
      </p:sp>
      <p:sp>
        <p:nvSpPr>
          <p:cNvPr id="415" name="Google Shape;415;p56"/>
          <p:cNvSpPr/>
          <p:nvPr/>
        </p:nvSpPr>
        <p:spPr>
          <a:xfrm>
            <a:off x="6667500" y="4064000"/>
            <a:ext cx="1701800" cy="279400"/>
          </a:xfrm>
          <a:prstGeom prst="roundRect">
            <a:avLst>
              <a:gd name="adj" fmla="val 1666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Supervisão humana</a:t>
            </a:r>
            <a:endParaRPr/>
          </a:p>
        </p:txBody>
      </p:sp>
      <p:pic>
        <p:nvPicPr>
          <p:cNvPr id="416" name="Picture 415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3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ATIVIDADE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3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Em qual nível cada caso se encaixa?</a:t>
            </a:r>
            <a:endParaRPr/>
          </a:p>
        </p:txBody>
      </p:sp>
      <p:sp>
        <p:nvSpPr>
          <p:cNvPr id="424" name="Google Shape;424;p63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63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63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7" name="Google Shape;427;p63"/>
          <p:cNvSpPr/>
          <p:nvPr/>
        </p:nvSpPr>
        <p:spPr>
          <a:xfrm>
            <a:off x="546100" y="1574800"/>
            <a:ext cx="8051800" cy="67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63"/>
          <p:cNvSpPr txBox="1"/>
          <p:nvPr/>
        </p:nvSpPr>
        <p:spPr>
          <a:xfrm>
            <a:off x="762000" y="17907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 1</a:t>
            </a:r>
            <a:endParaRPr/>
          </a:p>
        </p:txBody>
      </p:sp>
      <p:sp>
        <p:nvSpPr>
          <p:cNvPr id="429" name="Google Shape;429;p63"/>
          <p:cNvSpPr txBox="1"/>
          <p:nvPr/>
        </p:nvSpPr>
        <p:spPr>
          <a:xfrm>
            <a:off x="1778000" y="166370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Sistema dispara alerta quando o estoque cai abaixo do mínimo.</a:t>
            </a:r>
            <a:endParaRPr/>
          </a:p>
        </p:txBody>
      </p:sp>
      <p:sp>
        <p:nvSpPr>
          <p:cNvPr id="430" name="Google Shape;430;p63"/>
          <p:cNvSpPr/>
          <p:nvPr/>
        </p:nvSpPr>
        <p:spPr>
          <a:xfrm>
            <a:off x="6959600" y="1739900"/>
            <a:ext cx="1447800" cy="3429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Automação</a:t>
            </a:r>
            <a:endParaRPr/>
          </a:p>
        </p:txBody>
      </p:sp>
      <p:sp>
        <p:nvSpPr>
          <p:cNvPr id="431" name="Google Shape;431;p63"/>
          <p:cNvSpPr/>
          <p:nvPr/>
        </p:nvSpPr>
        <p:spPr>
          <a:xfrm>
            <a:off x="546100" y="2374900"/>
            <a:ext cx="8051800" cy="67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63"/>
          <p:cNvSpPr txBox="1"/>
          <p:nvPr/>
        </p:nvSpPr>
        <p:spPr>
          <a:xfrm>
            <a:off x="762000" y="25908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 2</a:t>
            </a:r>
            <a:endParaRPr/>
          </a:p>
        </p:txBody>
      </p:sp>
      <p:sp>
        <p:nvSpPr>
          <p:cNvPr id="433" name="Google Shape;433;p63"/>
          <p:cNvSpPr txBox="1"/>
          <p:nvPr/>
        </p:nvSpPr>
        <p:spPr>
          <a:xfrm>
            <a:off x="1778000" y="246380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IA resume as 200 avaliações da semana sobre o app da empresa.</a:t>
            </a:r>
            <a:endParaRPr/>
          </a:p>
        </p:txBody>
      </p:sp>
      <p:sp>
        <p:nvSpPr>
          <p:cNvPr id="434" name="Google Shape;434;p63"/>
          <p:cNvSpPr/>
          <p:nvPr/>
        </p:nvSpPr>
        <p:spPr>
          <a:xfrm>
            <a:off x="6959600" y="2540000"/>
            <a:ext cx="1447800" cy="3429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Assistente</a:t>
            </a:r>
            <a:endParaRPr/>
          </a:p>
        </p:txBody>
      </p:sp>
      <p:sp>
        <p:nvSpPr>
          <p:cNvPr id="435" name="Google Shape;435;p63"/>
          <p:cNvSpPr/>
          <p:nvPr/>
        </p:nvSpPr>
        <p:spPr>
          <a:xfrm>
            <a:off x="546100" y="3175000"/>
            <a:ext cx="8051800" cy="67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63"/>
          <p:cNvSpPr txBox="1"/>
          <p:nvPr/>
        </p:nvSpPr>
        <p:spPr>
          <a:xfrm>
            <a:off x="762000" y="33909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 3</a:t>
            </a:r>
            <a:endParaRPr/>
          </a:p>
        </p:txBody>
      </p:sp>
      <p:sp>
        <p:nvSpPr>
          <p:cNvPr id="437" name="Google Shape;437;p63"/>
          <p:cNvSpPr txBox="1"/>
          <p:nvPr/>
        </p:nvSpPr>
        <p:spPr>
          <a:xfrm>
            <a:off x="1778000" y="326390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IA sugere ao atendente a próxima ação com o cliente prestes a sair.</a:t>
            </a:r>
            <a:endParaRPr/>
          </a:p>
        </p:txBody>
      </p:sp>
      <p:sp>
        <p:nvSpPr>
          <p:cNvPr id="438" name="Google Shape;438;p63"/>
          <p:cNvSpPr/>
          <p:nvPr/>
        </p:nvSpPr>
        <p:spPr>
          <a:xfrm>
            <a:off x="6959600" y="3340100"/>
            <a:ext cx="1447800" cy="3429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Copiloto</a:t>
            </a:r>
            <a:endParaRPr/>
          </a:p>
        </p:txBody>
      </p:sp>
      <p:sp>
        <p:nvSpPr>
          <p:cNvPr id="439" name="Google Shape;439;p63"/>
          <p:cNvSpPr/>
          <p:nvPr/>
        </p:nvSpPr>
        <p:spPr>
          <a:xfrm>
            <a:off x="546100" y="3975100"/>
            <a:ext cx="8051800" cy="67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63"/>
          <p:cNvSpPr txBox="1"/>
          <p:nvPr/>
        </p:nvSpPr>
        <p:spPr>
          <a:xfrm>
            <a:off x="762000" y="41910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 4</a:t>
            </a:r>
            <a:endParaRPr/>
          </a:p>
        </p:txBody>
      </p:sp>
      <p:sp>
        <p:nvSpPr>
          <p:cNvPr id="441" name="Google Shape;441;p63"/>
          <p:cNvSpPr txBox="1"/>
          <p:nvPr/>
        </p:nvSpPr>
        <p:spPr>
          <a:xfrm>
            <a:off x="1778000" y="406400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Fluxo recebe a nota fiscal, concilia e só escala a exceção.</a:t>
            </a:r>
            <a:endParaRPr/>
          </a:p>
        </p:txBody>
      </p:sp>
      <p:sp>
        <p:nvSpPr>
          <p:cNvPr id="442" name="Google Shape;442;p63"/>
          <p:cNvSpPr/>
          <p:nvPr/>
        </p:nvSpPr>
        <p:spPr>
          <a:xfrm>
            <a:off x="6959600" y="4140200"/>
            <a:ext cx="1447800" cy="342900"/>
          </a:xfrm>
          <a:prstGeom prst="roundRect">
            <a:avLst>
              <a:gd name="adj" fmla="val 1666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Agente</a:t>
            </a:r>
            <a:endParaRPr/>
          </a:p>
        </p:txBody>
      </p:sp>
      <p:pic>
        <p:nvPicPr>
          <p:cNvPr id="443" name="Picture 442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f07a913747_0_1898"/>
          <p:cNvSpPr txBox="1"/>
          <p:nvPr/>
        </p:nvSpPr>
        <p:spPr>
          <a:xfrm>
            <a:off x="2361563" y="2630075"/>
            <a:ext cx="6101400" cy="1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Cenários e Relatórios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Automáticos de Mercado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1" name="Google Shape;1551;g3f07a913747_0_1898"/>
          <p:cNvSpPr txBox="1"/>
          <p:nvPr/>
        </p:nvSpPr>
        <p:spPr>
          <a:xfrm>
            <a:off x="3274900" y="3526275"/>
            <a:ext cx="51879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2" name="Google Shape;1552;g3f07a913747_0_1898"/>
          <p:cNvSpPr/>
          <p:nvPr/>
        </p:nvSpPr>
        <p:spPr>
          <a:xfrm>
            <a:off x="5558675" y="361875"/>
            <a:ext cx="4390500" cy="105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583" dist="7528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36125" tIns="36125" rIns="36125" bIns="36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6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553" name="Google Shape;1553;g3f07a913747_0_1898" title="AF_Inteli_Exec_Positiva.png"/>
          <p:cNvPicPr preferRelativeResize="0"/>
          <p:nvPr/>
        </p:nvPicPr>
        <p:blipFill rotWithShape="1">
          <a:blip r:embed="rId4">
            <a:alphaModFix/>
          </a:blip>
          <a:srcRect l="25000" t="24965" r="24556" b="39431"/>
          <a:stretch/>
        </p:blipFill>
        <p:spPr>
          <a:xfrm>
            <a:off x="7644596" y="641313"/>
            <a:ext cx="1373230" cy="54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CENÁRIOS E RELATÓRIOS AUTOMÁTICOS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Antes de abrir a planilha, escreva a decisão em jogo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1572768"/>
            <a:ext cx="19202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" y="1664208"/>
            <a:ext cx="166420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FF4545"/>
                </a:solidFill>
                <a:latin typeface="Manrope"/>
              </a:rPr>
              <a:t>DECISÃO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1938528"/>
            <a:ext cx="1664208" cy="11612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3A3A4A"/>
                </a:solidFill>
                <a:latin typeface="Manrope"/>
              </a:rPr>
              <a:t>Recomendar ao FII uma contraproposta pelo Galpão Atlas?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0495" y="1572768"/>
            <a:ext cx="19202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18511" y="1664208"/>
            <a:ext cx="166420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FF4545"/>
                </a:solidFill>
                <a:latin typeface="Manrope"/>
              </a:rPr>
              <a:t>PERGUNTA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8511" y="1938528"/>
            <a:ext cx="1664208" cy="11612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3A3A4A"/>
                </a:solidFill>
                <a:latin typeface="Manrope"/>
              </a:rPr>
              <a:t>O preço pedido está acima do que os comparáveis da região sustentam?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32350" y="1572768"/>
            <a:ext cx="19202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60366" y="1664208"/>
            <a:ext cx="166420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FF4545"/>
                </a:solidFill>
                <a:latin typeface="Manrope"/>
              </a:rPr>
              <a:t>MÉTRICA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0366" y="1938528"/>
            <a:ext cx="1664208" cy="11612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3A3A4A"/>
                </a:solidFill>
                <a:latin typeface="Manrope"/>
              </a:rPr>
              <a:t>R$/m² e cap rate de vendas de galpões nos eixos Anhanguera e Bandeirantes, últimos 24 meses.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4205" y="1572768"/>
            <a:ext cx="19202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02221" y="1664208"/>
            <a:ext cx="166420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FF4545"/>
                </a:solidFill>
                <a:latin typeface="Manrope"/>
              </a:rPr>
              <a:t>LIMIAR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2221" y="1938528"/>
            <a:ext cx="1664208" cy="11612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3A3A4A"/>
                </a:solidFill>
                <a:latin typeface="Manrope"/>
              </a:rPr>
              <a:t>Mais de 10% acima da mediana: contraproposta.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310128"/>
            <a:ext cx="804672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2E2640"/>
                </a:solidFill>
                <a:latin typeface="Manrope"/>
              </a:rPr>
              <a:t>Base: Comparaveis_Galpoes_IA4B.xlsx, 24 vendas de galpões. Documento sintético, sem nenhum dado real de mercado.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70832"/>
            <a:ext cx="8046720" cy="384048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434840"/>
            <a:ext cx="7772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anrope"/>
              </a:rPr>
              <a:t>Sem decisão escrita, a análise vira descrição. É o Nível 0 do bloco de prompt, agora com número.</a:t>
            </a:r>
          </a:p>
        </p:txBody>
      </p:sp>
      <p:sp>
        <p:nvSpPr>
          <p:cNvPr id="29" name="TAG_CLASSE"/>
          <p:cNvSpPr txBox="1"/>
          <p:nvPr/>
        </p:nvSpPr>
        <p:spPr>
          <a:xfrm>
            <a:off x="7228331" y="256032"/>
            <a:ext cx="653796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EXEMPLO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ATIVIDADE · PLANILHA DE COMPARÁVEIS ·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Três pedidos à IA, e a conta conferida à mão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1508760"/>
            <a:ext cx="2596896" cy="233172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" y="1600200"/>
            <a:ext cx="2322576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>
                <a:solidFill>
                  <a:srgbClr val="FF4545"/>
                </a:solidFill>
                <a:latin typeface="Space Mono"/>
              </a:rPr>
              <a:t>1 · EXPLORAR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874519"/>
            <a:ext cx="2322576" cy="18928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Descreva as colunas desta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tabela, o período coberto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e os campos vazios, duplicados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ou suspeitos. Não calcule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nada ainda.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1508760"/>
            <a:ext cx="2596896" cy="233172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19856" y="1600200"/>
            <a:ext cx="2322576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>
                <a:solidFill>
                  <a:srgbClr val="FF4545"/>
                </a:solidFill>
                <a:latin typeface="Space Mono"/>
              </a:rPr>
              <a:t>2 · AGREGAR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1874519"/>
            <a:ext cx="2322576" cy="18928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Filtre vendas dos eixos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Anhanguera e Bandeirantes,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últimos 24 meses. Tire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duplicata e built-to-suit,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converta ft² e calcule as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medianas de R$/m² e cap rate.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98464" y="1508760"/>
            <a:ext cx="2596896" cy="233172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1600200"/>
            <a:ext cx="2322576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>
                <a:solidFill>
                  <a:srgbClr val="FF4545"/>
                </a:solidFill>
                <a:latin typeface="Space Mono"/>
              </a:rPr>
              <a:t>3 · CONFERIR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1874519"/>
            <a:ext cx="2322576" cy="18928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Mostre a fórmula ou o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filtro que você usou e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as 3 linhas que mais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E0E0E8"/>
                </a:solidFill>
                <a:latin typeface="Space Mono"/>
              </a:rPr>
              <a:t>pesam no resultado.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13632"/>
            <a:ext cx="80467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2E2640"/>
                </a:solidFill>
                <a:latin typeface="Manrope"/>
              </a:rPr>
              <a:t>Gabarito: 17 vendas válidas, mediana de R$ 3.872/m² e cap rate mediano de 8,55% (16 com cap divulgado). Se a ferramenta devolver outro número, achem o filtro que ela aplicou.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89120"/>
            <a:ext cx="8046720" cy="384048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453128"/>
            <a:ext cx="7772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anrope"/>
              </a:rPr>
              <a:t>O pedido 3 é o que torna o número auditável: fórmula, filtro e linha da base à vista.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SIMULAÇÃO DE CENÁRIOS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Peça a conta, rotule a hipótese, ache a premissa que pesa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"Monte 3 cenários de valor: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teaser, base e saída do inquilino.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Use só os achados e a mediana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da planilha. Mostre a conta 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CACED6"/>
                </a:highlight>
                <a:latin typeface="Space Mono"/>
              </a:rPr>
              <a:t>marque cada HIPÓTESE."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CONTA À VISTA </a:t>
            </a:r>
            <a:r>
              <a:rPr sz="1300" b="0">
                <a:solidFill>
                  <a:srgbClr val="3A3A4A"/>
                </a:solidFill>
                <a:latin typeface="Manrope"/>
              </a:rPr>
              <a:t>  dá para refazer na calculadora.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HIPÓTESE ROTULADA </a:t>
            </a:r>
            <a:r>
              <a:rPr sz="1300" b="0">
                <a:solidFill>
                  <a:srgbClr val="3A3A4A"/>
                </a:solidFill>
                <a:latin typeface="Manrope"/>
              </a:rPr>
              <a:t>  separa o que veio do documento do que foi suposto.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FONTE ÚNICA </a:t>
            </a:r>
            <a:r>
              <a:rPr sz="1300" b="0">
                <a:solidFill>
                  <a:srgbClr val="3A3A4A"/>
                </a:solidFill>
                <a:latin typeface="Manrope"/>
              </a:rPr>
              <a:t>  nada entra que não esteja nos anexos.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CACED6"/>
                </a:highlight>
                <a:latin typeface="Manrope"/>
              </a:rPr>
              <a:t> SENSIBILIDADE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premissa que mais pesa vira a pergunta do comitê.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Se a ferramenta usar cap de 8,0% no cenário base, pergunte de onde veio: é o número do vendedor.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ATIVIDADE · RED TEAM DO PARECER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Use a IA como red team do seu parecer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1508760"/>
            <a:ext cx="4434840" cy="27432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" y="1600200"/>
            <a:ext cx="416052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874519"/>
            <a:ext cx="4160520" cy="23042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E0E0E8"/>
                </a:solidFill>
                <a:latin typeface="Space Mono"/>
              </a:rPr>
              <a:t>Atue como red team do parecer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E0E0E8"/>
                </a:solidFill>
                <a:latin typeface="Space Mono"/>
              </a:rPr>
              <a:t>abaixo. Liste as 5 objeções mais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E0E0E8"/>
                </a:solidFill>
                <a:latin typeface="Space Mono"/>
              </a:rPr>
              <a:t>fortes e classifique cada uma: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E0E0E8"/>
                </a:solidFill>
                <a:latin typeface="Space Mono"/>
              </a:rPr>
              <a:t>FONTE (cite o trecho), INFERÊNCIA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E0E0E8"/>
                </a:solidFill>
                <a:latin typeface="Space Mono"/>
              </a:rPr>
              <a:t>ou PERGUNTA SEM RESPOSTA.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E0E0E8"/>
                </a:solidFill>
                <a:latin typeface="Space Mono"/>
              </a:rPr>
              <a:t>Não invente dado. Se faltar, diga.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E0E0E8"/>
                </a:solidFill>
                <a:latin typeface="Space Mono"/>
              </a:rPr>
              <a:t>Parecer: [...]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E0E0E8"/>
                </a:solidFill>
                <a:latin typeface="Space Mono"/>
              </a:rPr>
              <a:t>Evidência: [anexe PDFs e planilha]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508760"/>
            <a:ext cx="35204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FF4545"/>
                </a:solidFill>
                <a:latin typeface="Manrope"/>
              </a:rPr>
              <a:t>COMO LER AS OBJEÇÕES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810512"/>
            <a:ext cx="3520440" cy="2468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66D73"/>
                </a:solidFill>
                <a:latin typeface="Manrope"/>
              </a:rPr>
              <a:t>FONTE  </a:t>
            </a:r>
            <a:r>
              <a:rPr sz="1100" b="0" i="0">
                <a:solidFill>
                  <a:srgbClr val="3A3A4A"/>
                </a:solidFill>
                <a:latin typeface="Manrope"/>
              </a:rPr>
              <a:t>aponta um trecho do dado ou do documento. Entra como evidência.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2E2640"/>
                </a:solidFill>
                <a:latin typeface="Manrope"/>
              </a:rPr>
              <a:t>INFERÊNCIA  </a:t>
            </a:r>
            <a:r>
              <a:rPr sz="1100" b="0" i="0">
                <a:solidFill>
                  <a:srgbClr val="3A3A4A"/>
                </a:solidFill>
                <a:latin typeface="Manrope"/>
              </a:rPr>
              <a:t>é plausível, mas foi deduzida. Entra como hipótese a testar.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FF4545"/>
                </a:solidFill>
                <a:latin typeface="Manrope"/>
              </a:rPr>
              <a:t>PERGUNTA SEM RESPOSTA  </a:t>
            </a:r>
            <a:r>
              <a:rPr sz="1100" b="0" i="0">
                <a:solidFill>
                  <a:srgbClr val="3A3A4A"/>
                </a:solidFill>
                <a:latin typeface="Manrope"/>
              </a:rPr>
              <a:t>vira pedido ao proprietário.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2E2640"/>
                </a:solidFill>
                <a:latin typeface="Manrope"/>
              </a:rPr>
              <a:t>Exemplo: "o preço não se sustenta porque a ABL averbada é de 28.450 m²". Objeção esperada: o inquilino paga por 32.000 m².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89120"/>
            <a:ext cx="8046720" cy="384048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453128"/>
            <a:ext cx="7772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anrope"/>
              </a:rPr>
              <a:t>Objeção sem fonte vira pergunta ao proprietário. O que sobreviver vai ao comitê.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f07a913747_0_1898"/>
          <p:cNvSpPr txBox="1"/>
          <p:nvPr/>
        </p:nvSpPr>
        <p:spPr>
          <a:xfrm>
            <a:off x="2361563" y="2630075"/>
            <a:ext cx="6101400" cy="1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Priorização de 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Projetos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1" name="Google Shape;1551;g3f07a913747_0_1898"/>
          <p:cNvSpPr txBox="1"/>
          <p:nvPr/>
        </p:nvSpPr>
        <p:spPr>
          <a:xfrm>
            <a:off x="3274900" y="3526275"/>
            <a:ext cx="51879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2" name="Google Shape;1552;g3f07a913747_0_1898"/>
          <p:cNvSpPr/>
          <p:nvPr/>
        </p:nvSpPr>
        <p:spPr>
          <a:xfrm>
            <a:off x="5558675" y="361875"/>
            <a:ext cx="4390500" cy="1056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22583" dist="7528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36125" tIns="36125" rIns="36125" bIns="36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3" name="Google Shape;1553;g3f07a913747_0_1898" title="AF_Inteli_Exec_Positiva.png"/>
          <p:cNvPicPr preferRelativeResize="0"/>
          <p:nvPr/>
        </p:nvPicPr>
        <p:blipFill rotWithShape="1">
          <a:blip r:embed="rId3">
            <a:alphaModFix/>
          </a:blip>
          <a:srcRect l="25000" t="24965" r="24556" b="39431"/>
          <a:stretch/>
        </p:blipFill>
        <p:spPr>
          <a:xfrm>
            <a:off x="7644596" y="641313"/>
            <a:ext cx="1373230" cy="54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B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7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CASOS DE REFERÊNCIA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7" name="Google Shape;537;p67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Resultados reportados por Bradesco, Klarna e Merck, cada um em um processo</a:t>
            </a:r>
            <a:endParaRPr/>
          </a:p>
        </p:txBody>
      </p:sp>
      <p:sp>
        <p:nvSpPr>
          <p:cNvPr id="538" name="Google Shape;538;p67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9" name="Google Shape;539;p67"/>
          <p:cNvSpPr/>
          <p:nvPr/>
        </p:nvSpPr>
        <p:spPr>
          <a:xfrm>
            <a:off x="548640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0" name="Google Shape;540;p67"/>
          <p:cNvSpPr/>
          <p:nvPr/>
        </p:nvSpPr>
        <p:spPr>
          <a:xfrm>
            <a:off x="768096" y="1709928"/>
            <a:ext cx="21275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BRADESCO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1" name="Google Shape;541;p67"/>
          <p:cNvSpPr/>
          <p:nvPr/>
        </p:nvSpPr>
        <p:spPr>
          <a:xfrm>
            <a:off x="749808" y="1938528"/>
            <a:ext cx="21457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2900"/>
              <a:buFont typeface="Manrope"/>
              <a:buNone/>
            </a:pPr>
            <a:r>
              <a:rPr lang="en-US" sz="2900" b="1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+118%</a:t>
            </a:r>
            <a:endParaRPr sz="2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2" name="Google Shape;542;p67"/>
          <p:cNvSpPr/>
          <p:nvPr/>
        </p:nvSpPr>
        <p:spPr>
          <a:xfrm>
            <a:off x="768096" y="2596896"/>
            <a:ext cx="2090928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2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em funcionalidades entregues pela TI, de 2023 a 2025, numa transformação que também teve mais desenvolvedores e métodos ágeis.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3" name="Google Shape;543;p67"/>
          <p:cNvSpPr/>
          <p:nvPr/>
        </p:nvSpPr>
        <p:spPr>
          <a:xfrm>
            <a:off x="3316224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4" name="Google Shape;544;p67"/>
          <p:cNvSpPr/>
          <p:nvPr/>
        </p:nvSpPr>
        <p:spPr>
          <a:xfrm>
            <a:off x="3535680" y="1709928"/>
            <a:ext cx="21275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KLARNA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5" name="Google Shape;545;p67"/>
          <p:cNvSpPr/>
          <p:nvPr/>
        </p:nvSpPr>
        <p:spPr>
          <a:xfrm>
            <a:off x="3517392" y="1938528"/>
            <a:ext cx="21457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2900"/>
              <a:buFont typeface="Manrope"/>
              <a:buNone/>
            </a:pPr>
            <a:r>
              <a:rPr lang="en-US" sz="2900" b="1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US$ 40 mi</a:t>
            </a:r>
            <a:endParaRPr sz="2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6" name="Google Shape;546;p67"/>
          <p:cNvSpPr/>
          <p:nvPr/>
        </p:nvSpPr>
        <p:spPr>
          <a:xfrm>
            <a:off x="3535680" y="2596896"/>
            <a:ext cx="2090928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2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de melhoria de lucro estimada pela própria empresa para 2024, com o assistente de IA no atendimento.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7" name="Google Shape;547;p67"/>
          <p:cNvSpPr/>
          <p:nvPr/>
        </p:nvSpPr>
        <p:spPr>
          <a:xfrm>
            <a:off x="6083808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8" name="Google Shape;548;p67"/>
          <p:cNvSpPr/>
          <p:nvPr/>
        </p:nvSpPr>
        <p:spPr>
          <a:xfrm>
            <a:off x="6303264" y="1709928"/>
            <a:ext cx="21275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MERCK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9" name="Google Shape;549;p67"/>
          <p:cNvSpPr/>
          <p:nvPr/>
        </p:nvSpPr>
        <p:spPr>
          <a:xfrm>
            <a:off x="6284976" y="1938528"/>
            <a:ext cx="21457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2900"/>
              <a:buFont typeface="Manrope"/>
              <a:buNone/>
            </a:pPr>
            <a:r>
              <a:rPr lang="en-US" sz="2400" b="1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180 → 80 h</a:t>
            </a:r>
            <a:endParaRPr sz="2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0" name="Google Shape;550;p67"/>
          <p:cNvSpPr/>
          <p:nvPr/>
        </p:nvSpPr>
        <p:spPr>
          <a:xfrm>
            <a:off x="6303264" y="2596896"/>
            <a:ext cx="2090928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2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no primeiro rascunho do relatório de estudo clínico, com 50% menos erros, segundo a empresa.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1" name="Google Shape;551;p67"/>
          <p:cNvSpPr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1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Fontes: Bradesco, resultados 4T25 e NeoFeed, 2026; Klarna, 27/02/2024; Merck, 25/06/2025. Números autodeclarados, sem auditoria independente.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2" name="Google Shape;552;p67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3" name="Google Shape;553;p67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4" name="Google Shape;554;p67" descr="Produtividade Bradesco"/>
          <p:cNvSpPr/>
          <p:nvPr/>
        </p:nvSpPr>
        <p:spPr>
          <a:xfrm>
            <a:off x="2476500" y="1752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5" name="Google Shape;555;p67" descr="Atendimento Klarna"/>
          <p:cNvSpPr/>
          <p:nvPr/>
        </p:nvSpPr>
        <p:spPr>
          <a:xfrm>
            <a:off x="5245100" y="1752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6" name="Google Shape;556;p67" descr="Pesquisa Merck"/>
          <p:cNvSpPr/>
          <p:nvPr/>
        </p:nvSpPr>
        <p:spPr>
          <a:xfrm>
            <a:off x="8013700" y="1752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57" name="Picture 556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558" name="TAG_CLASSE"/>
          <p:cNvSpPr txBox="1"/>
          <p:nvPr/>
        </p:nvSpPr>
        <p:spPr>
          <a:xfrm>
            <a:off x="6295643" y="256032"/>
            <a:ext cx="1586484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RESULTADO REPORTADO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B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POR QUE PROJETOS TRAVAM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0" name="Google Shape;520;p6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Cinco causas recorrentes: negócio e dados pesam mais que o modelo</a:t>
            </a:r>
            <a:endParaRPr/>
          </a:p>
        </p:txBody>
      </p:sp>
      <p:sp>
        <p:nvSpPr>
          <p:cNvPr id="521" name="Google Shape;521;p6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2" name="Google Shape;522;p64"/>
          <p:cNvSpPr/>
          <p:nvPr/>
        </p:nvSpPr>
        <p:spPr>
          <a:xfrm>
            <a:off x="640080" y="448056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950" b="0" i="1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Síntese do instrutor a partir de McKinsey (2025), BCG (2024) e MIT NANDA (2025). A ordem não indica peso.</a:t>
            </a:r>
            <a:endParaRPr sz="9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3" name="Google Shape;523;p6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4" name="Google Shape;524;p6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5" name="Google Shape;525;p64"/>
          <p:cNvSpPr/>
          <p:nvPr/>
        </p:nvSpPr>
        <p:spPr>
          <a:xfrm>
            <a:off x="546100" y="15748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1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Problema de negócio mal definido.</a:t>
            </a:r>
            <a:endParaRPr/>
          </a:p>
        </p:txBody>
      </p:sp>
      <p:sp>
        <p:nvSpPr>
          <p:cNvPr id="526" name="Google Shape;526;p64"/>
          <p:cNvSpPr/>
          <p:nvPr/>
        </p:nvSpPr>
        <p:spPr>
          <a:xfrm>
            <a:off x="546100" y="21590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2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Dados de baixa qualidade ou indisponíveis (governança de dados).</a:t>
            </a:r>
            <a:endParaRPr/>
          </a:p>
        </p:txBody>
      </p:sp>
      <p:sp>
        <p:nvSpPr>
          <p:cNvPr id="527" name="Google Shape;527;p64"/>
          <p:cNvSpPr/>
          <p:nvPr/>
        </p:nvSpPr>
        <p:spPr>
          <a:xfrm>
            <a:off x="546100" y="27432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3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Dificuldade de integração com os sistemas legados.</a:t>
            </a:r>
            <a:endParaRPr/>
          </a:p>
        </p:txBody>
      </p:sp>
      <p:sp>
        <p:nvSpPr>
          <p:cNvPr id="528" name="Google Shape;528;p64"/>
          <p:cNvSpPr/>
          <p:nvPr/>
        </p:nvSpPr>
        <p:spPr>
          <a:xfrm>
            <a:off x="546100" y="33274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4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Sem dono do processo e sem indicador de ROI.</a:t>
            </a:r>
            <a:endParaRPr/>
          </a:p>
        </p:txBody>
      </p:sp>
      <p:sp>
        <p:nvSpPr>
          <p:cNvPr id="529" name="Google Shape;529;p64"/>
          <p:cNvSpPr/>
          <p:nvPr/>
        </p:nvSpPr>
        <p:spPr>
          <a:xfrm>
            <a:off x="546100" y="39116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5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Lacuna de verificação: ninguém confere a saída do agente.</a:t>
            </a:r>
            <a:endParaRPr/>
          </a:p>
        </p:txBody>
      </p:sp>
      <p:pic>
        <p:nvPicPr>
          <p:cNvPr id="530" name="Picture 529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531" name="TAG_CLASSE"/>
          <p:cNvSpPr txBox="1"/>
          <p:nvPr/>
        </p:nvSpPr>
        <p:spPr>
          <a:xfrm>
            <a:off x="7228331" y="256032"/>
            <a:ext cx="653796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SÍNTESE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B"/>
        </a:solidFill>
        <a:effectLst/>
      </p:bgPr>
    </p:bg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47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REGRA 10-20-70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5" name="Google Shape;1485;p47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Heurística 10-20-70: onde as empresas líderes põem o esforço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6" name="Google Shape;1486;p47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7" name="Google Shape;1487;p47"/>
          <p:cNvSpPr/>
          <p:nvPr/>
        </p:nvSpPr>
        <p:spPr>
          <a:xfrm>
            <a:off x="548640" y="1645920"/>
            <a:ext cx="233172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3200"/>
              <a:buFont typeface="Manrope"/>
              <a:buNone/>
            </a:pPr>
            <a:r>
              <a:rPr lang="en-US" sz="3200" b="1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10%</a:t>
            </a:r>
            <a:endParaRPr sz="32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8" name="Google Shape;1488;p47"/>
          <p:cNvSpPr/>
          <p:nvPr/>
        </p:nvSpPr>
        <p:spPr>
          <a:xfrm>
            <a:off x="2926080" y="1773936"/>
            <a:ext cx="27432" cy="603504"/>
          </a:xfrm>
          <a:prstGeom prst="rect">
            <a:avLst/>
          </a:prstGeom>
          <a:solidFill>
            <a:srgbClr val="CACE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9" name="Google Shape;1489;p47"/>
          <p:cNvSpPr/>
          <p:nvPr/>
        </p:nvSpPr>
        <p:spPr>
          <a:xfrm>
            <a:off x="3154680" y="1645920"/>
            <a:ext cx="54864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300"/>
              <a:buFont typeface="Manrope"/>
              <a:buNone/>
            </a:pPr>
            <a:r>
              <a:rPr lang="en-US" sz="13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algoritmo e modelo.</a:t>
            </a:r>
            <a:endParaRPr sz="13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0" name="Google Shape;1490;p47"/>
          <p:cNvSpPr/>
          <p:nvPr/>
        </p:nvSpPr>
        <p:spPr>
          <a:xfrm>
            <a:off x="548640" y="2578608"/>
            <a:ext cx="233172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3200"/>
              <a:buFont typeface="Manrope"/>
              <a:buNone/>
            </a:pPr>
            <a:r>
              <a:rPr lang="en-US" sz="3200" b="1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20%</a:t>
            </a:r>
            <a:endParaRPr sz="32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1" name="Google Shape;1491;p47"/>
          <p:cNvSpPr/>
          <p:nvPr/>
        </p:nvSpPr>
        <p:spPr>
          <a:xfrm>
            <a:off x="2926080" y="2706624"/>
            <a:ext cx="27432" cy="603504"/>
          </a:xfrm>
          <a:prstGeom prst="rect">
            <a:avLst/>
          </a:prstGeom>
          <a:solidFill>
            <a:srgbClr val="CACE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2" name="Google Shape;1492;p47"/>
          <p:cNvSpPr/>
          <p:nvPr/>
        </p:nvSpPr>
        <p:spPr>
          <a:xfrm>
            <a:off x="3154680" y="2578608"/>
            <a:ext cx="54864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300"/>
              <a:buFont typeface="Manrope"/>
              <a:buNone/>
            </a:pPr>
            <a:r>
              <a:rPr lang="en-US" sz="13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tecnologia e dados.</a:t>
            </a:r>
            <a:endParaRPr sz="13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3" name="Google Shape;1493;p47"/>
          <p:cNvSpPr/>
          <p:nvPr/>
        </p:nvSpPr>
        <p:spPr>
          <a:xfrm>
            <a:off x="548640" y="3511296"/>
            <a:ext cx="233172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3200"/>
              <a:buFont typeface="Manrope"/>
              <a:buNone/>
            </a:pPr>
            <a:r>
              <a:rPr lang="en-US" sz="32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70%</a:t>
            </a:r>
            <a:endParaRPr sz="32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4" name="Google Shape;1494;p47"/>
          <p:cNvSpPr/>
          <p:nvPr/>
        </p:nvSpPr>
        <p:spPr>
          <a:xfrm>
            <a:off x="2926080" y="3639312"/>
            <a:ext cx="27432" cy="603504"/>
          </a:xfrm>
          <a:prstGeom prst="rect">
            <a:avLst/>
          </a:prstGeom>
          <a:solidFill>
            <a:srgbClr val="CACE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5" name="Google Shape;1495;p47"/>
          <p:cNvSpPr/>
          <p:nvPr/>
        </p:nvSpPr>
        <p:spPr>
          <a:xfrm>
            <a:off x="3154680" y="3511296"/>
            <a:ext cx="54864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300"/>
              <a:buFont typeface="Manrope"/>
              <a:buNone/>
            </a:pPr>
            <a:r>
              <a:rPr lang="en-US" sz="13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pessoas e processos: adoção, redesenho do fluxo e governança.</a:t>
            </a:r>
            <a:endParaRPr sz="13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6" name="Google Shape;1496;p47"/>
          <p:cNvSpPr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1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Fonte: BCG, Where’s the value in AI?, 24/10/2024. Regra de alocação observada nas empresas que geram valor com IA. Serve de referência para o programa; cada projeto tem a sua proporção.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7" name="Google Shape;1497;p47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8" name="Google Shape;1498;p47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99" name="Picture 1498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500" name="TAG_CLASSE"/>
          <p:cNvSpPr txBox="1"/>
          <p:nvPr/>
        </p:nvSpPr>
        <p:spPr>
          <a:xfrm>
            <a:off x="6995159" y="256032"/>
            <a:ext cx="886968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HEURÍSTICA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9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MÉTODO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2" name="Google Shape;592;p19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Comece pelo processo, não pela ferramenta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4" name="Google Shape;594;p19"/>
          <p:cNvSpPr/>
          <p:nvPr/>
        </p:nvSpPr>
        <p:spPr>
          <a:xfrm>
            <a:off x="658368" y="1693926"/>
            <a:ext cx="457200" cy="457200"/>
          </a:xfrm>
          <a:prstGeom prst="ellipse">
            <a:avLst/>
          </a:prstGeom>
          <a:solidFill>
            <a:srgbClr val="3A3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5" name="Google Shape;595;p19"/>
          <p:cNvSpPr/>
          <p:nvPr/>
        </p:nvSpPr>
        <p:spPr>
          <a:xfrm>
            <a:off x="658368" y="169392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6" name="Google Shape;596;p19"/>
          <p:cNvSpPr/>
          <p:nvPr/>
        </p:nvSpPr>
        <p:spPr>
          <a:xfrm>
            <a:off x="1371600" y="160934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350"/>
              <a:buFont typeface="Manrope"/>
              <a:buNone/>
            </a:pPr>
            <a:r>
              <a:rPr lang="en-US" sz="13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Decisões</a:t>
            </a:r>
            <a:endParaRPr sz="13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7" name="Google Shape;597;p19"/>
          <p:cNvSpPr/>
          <p:nvPr/>
        </p:nvSpPr>
        <p:spPr>
          <a:xfrm>
            <a:off x="1371600" y="1920240"/>
            <a:ext cx="73152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1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Quais decisões se repetem nesse processo?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8" name="Google Shape;598;p19"/>
          <p:cNvSpPr/>
          <p:nvPr/>
        </p:nvSpPr>
        <p:spPr>
          <a:xfrm>
            <a:off x="658368" y="2448306"/>
            <a:ext cx="457200" cy="457200"/>
          </a:xfrm>
          <a:prstGeom prst="ellipse">
            <a:avLst/>
          </a:prstGeom>
          <a:solidFill>
            <a:srgbClr val="3A3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658368" y="244830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1371600" y="236372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350"/>
              <a:buFont typeface="Manrope"/>
              <a:buNone/>
            </a:pPr>
            <a:r>
              <a:rPr lang="en-US" sz="13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Regras e exceções</a:t>
            </a:r>
            <a:endParaRPr sz="13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1" name="Google Shape;601;p19"/>
          <p:cNvSpPr/>
          <p:nvPr/>
        </p:nvSpPr>
        <p:spPr>
          <a:xfrm>
            <a:off x="1371600" y="2674620"/>
            <a:ext cx="73152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1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Quais regras de negócio e quais exceções existem?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658368" y="3202686"/>
            <a:ext cx="457200" cy="457200"/>
          </a:xfrm>
          <a:prstGeom prst="ellipse">
            <a:avLst/>
          </a:prstGeom>
          <a:solidFill>
            <a:srgbClr val="3A3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658368" y="320268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1371600" y="311810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350"/>
              <a:buFont typeface="Manrope"/>
              <a:buNone/>
            </a:pPr>
            <a:r>
              <a:rPr lang="en-US" sz="13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Sistemas e dados</a:t>
            </a:r>
            <a:endParaRPr sz="13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1371600" y="3429000"/>
            <a:ext cx="73152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1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Quais sistemas e quais dados já estão disponíveis?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658368" y="3957066"/>
            <a:ext cx="457200" cy="457200"/>
          </a:xfrm>
          <a:prstGeom prst="ellipse">
            <a:avLst/>
          </a:prstGeom>
          <a:solidFill>
            <a:srgbClr val="3A3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658368" y="395706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1371600" y="387248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350"/>
              <a:buFont typeface="Manrope"/>
              <a:buNone/>
            </a:pPr>
            <a:r>
              <a:rPr lang="en-US" sz="13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Resultado esperado</a:t>
            </a:r>
            <a:endParaRPr sz="13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1371600" y="4183380"/>
            <a:ext cx="73152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1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O que caracteriza um bom resultado ao final?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0" name="Google Shape;610;p19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12" name="Picture 6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613" name="TextBox 612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2E2640"/>
                </a:solidFill>
                <a:latin typeface="Manrope"/>
              </a:rPr>
              <a:t>Para cada etapa, tragam evidência: tempo, volume, erro, retrabalho e impacto.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1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ATIVIDADE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1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Escolha o processo que vai atravessar o dia todo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1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1"/>
          <p:cNvSpPr/>
          <p:nvPr/>
        </p:nvSpPr>
        <p:spPr>
          <a:xfrm>
            <a:off x="548640" y="43180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200"/>
              <a:buFont typeface="Manrope"/>
              <a:buNone/>
            </a:pPr>
            <a:r>
              <a:rPr lang="en-US" sz="1200" b="0" i="1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Esse processo será a base do prompt, da priorização e do protótipo da tarde.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1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1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3" name="Google Shape;873;p21"/>
          <p:cNvSpPr txBox="1"/>
          <p:nvPr/>
        </p:nvSpPr>
        <p:spPr>
          <a:xfrm>
            <a:off x="546100" y="1473200"/>
            <a:ext cx="80518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Cada grupo escolhe um processo real da sua área e preenche os seis campos:</a:t>
            </a:r>
            <a:endParaRPr/>
          </a:p>
        </p:txBody>
      </p:sp>
      <p:sp>
        <p:nvSpPr>
          <p:cNvPr id="874" name="Google Shape;874;p21"/>
          <p:cNvSpPr/>
          <p:nvPr/>
        </p:nvSpPr>
        <p:spPr>
          <a:xfrm>
            <a:off x="54610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PROCESSO</a:t>
            </a:r>
            <a:endParaRPr/>
          </a:p>
        </p:txBody>
      </p:sp>
      <p:sp>
        <p:nvSpPr>
          <p:cNvPr id="875" name="Google Shape;875;p21"/>
          <p:cNvSpPr/>
          <p:nvPr/>
        </p:nvSpPr>
        <p:spPr>
          <a:xfrm>
            <a:off x="327025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DOR</a:t>
            </a:r>
            <a:endParaRPr/>
          </a:p>
        </p:txBody>
      </p:sp>
      <p:sp>
        <p:nvSpPr>
          <p:cNvPr id="876" name="Google Shape;876;p21"/>
          <p:cNvSpPr/>
          <p:nvPr/>
        </p:nvSpPr>
        <p:spPr>
          <a:xfrm>
            <a:off x="599440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DECISÃO QUE SE REPETE</a:t>
            </a:r>
            <a:endParaRPr/>
          </a:p>
        </p:txBody>
      </p:sp>
      <p:sp>
        <p:nvSpPr>
          <p:cNvPr id="877" name="Google Shape;877;p21"/>
          <p:cNvSpPr/>
          <p:nvPr/>
        </p:nvSpPr>
        <p:spPr>
          <a:xfrm>
            <a:off x="54610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DADOS QUE EXISTEM</a:t>
            </a:r>
            <a:endParaRPr/>
          </a:p>
        </p:txBody>
      </p:sp>
      <p:sp>
        <p:nvSpPr>
          <p:cNvPr id="878" name="Google Shape;878;p21"/>
          <p:cNvSpPr/>
          <p:nvPr/>
        </p:nvSpPr>
        <p:spPr>
          <a:xfrm>
            <a:off x="327025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RECURSO ÚNICO QUE ELE TOCA</a:t>
            </a:r>
            <a:endParaRPr/>
          </a:p>
        </p:txBody>
      </p:sp>
      <p:sp>
        <p:nvSpPr>
          <p:cNvPr id="879" name="Google Shape;879;p21"/>
          <p:cNvSpPr/>
          <p:nvPr/>
        </p:nvSpPr>
        <p:spPr>
          <a:xfrm>
            <a:off x="599440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RESULTADO ESPERADO</a:t>
            </a:r>
            <a:endParaRPr/>
          </a:p>
        </p:txBody>
      </p:sp>
      <p:pic>
        <p:nvPicPr>
          <p:cNvPr id="880" name="Picture 87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ATIVIDADE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Dois prompts para mapear o seu processo no Copilot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950" y="1250000"/>
            <a:ext cx="4020000" cy="305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62050" y="1250000"/>
            <a:ext cx="4020000" cy="305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1950" y="1470000"/>
            <a:ext cx="354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4545"/>
                </a:solidFill>
                <a:latin typeface="Space Mono"/>
              </a:rPr>
              <a:t>PASSO 1 · STEP-BACK · 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2050" y="1470000"/>
            <a:ext cx="354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4545"/>
                </a:solidFill>
                <a:latin typeface="Space Mono"/>
              </a:rPr>
              <a:t>PASSO 2 · DECOMPOSIÇÃO · 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50" y="1870000"/>
            <a:ext cx="3540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00">
                <a:solidFill>
                  <a:srgbClr val="B2B6BF"/>
                </a:solidFill>
                <a:latin typeface="Manrope"/>
              </a:rPr>
              <a:t>Cole no Copilot, trocando o que está entre colchetes: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0E0E8"/>
                </a:solidFill>
                <a:latin typeface="Space Mono"/>
              </a:rPr>
              <a:t>"Antes de sugerir qualquer solução, reformule o problema abaixo como uma pergunta de negócio e liste as três decisões que mais se repetem nele. Não proponha tecnologia ainda. Problema: </a:t>
            </a:r>
            <a:r>
              <a:rPr sz="110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[descreva o seu processo em cinco linhas]</a:t>
            </a:r>
            <a:r>
              <a:rPr sz="1100">
                <a:solidFill>
                  <a:srgbClr val="E0E0E8"/>
                </a:solidFill>
                <a:latin typeface="Space Mono"/>
              </a:rPr>
              <a:t>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2050" y="1870000"/>
            <a:ext cx="3540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00">
                <a:solidFill>
                  <a:srgbClr val="B2B6BF"/>
                </a:solidFill>
                <a:latin typeface="Manrope"/>
              </a:rPr>
              <a:t>Depois, na mesma conversa: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0E0E8"/>
                </a:solidFill>
                <a:latin typeface="Space Mono"/>
              </a:rPr>
              <a:t>"Agora quebre esse processo em etapas. Para cada etapa devolva uma linha de tabela com etapa, entrada, saída, regra de negócio e exceção conhecida. Marque com </a:t>
            </a:r>
            <a:r>
              <a:rPr sz="110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(?)</a:t>
            </a:r>
            <a:r>
              <a:rPr sz="1100">
                <a:solidFill>
                  <a:srgbClr val="E0E0E8"/>
                </a:solidFill>
                <a:latin typeface="Space Mono"/>
              </a:rPr>
              <a:t> toda etapa que você inferiu. Não invente decisões: se faltar evidência, escreva DADO FALTANTE e a pergunta para o dono do processo."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" y="4370832"/>
            <a:ext cx="84201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2640"/>
                </a:solidFill>
                <a:latin typeface="Manrope"/>
              </a:rPr>
              <a:t>O (?) é o ponto da atividade. O Copilot não conhece o fluxo de vocês e vai preencher buraco. Riscar o que ele inventou é o trabalho.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880" name="Picture 87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1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ATIVIDADE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8" name="Google Shape;868;p21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O que sai do Copilot, e o que você corta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9" name="Google Shape;869;p21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0" name="Google Shape;870;p21"/>
          <p:cNvSpPr/>
          <p:nvPr/>
        </p:nvSpPr>
        <p:spPr>
          <a:xfrm>
            <a:off x="548640" y="43180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200"/>
              <a:buFont typeface="Manrope"/>
              <a:buNone/>
            </a:pPr>
            <a:r>
              <a:rPr lang="en-US" sz="1200" b="0" i="1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 última coluna é a mais importante: vira o teste do prompt da tarde. Para priorizar, anotem também impacto, risco, reversibilidade e evidência atual.</a:t>
            </a:r>
            <a:endParaRPr sz="12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1" name="Google Shape;871;p21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2" name="Google Shape;872;p21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3" name="Google Shape;873;p21"/>
          <p:cNvSpPr txBox="1"/>
          <p:nvPr/>
        </p:nvSpPr>
        <p:spPr>
          <a:xfrm>
            <a:off x="546100" y="1473200"/>
            <a:ext cx="80518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Traga a tabela do passo 2 para esta ficha. Só entra a linha que você confirma.</a:t>
            </a:r>
            <a:endParaRPr/>
          </a:p>
        </p:txBody>
      </p:sp>
      <p:sp>
        <p:nvSpPr>
          <p:cNvPr id="874" name="Google Shape;874;p21"/>
          <p:cNvSpPr/>
          <p:nvPr/>
        </p:nvSpPr>
        <p:spPr>
          <a:xfrm>
            <a:off x="54610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ETAPA</a:t>
            </a:r>
            <a:endParaRPr/>
          </a:p>
        </p:txBody>
      </p:sp>
      <p:sp>
        <p:nvSpPr>
          <p:cNvPr id="875" name="Google Shape;875;p21"/>
          <p:cNvSpPr/>
          <p:nvPr/>
        </p:nvSpPr>
        <p:spPr>
          <a:xfrm>
            <a:off x="327025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ENTRADA</a:t>
            </a:r>
            <a:endParaRPr/>
          </a:p>
        </p:txBody>
      </p:sp>
      <p:sp>
        <p:nvSpPr>
          <p:cNvPr id="876" name="Google Shape;876;p21"/>
          <p:cNvSpPr/>
          <p:nvPr/>
        </p:nvSpPr>
        <p:spPr>
          <a:xfrm>
            <a:off x="599440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SAÍDA</a:t>
            </a:r>
            <a:endParaRPr/>
          </a:p>
        </p:txBody>
      </p:sp>
      <p:sp>
        <p:nvSpPr>
          <p:cNvPr id="877" name="Google Shape;877;p21"/>
          <p:cNvSpPr/>
          <p:nvPr/>
        </p:nvSpPr>
        <p:spPr>
          <a:xfrm>
            <a:off x="54610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REGRA DE NEGÓCIO</a:t>
            </a:r>
            <a:endParaRPr/>
          </a:p>
        </p:txBody>
      </p:sp>
      <p:sp>
        <p:nvSpPr>
          <p:cNvPr id="878" name="Google Shape;878;p21"/>
          <p:cNvSpPr/>
          <p:nvPr/>
        </p:nvSpPr>
        <p:spPr>
          <a:xfrm>
            <a:off x="327025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EXCEÇÃO CONHECIDA</a:t>
            </a:r>
            <a:endParaRPr/>
          </a:p>
        </p:txBody>
      </p:sp>
      <p:sp>
        <p:nvSpPr>
          <p:cNvPr id="879" name="Google Shape;879;p21"/>
          <p:cNvSpPr/>
          <p:nvPr/>
        </p:nvSpPr>
        <p:spPr>
          <a:xfrm>
            <a:off x="599440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O QUE ELE INVENTOU</a:t>
            </a:r>
            <a:endParaRPr/>
          </a:p>
        </p:txBody>
      </p:sp>
      <p:pic>
        <p:nvPicPr>
          <p:cNvPr id="880" name="Picture 87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8"/>
          <p:cNvSpPr/>
          <p:nvPr/>
        </p:nvSpPr>
        <p:spPr>
          <a:xfrm>
            <a:off x="2757813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3" name="Google Shape;803;p78"/>
          <p:cNvSpPr/>
          <p:nvPr/>
        </p:nvSpPr>
        <p:spPr>
          <a:xfrm>
            <a:off x="3777024" y="2052413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4" name="Google Shape;804;p78"/>
          <p:cNvSpPr txBox="1"/>
          <p:nvPr/>
        </p:nvSpPr>
        <p:spPr>
          <a:xfrm>
            <a:off x="408975" y="309825"/>
            <a:ext cx="749807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17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As características de cada "fatia" nos levam às tecnologias certas</a:t>
            </a:r>
            <a:endParaRPr sz="19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5" name="Google Shape;805;p78"/>
          <p:cNvSpPr/>
          <p:nvPr/>
        </p:nvSpPr>
        <p:spPr>
          <a:xfrm>
            <a:off x="-237525" y="1644800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Carga de Repetição &amp; 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Frequência 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6" name="Google Shape;806;p78"/>
          <p:cNvSpPr txBox="1"/>
          <p:nvPr/>
        </p:nvSpPr>
        <p:spPr>
          <a:xfrm>
            <a:off x="341373" y="1397980"/>
            <a:ext cx="2007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5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Caracterizadores</a:t>
            </a:r>
            <a:endParaRPr sz="10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7" name="Google Shape;807;p78"/>
          <p:cNvSpPr/>
          <p:nvPr/>
        </p:nvSpPr>
        <p:spPr>
          <a:xfrm>
            <a:off x="-237525" y="2124343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Eficiência &amp; 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Velocidade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8" name="Google Shape;808;p78"/>
          <p:cNvSpPr/>
          <p:nvPr/>
        </p:nvSpPr>
        <p:spPr>
          <a:xfrm>
            <a:off x="-237525" y="3071628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Necessidade de Integração 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Sistêmica &amp; Automação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9" name="Google Shape;809;p78"/>
          <p:cNvSpPr/>
          <p:nvPr/>
        </p:nvSpPr>
        <p:spPr>
          <a:xfrm>
            <a:off x="-237525" y="3543271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Necessidade de Adaptação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&amp; Especialização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0" name="Google Shape;810;p78"/>
          <p:cNvSpPr/>
          <p:nvPr/>
        </p:nvSpPr>
        <p:spPr>
          <a:xfrm>
            <a:off x="-237525" y="4016601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Uso de Linguagem Natural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1" name="Google Shape;811;p78"/>
          <p:cNvSpPr/>
          <p:nvPr/>
        </p:nvSpPr>
        <p:spPr>
          <a:xfrm>
            <a:off x="2757813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Manual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2" name="Google Shape;812;p78"/>
          <p:cNvSpPr/>
          <p:nvPr/>
        </p:nvSpPr>
        <p:spPr>
          <a:xfrm>
            <a:off x="3648249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Excel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3" name="Google Shape;813;p78"/>
          <p:cNvSpPr/>
          <p:nvPr/>
        </p:nvSpPr>
        <p:spPr>
          <a:xfrm>
            <a:off x="4538692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Sistema / Ferramenta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4" name="Google Shape;814;p78"/>
          <p:cNvSpPr/>
          <p:nvPr/>
        </p:nvSpPr>
        <p:spPr>
          <a:xfrm>
            <a:off x="5429304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RPA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5" name="Google Shape;815;p78"/>
          <p:cNvSpPr/>
          <p:nvPr/>
        </p:nvSpPr>
        <p:spPr>
          <a:xfrm>
            <a:off x="6319574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IA Clássica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6" name="Google Shape;816;p78"/>
          <p:cNvSpPr/>
          <p:nvPr/>
        </p:nvSpPr>
        <p:spPr>
          <a:xfrm>
            <a:off x="7205599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LLM / IA generativa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7" name="Google Shape;817;p78"/>
          <p:cNvSpPr/>
          <p:nvPr/>
        </p:nvSpPr>
        <p:spPr>
          <a:xfrm>
            <a:off x="8086887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Agente de IA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8" name="Google Shape;818;p78"/>
          <p:cNvSpPr txBox="1"/>
          <p:nvPr/>
        </p:nvSpPr>
        <p:spPr>
          <a:xfrm>
            <a:off x="2757810" y="905511"/>
            <a:ext cx="2007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5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Tecnologias</a:t>
            </a:r>
            <a:endParaRPr sz="10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9" name="Google Shape;819;p78"/>
          <p:cNvSpPr/>
          <p:nvPr/>
        </p:nvSpPr>
        <p:spPr>
          <a:xfrm>
            <a:off x="-237525" y="2598573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Complexidade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0" name="Google Shape;820;p78"/>
          <p:cNvSpPr/>
          <p:nvPr/>
        </p:nvSpPr>
        <p:spPr>
          <a:xfrm>
            <a:off x="2757813" y="33424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1" name="Google Shape;821;p78"/>
          <p:cNvSpPr/>
          <p:nvPr/>
        </p:nvSpPr>
        <p:spPr>
          <a:xfrm>
            <a:off x="2757813" y="3815819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2" name="Google Shape;822;p78"/>
          <p:cNvSpPr/>
          <p:nvPr/>
        </p:nvSpPr>
        <p:spPr>
          <a:xfrm>
            <a:off x="2990163" y="1676438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3" name="Google Shape;823;p78"/>
          <p:cNvSpPr/>
          <p:nvPr/>
        </p:nvSpPr>
        <p:spPr>
          <a:xfrm>
            <a:off x="2990163" y="2155988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4" name="Google Shape;824;p78"/>
          <p:cNvSpPr/>
          <p:nvPr/>
        </p:nvSpPr>
        <p:spPr>
          <a:xfrm>
            <a:off x="2990163" y="3103269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5" name="Google Shape;825;p78"/>
          <p:cNvSpPr/>
          <p:nvPr/>
        </p:nvSpPr>
        <p:spPr>
          <a:xfrm>
            <a:off x="3880599" y="1676438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6" name="Google Shape;826;p78"/>
          <p:cNvSpPr/>
          <p:nvPr/>
        </p:nvSpPr>
        <p:spPr>
          <a:xfrm>
            <a:off x="3777024" y="2526638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7" name="Google Shape;827;p78"/>
          <p:cNvSpPr/>
          <p:nvPr/>
        </p:nvSpPr>
        <p:spPr>
          <a:xfrm>
            <a:off x="3880599" y="3103269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8" name="Google Shape;828;p78"/>
          <p:cNvSpPr/>
          <p:nvPr/>
        </p:nvSpPr>
        <p:spPr>
          <a:xfrm>
            <a:off x="3777024" y="3471338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9" name="Google Shape;829;p78"/>
          <p:cNvSpPr/>
          <p:nvPr/>
        </p:nvSpPr>
        <p:spPr>
          <a:xfrm>
            <a:off x="3777024" y="3944669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0" name="Google Shape;830;p78"/>
          <p:cNvSpPr/>
          <p:nvPr/>
        </p:nvSpPr>
        <p:spPr>
          <a:xfrm>
            <a:off x="4667467" y="1572863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1" name="Google Shape;831;p78"/>
          <p:cNvSpPr/>
          <p:nvPr/>
        </p:nvSpPr>
        <p:spPr>
          <a:xfrm>
            <a:off x="4667467" y="2062975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2" name="Google Shape;832;p78"/>
          <p:cNvSpPr/>
          <p:nvPr/>
        </p:nvSpPr>
        <p:spPr>
          <a:xfrm>
            <a:off x="4538692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3" name="Google Shape;833;p78"/>
          <p:cNvSpPr/>
          <p:nvPr/>
        </p:nvSpPr>
        <p:spPr>
          <a:xfrm>
            <a:off x="4667467" y="2999694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4" name="Google Shape;834;p78"/>
          <p:cNvSpPr/>
          <p:nvPr/>
        </p:nvSpPr>
        <p:spPr>
          <a:xfrm>
            <a:off x="4538692" y="33424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5" name="Google Shape;835;p78"/>
          <p:cNvSpPr/>
          <p:nvPr/>
        </p:nvSpPr>
        <p:spPr>
          <a:xfrm>
            <a:off x="4667467" y="3944669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6" name="Google Shape;836;p78"/>
          <p:cNvSpPr/>
          <p:nvPr/>
        </p:nvSpPr>
        <p:spPr>
          <a:xfrm>
            <a:off x="5429304" y="1444013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7" name="Google Shape;837;p78"/>
          <p:cNvSpPr/>
          <p:nvPr/>
        </p:nvSpPr>
        <p:spPr>
          <a:xfrm>
            <a:off x="5429304" y="1934125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8" name="Google Shape;838;p78"/>
          <p:cNvSpPr/>
          <p:nvPr/>
        </p:nvSpPr>
        <p:spPr>
          <a:xfrm>
            <a:off x="5429304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9" name="Google Shape;839;p78"/>
          <p:cNvSpPr/>
          <p:nvPr/>
        </p:nvSpPr>
        <p:spPr>
          <a:xfrm>
            <a:off x="5429304" y="2870844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0" name="Google Shape;840;p78"/>
          <p:cNvSpPr/>
          <p:nvPr/>
        </p:nvSpPr>
        <p:spPr>
          <a:xfrm>
            <a:off x="5661654" y="3574913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1" name="Google Shape;841;p78"/>
          <p:cNvSpPr/>
          <p:nvPr/>
        </p:nvSpPr>
        <p:spPr>
          <a:xfrm>
            <a:off x="5661654" y="4048244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2" name="Google Shape;842;p78"/>
          <p:cNvSpPr/>
          <p:nvPr/>
        </p:nvSpPr>
        <p:spPr>
          <a:xfrm>
            <a:off x="6319574" y="1444013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3" name="Google Shape;843;p78"/>
          <p:cNvSpPr/>
          <p:nvPr/>
        </p:nvSpPr>
        <p:spPr>
          <a:xfrm>
            <a:off x="6319574" y="1919025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4" name="Google Shape;844;p78"/>
          <p:cNvSpPr/>
          <p:nvPr/>
        </p:nvSpPr>
        <p:spPr>
          <a:xfrm>
            <a:off x="6319574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5" name="Google Shape;845;p78"/>
          <p:cNvSpPr/>
          <p:nvPr/>
        </p:nvSpPr>
        <p:spPr>
          <a:xfrm>
            <a:off x="6448349" y="2999694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6" name="Google Shape;846;p78"/>
          <p:cNvSpPr/>
          <p:nvPr/>
        </p:nvSpPr>
        <p:spPr>
          <a:xfrm>
            <a:off x="6448349" y="3471338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7" name="Google Shape;847;p78"/>
          <p:cNvSpPr/>
          <p:nvPr/>
        </p:nvSpPr>
        <p:spPr>
          <a:xfrm>
            <a:off x="6448349" y="3944669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8" name="Google Shape;848;p78"/>
          <p:cNvSpPr/>
          <p:nvPr/>
        </p:nvSpPr>
        <p:spPr>
          <a:xfrm>
            <a:off x="7334374" y="1572863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9" name="Google Shape;849;p78"/>
          <p:cNvSpPr/>
          <p:nvPr/>
        </p:nvSpPr>
        <p:spPr>
          <a:xfrm>
            <a:off x="7334374" y="1992825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0" name="Google Shape;850;p78"/>
          <p:cNvSpPr/>
          <p:nvPr/>
        </p:nvSpPr>
        <p:spPr>
          <a:xfrm>
            <a:off x="7334374" y="2526638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1" name="Google Shape;851;p78"/>
          <p:cNvSpPr/>
          <p:nvPr/>
        </p:nvSpPr>
        <p:spPr>
          <a:xfrm>
            <a:off x="7334374" y="2999694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2" name="Google Shape;852;p78"/>
          <p:cNvSpPr/>
          <p:nvPr/>
        </p:nvSpPr>
        <p:spPr>
          <a:xfrm>
            <a:off x="7205599" y="33424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3" name="Google Shape;853;p78"/>
          <p:cNvSpPr/>
          <p:nvPr/>
        </p:nvSpPr>
        <p:spPr>
          <a:xfrm>
            <a:off x="7205599" y="3815819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4" name="Google Shape;854;p78"/>
          <p:cNvSpPr/>
          <p:nvPr/>
        </p:nvSpPr>
        <p:spPr>
          <a:xfrm>
            <a:off x="8086887" y="33424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5" name="Google Shape;855;p78"/>
          <p:cNvSpPr/>
          <p:nvPr/>
        </p:nvSpPr>
        <p:spPr>
          <a:xfrm>
            <a:off x="8086887" y="3815819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6" name="Google Shape;856;p78"/>
          <p:cNvSpPr/>
          <p:nvPr/>
        </p:nvSpPr>
        <p:spPr>
          <a:xfrm>
            <a:off x="8086887" y="2870844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7" name="Google Shape;857;p78"/>
          <p:cNvSpPr/>
          <p:nvPr/>
        </p:nvSpPr>
        <p:spPr>
          <a:xfrm>
            <a:off x="8086887" y="1444013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8" name="Google Shape;858;p78"/>
          <p:cNvSpPr/>
          <p:nvPr/>
        </p:nvSpPr>
        <p:spPr>
          <a:xfrm>
            <a:off x="8086887" y="1934125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9" name="Google Shape;859;p78"/>
          <p:cNvSpPr/>
          <p:nvPr/>
        </p:nvSpPr>
        <p:spPr>
          <a:xfrm>
            <a:off x="8086887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60" name="Picture 85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861" name="TextBox 860"/>
          <p:cNvSpPr txBox="1"/>
          <p:nvPr/>
        </p:nvSpPr>
        <p:spPr>
          <a:xfrm>
            <a:off x="365760" y="4617720"/>
            <a:ext cx="6858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757575"/>
                </a:solidFill>
                <a:latin typeface="Manrope"/>
              </a:rPr>
              <a:t>Tamanho da bolha: aderência da tecnologia à característica, avaliação ilustrativa do instrutor.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51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MATRIZ VALOR X VIABILIDADE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51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Comece onde a IA entrega mais valor com menos esforço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51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51"/>
          <p:cNvSpPr/>
          <p:nvPr/>
        </p:nvSpPr>
        <p:spPr>
          <a:xfrm>
            <a:off x="1865376" y="1636776"/>
            <a:ext cx="3218688" cy="1367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51"/>
          <p:cNvSpPr/>
          <p:nvPr/>
        </p:nvSpPr>
        <p:spPr>
          <a:xfrm>
            <a:off x="1865376" y="1636776"/>
            <a:ext cx="3218688" cy="25603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51"/>
          <p:cNvSpPr/>
          <p:nvPr/>
        </p:nvSpPr>
        <p:spPr>
          <a:xfrm>
            <a:off x="1956816" y="164592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QUICK WINS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51"/>
          <p:cNvSpPr/>
          <p:nvPr/>
        </p:nvSpPr>
        <p:spPr>
          <a:xfrm>
            <a:off x="1956816" y="1947672"/>
            <a:ext cx="3035808" cy="9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Implementar primeiro. Ex.: resumo automático de reclamações de clientes.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51"/>
          <p:cNvSpPr/>
          <p:nvPr/>
        </p:nvSpPr>
        <p:spPr>
          <a:xfrm>
            <a:off x="5157216" y="1636776"/>
            <a:ext cx="3218688" cy="1367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51"/>
          <p:cNvSpPr/>
          <p:nvPr/>
        </p:nvSpPr>
        <p:spPr>
          <a:xfrm>
            <a:off x="5157216" y="1636776"/>
            <a:ext cx="3218688" cy="256032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51"/>
          <p:cNvSpPr/>
          <p:nvPr/>
        </p:nvSpPr>
        <p:spPr>
          <a:xfrm>
            <a:off x="5248656" y="164592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MOON SHOTS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51"/>
          <p:cNvSpPr/>
          <p:nvPr/>
        </p:nvSpPr>
        <p:spPr>
          <a:xfrm>
            <a:off x="5248656" y="1947672"/>
            <a:ext cx="3035808" cy="9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Planejar 12 a 24 meses. Ex.: previsão de demanda ponta a ponta.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51"/>
          <p:cNvSpPr/>
          <p:nvPr/>
        </p:nvSpPr>
        <p:spPr>
          <a:xfrm>
            <a:off x="1865376" y="3076956"/>
            <a:ext cx="3218688" cy="1367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51"/>
          <p:cNvSpPr/>
          <p:nvPr/>
        </p:nvSpPr>
        <p:spPr>
          <a:xfrm>
            <a:off x="1865376" y="3076956"/>
            <a:ext cx="3218688" cy="256032"/>
          </a:xfrm>
          <a:prstGeom prst="rect">
            <a:avLst/>
          </a:prstGeom>
          <a:solidFill>
            <a:srgbClr val="CACE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51"/>
          <p:cNvSpPr/>
          <p:nvPr/>
        </p:nvSpPr>
        <p:spPr>
          <a:xfrm>
            <a:off x="1956816" y="308610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14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FILL-INS</a:t>
            </a:r>
            <a:endParaRPr sz="1400" b="0" i="0" u="none" strike="noStrike" cap="none">
              <a:solidFill>
                <a:srgbClr val="2E26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51"/>
          <p:cNvSpPr/>
          <p:nvPr/>
        </p:nvSpPr>
        <p:spPr>
          <a:xfrm>
            <a:off x="1956816" y="3387852"/>
            <a:ext cx="3035808" cy="9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Fazer se sobrar capacidade do time.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51"/>
          <p:cNvSpPr/>
          <p:nvPr/>
        </p:nvSpPr>
        <p:spPr>
          <a:xfrm>
            <a:off x="5157216" y="3076956"/>
            <a:ext cx="3218688" cy="1367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51"/>
          <p:cNvSpPr/>
          <p:nvPr/>
        </p:nvSpPr>
        <p:spPr>
          <a:xfrm>
            <a:off x="5157216" y="3076956"/>
            <a:ext cx="3218688" cy="256032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51"/>
          <p:cNvSpPr/>
          <p:nvPr/>
        </p:nvSpPr>
        <p:spPr>
          <a:xfrm>
            <a:off x="5248656" y="308610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AVOID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51"/>
          <p:cNvSpPr/>
          <p:nvPr/>
        </p:nvSpPr>
        <p:spPr>
          <a:xfrm>
            <a:off x="5248656" y="3387852"/>
            <a:ext cx="3035808" cy="9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Não priorizar agora. Reavaliar quando houver dados.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51"/>
          <p:cNvSpPr/>
          <p:nvPr/>
        </p:nvSpPr>
        <p:spPr>
          <a:xfrm>
            <a:off x="685800" y="155448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ALTO</a:t>
            </a:r>
            <a:endParaRPr sz="1400" b="0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51"/>
          <p:cNvSpPr/>
          <p:nvPr/>
        </p:nvSpPr>
        <p:spPr>
          <a:xfrm>
            <a:off x="685800" y="422452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BAIXO</a:t>
            </a:r>
            <a:endParaRPr sz="1400" b="0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51"/>
          <p:cNvSpPr/>
          <p:nvPr/>
        </p:nvSpPr>
        <p:spPr>
          <a:xfrm rot="-5400000">
            <a:off x="182880" y="29032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IMPACTO NO NEGÓCIO</a:t>
            </a:r>
            <a:endParaRPr sz="1400" b="1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51"/>
          <p:cNvSpPr/>
          <p:nvPr/>
        </p:nvSpPr>
        <p:spPr>
          <a:xfrm>
            <a:off x="1828800" y="45262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BAIXO</a:t>
            </a:r>
            <a:endParaRPr sz="1400" b="0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51"/>
          <p:cNvSpPr/>
          <p:nvPr/>
        </p:nvSpPr>
        <p:spPr>
          <a:xfrm>
            <a:off x="5120640" y="45262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ALTO</a:t>
            </a:r>
            <a:endParaRPr sz="1400" b="0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51"/>
          <p:cNvSpPr/>
          <p:nvPr/>
        </p:nvSpPr>
        <p:spPr>
          <a:xfrm>
            <a:off x="1828800" y="4773168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ESFORÇO DE IMPLEMENTAÇÃO</a:t>
            </a:r>
            <a:endParaRPr sz="1400" b="1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51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51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87" name="Google Shape;1587;p51"/>
          <p:cNvSpPr/>
          <p:nvPr/>
        </p:nvSpPr>
        <p:spPr>
          <a:xfrm>
            <a:off x="1778000" y="1676400"/>
            <a:ext cx="19050" cy="2768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51"/>
          <p:cNvSpPr/>
          <p:nvPr/>
        </p:nvSpPr>
        <p:spPr>
          <a:xfrm>
            <a:off x="1708150" y="1536700"/>
            <a:ext cx="165100" cy="139700"/>
          </a:xfrm>
          <a:prstGeom prst="triangle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51"/>
          <p:cNvSpPr/>
          <p:nvPr/>
        </p:nvSpPr>
        <p:spPr>
          <a:xfrm>
            <a:off x="1866900" y="4470400"/>
            <a:ext cx="6502400" cy="1905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51"/>
          <p:cNvSpPr/>
          <p:nvPr/>
        </p:nvSpPr>
        <p:spPr>
          <a:xfrm rot="5400000">
            <a:off x="8356600" y="4410075"/>
            <a:ext cx="165100" cy="139700"/>
          </a:xfrm>
          <a:prstGeom prst="triangle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1" name="Picture 1590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00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FRAMEWORK RICE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100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RICE: um número comparável para priorizar projetos</a:t>
            </a:r>
            <a:endParaRPr/>
          </a:p>
        </p:txBody>
      </p:sp>
      <p:sp>
        <p:nvSpPr>
          <p:cNvPr id="1599" name="Google Shape;1599;p100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100"/>
          <p:cNvSpPr/>
          <p:nvPr/>
        </p:nvSpPr>
        <p:spPr>
          <a:xfrm>
            <a:off x="548640" y="1481328"/>
            <a:ext cx="8046720" cy="548640"/>
          </a:xfrm>
          <a:prstGeom prst="rect">
            <a:avLst/>
          </a:prstGeom>
          <a:solidFill>
            <a:srgbClr val="EEF1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100"/>
          <p:cNvSpPr/>
          <p:nvPr/>
        </p:nvSpPr>
        <p:spPr>
          <a:xfrm>
            <a:off x="548640" y="148132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RICE  =  </a:t>
            </a:r>
            <a:r>
              <a:rPr lang="en-US" sz="1600" b="1" i="0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( Alcance × Impacto × Confiança )</a:t>
            </a: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  /  </a:t>
            </a:r>
            <a:r>
              <a:rPr lang="en-US" sz="16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Esforço</a:t>
            </a:r>
            <a:endParaRPr/>
          </a:p>
        </p:txBody>
      </p:sp>
      <p:sp>
        <p:nvSpPr>
          <p:cNvPr id="1602" name="Google Shape;1602;p100"/>
          <p:cNvSpPr/>
          <p:nvPr/>
        </p:nvSpPr>
        <p:spPr>
          <a:xfrm>
            <a:off x="548640" y="2286000"/>
            <a:ext cx="192024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100"/>
          <p:cNvSpPr/>
          <p:nvPr/>
        </p:nvSpPr>
        <p:spPr>
          <a:xfrm>
            <a:off x="548640" y="2286000"/>
            <a:ext cx="1920240" cy="310896"/>
          </a:xfrm>
          <a:prstGeom prst="rect">
            <a:avLst/>
          </a:prstGeom>
          <a:solidFill>
            <a:srgbClr val="3A33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100"/>
          <p:cNvSpPr/>
          <p:nvPr/>
        </p:nvSpPr>
        <p:spPr>
          <a:xfrm>
            <a:off x="640080" y="2286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 · ALCANCE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100"/>
          <p:cNvSpPr/>
          <p:nvPr/>
        </p:nvSpPr>
        <p:spPr>
          <a:xfrm>
            <a:off x="658368" y="2706624"/>
            <a:ext cx="17007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Manrope"/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Quantas operações ou pessoas o projeto afeta.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100"/>
          <p:cNvSpPr/>
          <p:nvPr/>
        </p:nvSpPr>
        <p:spPr>
          <a:xfrm>
            <a:off x="658368" y="3530600"/>
            <a:ext cx="170078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Ex.: 5 milhões de clientes atendidos.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100"/>
          <p:cNvSpPr/>
          <p:nvPr/>
        </p:nvSpPr>
        <p:spPr>
          <a:xfrm>
            <a:off x="2587752" y="2286000"/>
            <a:ext cx="192024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100"/>
          <p:cNvSpPr/>
          <p:nvPr/>
        </p:nvSpPr>
        <p:spPr>
          <a:xfrm>
            <a:off x="2587752" y="2286000"/>
            <a:ext cx="1920240" cy="310896"/>
          </a:xfrm>
          <a:prstGeom prst="rect">
            <a:avLst/>
          </a:prstGeom>
          <a:solidFill>
            <a:srgbClr val="3A33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100"/>
          <p:cNvSpPr/>
          <p:nvPr/>
        </p:nvSpPr>
        <p:spPr>
          <a:xfrm>
            <a:off x="2679192" y="2286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 · IMPACTO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100"/>
          <p:cNvSpPr/>
          <p:nvPr/>
        </p:nvSpPr>
        <p:spPr>
          <a:xfrm>
            <a:off x="2697480" y="2706624"/>
            <a:ext cx="17007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Manrope"/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Magnitude da melhoria por operação (0,25 a 3).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100"/>
          <p:cNvSpPr/>
          <p:nvPr/>
        </p:nvSpPr>
        <p:spPr>
          <a:xfrm>
            <a:off x="2697480" y="3530600"/>
            <a:ext cx="170078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Ex.: reduzir o tempo de resposta ao cliente.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100"/>
          <p:cNvSpPr/>
          <p:nvPr/>
        </p:nvSpPr>
        <p:spPr>
          <a:xfrm>
            <a:off x="4626864" y="2286000"/>
            <a:ext cx="192024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100"/>
          <p:cNvSpPr/>
          <p:nvPr/>
        </p:nvSpPr>
        <p:spPr>
          <a:xfrm>
            <a:off x="4626864" y="2286000"/>
            <a:ext cx="1920240" cy="310896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100"/>
          <p:cNvSpPr/>
          <p:nvPr/>
        </p:nvSpPr>
        <p:spPr>
          <a:xfrm>
            <a:off x="4718304" y="2286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 · CONFIANÇA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100"/>
          <p:cNvSpPr/>
          <p:nvPr/>
        </p:nvSpPr>
        <p:spPr>
          <a:xfrm>
            <a:off x="4736592" y="2706624"/>
            <a:ext cx="17007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Manrope"/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Certeza de que a solução funciona (50% a 100%).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100"/>
          <p:cNvSpPr/>
          <p:nvPr/>
        </p:nvSpPr>
        <p:spPr>
          <a:xfrm>
            <a:off x="4736592" y="3530600"/>
            <a:ext cx="170078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Ex.: caso com dado histórico farto = alta.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100"/>
          <p:cNvSpPr/>
          <p:nvPr/>
        </p:nvSpPr>
        <p:spPr>
          <a:xfrm>
            <a:off x="6665976" y="2286000"/>
            <a:ext cx="192024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100"/>
          <p:cNvSpPr/>
          <p:nvPr/>
        </p:nvSpPr>
        <p:spPr>
          <a:xfrm>
            <a:off x="6665976" y="2286000"/>
            <a:ext cx="1920240" cy="31089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100"/>
          <p:cNvSpPr/>
          <p:nvPr/>
        </p:nvSpPr>
        <p:spPr>
          <a:xfrm>
            <a:off x="6757416" y="2286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 · ESFORÇO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100"/>
          <p:cNvSpPr/>
          <p:nvPr/>
        </p:nvSpPr>
        <p:spPr>
          <a:xfrm>
            <a:off x="6775704" y="2706624"/>
            <a:ext cx="17007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Manrope"/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Tempo e custo de integração (pessoa-mês).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100"/>
          <p:cNvSpPr/>
          <p:nvPr/>
        </p:nvSpPr>
        <p:spPr>
          <a:xfrm>
            <a:off x="6775704" y="3530600"/>
            <a:ext cx="170078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Ex.: integrar o ERP e a base de clientes.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100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100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24" name="Picture 1623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53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CRITÉRIOS PARA PROJETOS DE 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53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Para IA, RICE precisa de critérios que ele não captura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53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53"/>
          <p:cNvSpPr/>
          <p:nvPr/>
        </p:nvSpPr>
        <p:spPr>
          <a:xfrm>
            <a:off x="640080" y="448056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50"/>
              <a:buFont typeface="Manrope"/>
              <a:buNone/>
            </a:pPr>
            <a:r>
              <a:rPr lang="en-US" sz="95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https://josercf.github.io/rice-scoring/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53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35" name="Google Shape;1635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30435" y="1394448"/>
            <a:ext cx="2877312" cy="2877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Picture 1635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01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GESTÃO DE PORTFÓLIO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3" name="Google Shape;1643;p101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Priorize a carteira, não o projeto isolado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4" name="Google Shape;1644;p101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5" name="Google Shape;1645;p101"/>
          <p:cNvSpPr/>
          <p:nvPr/>
        </p:nvSpPr>
        <p:spPr>
          <a:xfrm>
            <a:off x="548640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6" name="Google Shape;1646;p101"/>
          <p:cNvSpPr/>
          <p:nvPr/>
        </p:nvSpPr>
        <p:spPr>
          <a:xfrm>
            <a:off x="768096" y="1709928"/>
            <a:ext cx="226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VITÓRIAS RÁPIDAS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7" name="Google Shape;1647;p101"/>
          <p:cNvSpPr/>
          <p:nvPr/>
        </p:nvSpPr>
        <p:spPr>
          <a:xfrm>
            <a:off x="768096" y="2029968"/>
            <a:ext cx="209550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Retorno imediato, geram confiança e dado.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8" name="Google Shape;1648;p101"/>
          <p:cNvSpPr/>
          <p:nvPr/>
        </p:nvSpPr>
        <p:spPr>
          <a:xfrm>
            <a:off x="3316224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9" name="Google Shape;1649;p101"/>
          <p:cNvSpPr/>
          <p:nvPr/>
        </p:nvSpPr>
        <p:spPr>
          <a:xfrm>
            <a:off x="3535680" y="1709928"/>
            <a:ext cx="226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PROJETOS DE BASE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0" name="Google Shape;1650;p101"/>
          <p:cNvSpPr/>
          <p:nvPr/>
        </p:nvSpPr>
        <p:spPr>
          <a:xfrm>
            <a:off x="3535680" y="2029968"/>
            <a:ext cx="209550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Dados, plataforma e competências reutilizáveis. Constroem o recurso único de amanhã.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1" name="Google Shape;1651;p101"/>
          <p:cNvSpPr/>
          <p:nvPr/>
        </p:nvSpPr>
        <p:spPr>
          <a:xfrm>
            <a:off x="6083808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2" name="Google Shape;1652;p101"/>
          <p:cNvSpPr/>
          <p:nvPr/>
        </p:nvSpPr>
        <p:spPr>
          <a:xfrm>
            <a:off x="6303264" y="1709928"/>
            <a:ext cx="226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TRANSFORMACIONAIS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3" name="Google Shape;1653;p101"/>
          <p:cNvSpPr/>
          <p:nvPr/>
        </p:nvSpPr>
        <p:spPr>
          <a:xfrm>
            <a:off x="6303264" y="2029968"/>
            <a:ext cx="209550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Alto impacto e longo prazo. Dependem da base.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4" name="Google Shape;1654;p101"/>
          <p:cNvSpPr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1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Três critérios: valor, risco e alinhamento estratégico. Projetos interagem: uma base de dados destrava vários outros. (Benaija e Kjiri, 2015). Considerem também a capacidade do time e um limite de projetos simultâneos.</a:t>
            </a:r>
            <a:endParaRPr sz="900" b="0" i="0" u="none" strike="noStrike" cap="none">
              <a:solidFill>
                <a:srgbClr val="75757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5" name="Google Shape;1655;p101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6" name="Google Shape;1656;p101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7" name="Google Shape;1657;p101" descr="Vitórias rápidas"/>
          <p:cNvSpPr/>
          <p:nvPr/>
        </p:nvSpPr>
        <p:spPr>
          <a:xfrm>
            <a:off x="2476500" y="3657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58" name="Google Shape;1658;p101" descr="Projetos de base"/>
          <p:cNvSpPr/>
          <p:nvPr/>
        </p:nvSpPr>
        <p:spPr>
          <a:xfrm>
            <a:off x="5245100" y="3657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59" name="Google Shape;1659;p101" descr="Transformacionais"/>
          <p:cNvSpPr/>
          <p:nvPr/>
        </p:nvSpPr>
        <p:spPr>
          <a:xfrm>
            <a:off x="8013700" y="3657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1660" name="Picture 165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102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ATIVIDADE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7" name="Google Shape;1667;p102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Priorize o seu projeto e defenda a nota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8" name="Google Shape;1668;p102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9" name="Google Shape;1669;p102"/>
          <p:cNvSpPr/>
          <p:nvPr/>
        </p:nvSpPr>
        <p:spPr>
          <a:xfrm>
            <a:off x="548640" y="4267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200"/>
              <a:buFont typeface="Manrope"/>
              <a:buNone/>
            </a:pPr>
            <a:r>
              <a:rPr lang="en-US" sz="1400" b="0" i="1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Cada nota precisa de uma evidência, ou fica marcada como hipótese a validar.</a:t>
            </a:r>
            <a:endParaRPr sz="1400" b="0" i="0" u="none" strike="noStrike" cap="none">
              <a:solidFill>
                <a:srgbClr val="75757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0" name="Google Shape;1670;p102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1" name="Google Shape;1671;p102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2" name="Google Shape;1672;p102"/>
          <p:cNvSpPr/>
          <p:nvPr/>
        </p:nvSpPr>
        <p:spPr>
          <a:xfrm>
            <a:off x="546100" y="1625600"/>
            <a:ext cx="2603500" cy="120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3" name="Google Shape;1673;p102"/>
          <p:cNvSpPr txBox="1"/>
          <p:nvPr/>
        </p:nvSpPr>
        <p:spPr>
          <a:xfrm>
            <a:off x="723900" y="1778000"/>
            <a:ext cx="2247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1  </a:t>
            </a: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Aplique</a:t>
            </a:r>
            <a:endParaRPr/>
          </a:p>
        </p:txBody>
      </p:sp>
      <p:sp>
        <p:nvSpPr>
          <p:cNvPr id="1674" name="Google Shape;1674;p102"/>
          <p:cNvSpPr txBox="1"/>
          <p:nvPr/>
        </p:nvSpPr>
        <p:spPr>
          <a:xfrm>
            <a:off x="723900" y="2133600"/>
            <a:ext cx="22479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Matriz Valor × Viabilidade e RICE no processo do seu grupo.</a:t>
            </a:r>
            <a:endParaRPr/>
          </a:p>
        </p:txBody>
      </p:sp>
      <p:sp>
        <p:nvSpPr>
          <p:cNvPr id="1675" name="Google Shape;1675;p102"/>
          <p:cNvSpPr/>
          <p:nvPr/>
        </p:nvSpPr>
        <p:spPr>
          <a:xfrm>
            <a:off x="3270250" y="1625600"/>
            <a:ext cx="2603500" cy="120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6" name="Google Shape;1676;p102"/>
          <p:cNvSpPr txBox="1"/>
          <p:nvPr/>
        </p:nvSpPr>
        <p:spPr>
          <a:xfrm>
            <a:off x="3448050" y="1778000"/>
            <a:ext cx="2247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2  </a:t>
            </a: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Verifique</a:t>
            </a:r>
            <a:endParaRPr/>
          </a:p>
        </p:txBody>
      </p:sp>
      <p:sp>
        <p:nvSpPr>
          <p:cNvPr id="1677" name="Google Shape;1677;p102"/>
          <p:cNvSpPr txBox="1"/>
          <p:nvPr/>
        </p:nvSpPr>
        <p:spPr>
          <a:xfrm>
            <a:off x="3448050" y="2133600"/>
            <a:ext cx="22479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Apoia-se em recurso único? Destrava outros projetos?</a:t>
            </a:r>
            <a:endParaRPr/>
          </a:p>
        </p:txBody>
      </p:sp>
      <p:sp>
        <p:nvSpPr>
          <p:cNvPr id="1678" name="Google Shape;1678;p102"/>
          <p:cNvSpPr/>
          <p:nvPr/>
        </p:nvSpPr>
        <p:spPr>
          <a:xfrm>
            <a:off x="5994400" y="1625600"/>
            <a:ext cx="2603500" cy="120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9" name="Google Shape;1679;p102"/>
          <p:cNvSpPr txBox="1"/>
          <p:nvPr/>
        </p:nvSpPr>
        <p:spPr>
          <a:xfrm>
            <a:off x="6172200" y="1778000"/>
            <a:ext cx="2247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3  </a:t>
            </a: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Defenda</a:t>
            </a:r>
            <a:endParaRPr/>
          </a:p>
        </p:txBody>
      </p:sp>
      <p:sp>
        <p:nvSpPr>
          <p:cNvPr id="1680" name="Google Shape;1680;p102"/>
          <p:cNvSpPr txBox="1"/>
          <p:nvPr/>
        </p:nvSpPr>
        <p:spPr>
          <a:xfrm>
            <a:off x="6172200" y="2133600"/>
            <a:ext cx="22479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Apresente a escolha e justifique a nota.</a:t>
            </a:r>
            <a:endParaRPr/>
          </a:p>
        </p:txBody>
      </p:sp>
      <p:sp>
        <p:nvSpPr>
          <p:cNvPr id="1681" name="Google Shape;1681;p102"/>
          <p:cNvSpPr txBox="1"/>
          <p:nvPr/>
        </p:nvSpPr>
        <p:spPr>
          <a:xfrm>
            <a:off x="546100" y="3048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ENTREGÁVEIS</a:t>
            </a:r>
            <a:endParaRPr/>
          </a:p>
        </p:txBody>
      </p:sp>
      <p:sp>
        <p:nvSpPr>
          <p:cNvPr id="1682" name="Google Shape;1682;p102"/>
          <p:cNvSpPr/>
          <p:nvPr/>
        </p:nvSpPr>
        <p:spPr>
          <a:xfrm>
            <a:off x="546100" y="3378200"/>
            <a:ext cx="2540000" cy="4064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QUADRANTE DA MATRIZ</a:t>
            </a:r>
            <a:endParaRPr/>
          </a:p>
        </p:txBody>
      </p:sp>
      <p:sp>
        <p:nvSpPr>
          <p:cNvPr id="1683" name="Google Shape;1683;p102"/>
          <p:cNvSpPr/>
          <p:nvPr/>
        </p:nvSpPr>
        <p:spPr>
          <a:xfrm>
            <a:off x="3302000" y="3378200"/>
            <a:ext cx="2540000" cy="4064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SCORE RICE</a:t>
            </a:r>
            <a:endParaRPr/>
          </a:p>
        </p:txBody>
      </p:sp>
      <p:sp>
        <p:nvSpPr>
          <p:cNvPr id="1684" name="Google Shape;1684;p102"/>
          <p:cNvSpPr/>
          <p:nvPr/>
        </p:nvSpPr>
        <p:spPr>
          <a:xfrm>
            <a:off x="6057900" y="3378200"/>
            <a:ext cx="2540000" cy="4064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JUSTIFICATIVA EM 1 FRASE</a:t>
            </a:r>
            <a:endParaRPr/>
          </a:p>
        </p:txBody>
      </p:sp>
      <p:pic>
        <p:nvPicPr>
          <p:cNvPr id="1685" name="Picture 1684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640"/>
        </a:solidFill>
        <a:effectLst/>
      </p:bgPr>
    </p:bg>
    <p:spTree>
      <p:nvGrpSpPr>
        <p:cNvPr id="1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07"/>
          <p:cNvSpPr/>
          <p:nvPr/>
        </p:nvSpPr>
        <p:spPr>
          <a:xfrm>
            <a:off x="-762135" y="1444040"/>
            <a:ext cx="2739300" cy="1600500"/>
          </a:xfrm>
          <a:prstGeom prst="rect">
            <a:avLst/>
          </a:prstGeom>
          <a:solidFill>
            <a:srgbClr val="B2B6B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8" name="Google Shape;1788;p107"/>
          <p:cNvSpPr/>
          <p:nvPr/>
        </p:nvSpPr>
        <p:spPr>
          <a:xfrm rot="10800000">
            <a:off x="6807184" y="3062896"/>
            <a:ext cx="2298771" cy="2057400"/>
          </a:xfrm>
          <a:custGeom>
            <a:avLst/>
            <a:gdLst/>
            <a:ahLst/>
            <a:cxnLst/>
            <a:rect l="l" t="t" r="r" b="b"/>
            <a:pathLst>
              <a:path w="4597542" h="4114800" extrusionOk="0">
                <a:moveTo>
                  <a:pt x="0" y="4114800"/>
                </a:moveTo>
                <a:lnTo>
                  <a:pt x="4597542" y="4114800"/>
                </a:lnTo>
                <a:lnTo>
                  <a:pt x="459754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1">
            <a:blip r:embed="rId3">
              <a:alphaModFix amt="1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9" name="Google Shape;1789;p107"/>
          <p:cNvSpPr txBox="1"/>
          <p:nvPr/>
        </p:nvSpPr>
        <p:spPr>
          <a:xfrm>
            <a:off x="852468" y="283238"/>
            <a:ext cx="3108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39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Key Takeaways</a:t>
            </a:r>
            <a:endParaRPr sz="2500" b="0" i="0" u="none" strike="noStrike" cap="non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90" name="Google Shape;1790;p107"/>
          <p:cNvSpPr txBox="1"/>
          <p:nvPr/>
        </p:nvSpPr>
        <p:spPr>
          <a:xfrm>
            <a:off x="738544" y="1551581"/>
            <a:ext cx="1185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0"/>
              <a:buFont typeface="Arial"/>
              <a:buNone/>
            </a:pPr>
            <a:r>
              <a:rPr lang="en-US" sz="9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sz="10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91" name="Google Shape;1791;p107"/>
          <p:cNvSpPr txBox="1"/>
          <p:nvPr/>
        </p:nvSpPr>
        <p:spPr>
          <a:xfrm>
            <a:off x="2196581" y="1482581"/>
            <a:ext cx="3154680" cy="151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4700"/>
              <a:buFont typeface="Arial"/>
              <a:buNone/>
            </a:pPr>
            <a:r>
              <a:rPr lang="en-US" sz="3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O diferencial é o processo</a:t>
            </a:r>
            <a:endParaRPr/>
          </a:p>
        </p:txBody>
      </p:sp>
      <p:sp>
        <p:nvSpPr>
          <p:cNvPr id="1792" name="Google Shape;1792;p107"/>
          <p:cNvSpPr txBox="1"/>
          <p:nvPr/>
        </p:nvSpPr>
        <p:spPr>
          <a:xfrm>
            <a:off x="5499338" y="3048000"/>
            <a:ext cx="3444600" cy="1808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 tecnologia tende a ficar parecida entre empresas; dados, processo e pessoas fazem a diferença.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Problema claro, dado de qualidade e governança vêm antes do modelo.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Agentes orquestram o processo, e o humano desenha onde eles param.</a:t>
            </a:r>
            <a:endParaRPr/>
          </a:p>
        </p:txBody>
      </p:sp>
      <p:cxnSp>
        <p:nvCxnSpPr>
          <p:cNvPr id="1793" name="Google Shape;1793;p107"/>
          <p:cNvCxnSpPr/>
          <p:nvPr/>
        </p:nvCxnSpPr>
        <p:spPr>
          <a:xfrm>
            <a:off x="5320613" y="2978663"/>
            <a:ext cx="0" cy="1766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94" name="Picture 1793" descr="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233172"/>
            <a:ext cx="1005840" cy="40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FECHAMENTO DO ENCONTRO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que você leva daqui, e o que segue em 27/10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5727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7739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1755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O prompt versionado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0756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v1, v2, o que mudou e o critério de aceite, sobre uma tarefa recorrente da sua área.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5727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864607" y="17739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1755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Os achados conferidos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20756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O que o documento não diz, com o trecho citado e o veredito de cada ponto.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443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9808" y="31455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1272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O parecer com cenários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472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Resumo executivo, cenários com a conta à vista e recomendação estressada por red team.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9443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64607" y="31455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1" y="31272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O caso de uso priorizado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1" y="34472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Quadrante da matriz, score e justificativa em uma frase.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15968"/>
            <a:ext cx="8046720" cy="438912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Em 27/10, o caso escolhido hoje passa por buy vs. build, ROI e definição de MVP. Em 29/10, presencial, vira business case.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Mercado, adoção e casos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481328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FF4545"/>
                </a:solidFill>
                <a:latin typeface="Manrope"/>
              </a:rPr>
              <a:t>ADOÇÃO E RETORNO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755648"/>
            <a:ext cx="3931920" cy="3017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4"/>
              </a:rPr>
              <a:t>Microsoft. Work Trend Index 2025: the year the Frontier Firm is born. 2025.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5"/>
              </a:rPr>
              <a:t>Gartner. 3 bold and actionable predictions for the future of GenAI. 2024. Previsão para 2028.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6"/>
              </a:rPr>
              <a:t>Jakkal, V. 80% of Fortune 500 use active AI agents. Microsoft Security Blog, 10/02/2026.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7"/>
              </a:rPr>
              <a:t>McKinsey. Seizing the agentic AI advantage. 13/06/2025.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</a:rPr>
              <a:t>Challapally, A. et al. The GenAI Divide: state of AI in business 2025. MIT NANDA, 2025.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8"/>
              </a:rPr>
              <a:t>Schuman, E. 88% of AI pilots fail to reach production. CIO.com, 25/03/2025. Dados IDC e Lenovo.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9"/>
              </a:rPr>
              <a:t>Deloitte. State of AI in the Enterprise 2026. 21/01/2026.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481328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FF4545"/>
                </a:solidFill>
                <a:latin typeface="Manrope"/>
              </a:rPr>
              <a:t>ESFORÇO, CASOS E CUSTO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755648"/>
            <a:ext cx="3931920" cy="3017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0"/>
              </a:rPr>
              <a:t>BCG. Where’s the value in AI? 24/10/2024.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1"/>
              </a:rPr>
              <a:t>Brynjolfsson, E.; Rock, D.; Syverson, C. The productivity J-curve. American Economic Journal: Macroeconomics, 13(1), 2021.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2"/>
              </a:rPr>
              <a:t>Merck. Merck expands innovative internal generative AI solutions. 25/06/2025.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3"/>
              </a:rPr>
              <a:t>Klarna. Klarna AI assistant handles two-thirds of customer service chats in its first month. 27/02/2024.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4"/>
              </a:rPr>
              <a:t>Bradesco. Apresentação de resultados 4T25, 2026. NeoFeed, entrevista com a CTO, 2026.</a:t>
            </a:r>
          </a:p>
          <a:p>
            <a:pPr>
              <a:spcAft>
                <a:spcPts val="300"/>
              </a:spcAft>
            </a:pPr>
            <a:endParaRPr sz="900" b="0" i="0">
              <a:solidFill>
                <a:srgbClr val="3A3A4A"/>
              </a:solidFill>
              <a:latin typeface="Manrope"/>
              <a:hlinkClick r:id="rId14"/>
            </a:endParaRP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5"/>
              </a:rPr>
              <a:t>InfoMoney. Conta da IA chega às empresas e força limites para funcionários. Acesso em 15/07/2026.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3f07a913747_0_1729"/>
          <p:cNvSpPr txBox="1"/>
          <p:nvPr/>
        </p:nvSpPr>
        <p:spPr>
          <a:xfrm>
            <a:off x="1967138" y="3710981"/>
            <a:ext cx="58155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José Romualdo </a:t>
            </a:r>
            <a:r>
              <a:rPr lang="en-US"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| Professor Inteli</a:t>
            </a:r>
            <a:br>
              <a:rPr lang="en-US"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en-US" sz="13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jose.romualdo@prof.inteli.edu.br</a:t>
            </a:r>
            <a:endParaRPr sz="13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800" name="Google Shape;1800;g3f07a913747_0_17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734" y="3562487"/>
            <a:ext cx="343313" cy="343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g3f07a913747_0_17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7025" y="3367425"/>
            <a:ext cx="1140113" cy="114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2" name="Picture 1801" descr="logo_st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8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VISÃO BASEADA EM RECURSOS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4" name="Google Shape;564;p68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 vantagem duradoura está nos recursos próprios, não na ferramenta</a:t>
            </a:r>
            <a:endParaRPr/>
          </a:p>
        </p:txBody>
      </p:sp>
      <p:sp>
        <p:nvSpPr>
          <p:cNvPr id="565" name="Google Shape;565;p68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6" name="Google Shape;566;p68"/>
          <p:cNvSpPr/>
          <p:nvPr/>
        </p:nvSpPr>
        <p:spPr>
          <a:xfrm>
            <a:off x="548640" y="1572768"/>
            <a:ext cx="3895344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7" name="Google Shape;567;p68"/>
          <p:cNvSpPr/>
          <p:nvPr/>
        </p:nvSpPr>
        <p:spPr>
          <a:xfrm>
            <a:off x="768096" y="1709928"/>
            <a:ext cx="304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ATIVOS DE DADOS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8" name="Google Shape;568;p68"/>
          <p:cNvSpPr/>
          <p:nvPr/>
        </p:nvSpPr>
        <p:spPr>
          <a:xfrm>
            <a:off x="768096" y="2029968"/>
            <a:ext cx="2921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O histórico de operações e de clientes que só a sua empresa tem.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9" name="Google Shape;569;p68"/>
          <p:cNvSpPr/>
          <p:nvPr/>
        </p:nvSpPr>
        <p:spPr>
          <a:xfrm>
            <a:off x="4700016" y="1572768"/>
            <a:ext cx="3895344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0" name="Google Shape;570;p68"/>
          <p:cNvSpPr/>
          <p:nvPr/>
        </p:nvSpPr>
        <p:spPr>
          <a:xfrm>
            <a:off x="4919472" y="1709928"/>
            <a:ext cx="304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CAPACIDADES TÉCNICAS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1" name="Google Shape;571;p68"/>
          <p:cNvSpPr/>
          <p:nvPr/>
        </p:nvSpPr>
        <p:spPr>
          <a:xfrm>
            <a:off x="4919472" y="2029968"/>
            <a:ext cx="2921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Plataformas, integração e engenharia próprias.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2" name="Google Shape;572;p68"/>
          <p:cNvSpPr/>
          <p:nvPr/>
        </p:nvSpPr>
        <p:spPr>
          <a:xfrm>
            <a:off x="548640" y="3200400"/>
            <a:ext cx="3895344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3" name="Google Shape;573;p68"/>
          <p:cNvSpPr/>
          <p:nvPr/>
        </p:nvSpPr>
        <p:spPr>
          <a:xfrm>
            <a:off x="768096" y="3337560"/>
            <a:ext cx="304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CAPITAL HUMANO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4" name="Google Shape;574;p68"/>
          <p:cNvSpPr/>
          <p:nvPr/>
        </p:nvSpPr>
        <p:spPr>
          <a:xfrm>
            <a:off x="768096" y="3657600"/>
            <a:ext cx="2921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O conhecimento de quem opera o negócio há décadas.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5" name="Google Shape;575;p68"/>
          <p:cNvSpPr/>
          <p:nvPr/>
        </p:nvSpPr>
        <p:spPr>
          <a:xfrm>
            <a:off x="4700016" y="3200400"/>
            <a:ext cx="3895344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6" name="Google Shape;576;p68"/>
          <p:cNvSpPr/>
          <p:nvPr/>
        </p:nvSpPr>
        <p:spPr>
          <a:xfrm>
            <a:off x="4919472" y="3337560"/>
            <a:ext cx="304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APRENDIZADO ORGANIZACIONAL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7" name="Google Shape;577;p68"/>
          <p:cNvSpPr/>
          <p:nvPr/>
        </p:nvSpPr>
        <p:spPr>
          <a:xfrm>
            <a:off x="4919472" y="3759200"/>
            <a:ext cx="2921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 empresa que aprende e se adapta mais rápido.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8" name="Google Shape;578;p68"/>
          <p:cNvSpPr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1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Barney (1991): vantagem sustentada vem de recursos valiosos, raros, difíceis de imitar e bem organizados. Dado próprio conta, junto com processo, integração, confiança, talento e governança.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9" name="Google Shape;579;p68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Rede D’Or · 21/09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0" name="Google Shape;580;p68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1" name="Google Shape;581;p68" descr="Ícone dados"/>
          <p:cNvSpPr/>
          <p:nvPr/>
        </p:nvSpPr>
        <p:spPr>
          <a:xfrm>
            <a:off x="3860800" y="17399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2" name="Google Shape;582;p68" descr="Ícone capacidades técnicas"/>
          <p:cNvSpPr/>
          <p:nvPr/>
        </p:nvSpPr>
        <p:spPr>
          <a:xfrm>
            <a:off x="8013700" y="17399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3" name="Google Shape;583;p68" descr="Ícone capital humano"/>
          <p:cNvSpPr/>
          <p:nvPr/>
        </p:nvSpPr>
        <p:spPr>
          <a:xfrm>
            <a:off x="3860800" y="3365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4" name="Google Shape;584;p68" descr="Ícone aprendizado organizacional"/>
          <p:cNvSpPr/>
          <p:nvPr/>
        </p:nvSpPr>
        <p:spPr>
          <a:xfrm>
            <a:off x="8013700" y="3365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85" name="Picture 584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E2640"/>
      </a:dk1>
      <a:lt1>
        <a:srgbClr val="FFFFFF"/>
      </a:lt1>
      <a:dk2>
        <a:srgbClr val="3A3A4A"/>
      </a:dk2>
      <a:lt2>
        <a:srgbClr val="E6EAEB"/>
      </a:lt2>
      <a:accent1>
        <a:srgbClr val="066D73"/>
      </a:accent1>
      <a:accent2>
        <a:srgbClr val="FF4545"/>
      </a:accent2>
      <a:accent3>
        <a:srgbClr val="CACED6"/>
      </a:accent3>
      <a:accent4>
        <a:srgbClr val="89CEA5"/>
      </a:accent4>
      <a:accent5>
        <a:srgbClr val="90A5E5"/>
      </a:accent5>
      <a:accent6>
        <a:srgbClr val="B2B6BF"/>
      </a:accent6>
      <a:hlink>
        <a:srgbClr val="066D73"/>
      </a:hlink>
      <a:folHlink>
        <a:srgbClr val="2E2640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2E2640"/>
      </a:dk1>
      <a:lt1>
        <a:srgbClr val="FFFFFF"/>
      </a:lt1>
      <a:dk2>
        <a:srgbClr val="3A3A4A"/>
      </a:dk2>
      <a:lt2>
        <a:srgbClr val="E6EAEB"/>
      </a:lt2>
      <a:accent1>
        <a:srgbClr val="066D73"/>
      </a:accent1>
      <a:accent2>
        <a:srgbClr val="FF4545"/>
      </a:accent2>
      <a:accent3>
        <a:srgbClr val="CACED6"/>
      </a:accent3>
      <a:accent4>
        <a:srgbClr val="89CEA5"/>
      </a:accent4>
      <a:accent5>
        <a:srgbClr val="90A5E5"/>
      </a:accent5>
      <a:accent6>
        <a:srgbClr val="B2B6BF"/>
      </a:accent6>
      <a:hlink>
        <a:srgbClr val="066D73"/>
      </a:hlink>
      <a:folHlink>
        <a:srgbClr val="2E2640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9948</Words>
  <Application>Microsoft Macintosh PowerPoint</Application>
  <PresentationFormat>On-screen Show (16:9)</PresentationFormat>
  <Paragraphs>1158</Paragraphs>
  <Slides>82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82</vt:i4>
      </vt:variant>
    </vt:vector>
  </HeadingPairs>
  <TitlesOfParts>
    <vt:vector size="94" baseType="lpstr">
      <vt:lpstr>Manrope</vt:lpstr>
      <vt:lpstr>Arial</vt:lpstr>
      <vt:lpstr>Helvetica Neue</vt:lpstr>
      <vt:lpstr>Platypi Light</vt:lpstr>
      <vt:lpstr>Manrope Medium</vt:lpstr>
      <vt:lpstr>Platypi</vt:lpstr>
      <vt:lpstr>Space Mono</vt:lpstr>
      <vt:lpstr>Calibri</vt:lpstr>
      <vt:lpstr>Platypi Medium</vt:lpstr>
      <vt:lpstr>Manrope Light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Somos uma organização sem fins lucrativos, fundada por líderes do setor privado do Brasil, com o propósito de criar um instituto de tecnologia de excelência, comprometido em formar os futuros líderes de tecnologia que vão revolucionar a América Latina.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Embarque nessa "viagem"</vt:lpstr>
      <vt:lpstr>Tokens: "fatiando" uma mensagem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Inteli</dc:creator>
  <cp:lastModifiedBy>José Romualdo Costa Filho</cp:lastModifiedBy>
  <cp:revision>6</cp:revision>
  <dcterms:created xsi:type="dcterms:W3CDTF">2026-07-02T20:01:51Z</dcterms:created>
  <dcterms:modified xsi:type="dcterms:W3CDTF">2026-10-22T16:21:49Z</dcterms:modified>
</cp:coreProperties>
</file>
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85"/>
  </p:notesMasterIdLst>
  <p:sldIdLst>
    <p:sldId id="256" r:id="rId3"/>
    <p:sldId id="364" r:id="rId4"/>
    <p:sldId id="406" r:id="rId5"/>
    <p:sldId id="257" r:id="rId6"/>
    <p:sldId id="439" r:id="rId8"/>
    <p:sldId id="369" r:id="rId11"/>
    <p:sldId id="431" r:id="rId56"/>
    <p:sldId id="271" r:id="rId58"/>
    <p:sldId id="392" r:id="rId59"/>
    <p:sldId id="393" r:id="rId60"/>
    <p:sldId id="394" r:id="rId61"/>
    <p:sldId id="395" r:id="rId62"/>
    <p:sldId id="397" r:id="rId63"/>
    <p:sldId id="396" r:id="rId66"/>
    <p:sldId id="398" r:id="rId67"/>
    <p:sldId id="399" r:id="rId68"/>
    <p:sldId id="400" r:id="rId69"/>
    <p:sldId id="403" r:id="rId70"/>
    <p:sldId id="404" r:id="rId71"/>
    <p:sldId id="405" r:id="rId72"/>
    <p:sldId id="476" r:id="rId48"/>
    <p:sldId id="477" r:id="rId44"/>
    <p:sldId id="361" r:id="rId30"/>
    <p:sldId id="478" r:id="rId43"/>
    <p:sldId id="450" r:id="rId114"/>
    <p:sldId id="451" r:id="rId115"/>
    <p:sldId id="464" r:id="rId76"/>
    <p:sldId id="465" r:id="rId80"/>
    <p:sldId id="479" r:id="rId79"/>
    <p:sldId id="466" r:id="rId65"/>
    <p:sldId id="467" r:id="rId64"/>
    <p:sldId id="468" r:id="rId57"/>
    <p:sldId id="469" r:id="rId55"/>
    <p:sldId id="470" r:id="rId54"/>
    <p:sldId id="471" r:id="rId53"/>
    <p:sldId id="472" r:id="rId52"/>
    <p:sldId id="473" r:id="rId51"/>
    <p:sldId id="474" r:id="rId50"/>
    <p:sldId id="475" r:id="rId49"/>
    <p:sldId id="452" r:id="rId116"/>
    <p:sldId id="282" r:id="rId47"/>
    <p:sldId id="281" r:id="rId46"/>
    <p:sldId id="326" r:id="rId45"/>
    <p:sldId id="463" r:id="rId78"/>
    <p:sldId id="453" r:id="rId117"/>
    <p:sldId id="454" r:id="rId118"/>
    <p:sldId id="455" r:id="rId119"/>
    <p:sldId id="456" r:id="rId120"/>
    <p:sldId id="457" r:id="rId121"/>
    <p:sldId id="458" r:id="rId122"/>
    <p:sldId id="459" r:id="rId123"/>
    <p:sldId id="460" r:id="rId124"/>
    <p:sldId id="461" r:id="rId125"/>
    <p:sldId id="462" r:id="rId126"/>
    <p:sldId id="340" r:id="rId81"/>
    <p:sldId id="401" r:id="rId82"/>
    <p:sldId id="417" r:id="rId83"/>
    <p:sldId id="341" r:id="rId84"/>
  </p:sldIdLst>
  <p:sldSz cx="9144000" cy="5143500" type="screen16x9"/>
  <p:notesSz cx="5143500" cy="9144000"/>
  <p:embeddedFontLst>
    <p:embeddedFont>
      <p:font typeface="Manrope" pitchFamily="2" charset="0"/>
      <p:regular r:id="rId86"/>
      <p:bold r:id="rId87"/>
    </p:embeddedFont>
    <p:embeddedFont>
      <p:font typeface="Manrope Light" pitchFamily="2" charset="0"/>
      <p:regular r:id="rId88"/>
    </p:embeddedFont>
    <p:embeddedFont>
      <p:font typeface="Manrope Medium" pitchFamily="2" charset="0"/>
      <p:regular r:id="rId89"/>
    </p:embeddedFont>
    <p:embeddedFont>
      <p:font typeface="Platypi" panose="020F0502020204030204" pitchFamily="34" charset="0"/>
      <p:regular r:id="rId90"/>
      <p:bold r:id="rId91"/>
      <p:italic r:id="rId92"/>
      <p:boldItalic r:id="rId93"/>
    </p:embeddedFont>
    <p:embeddedFont>
      <p:font typeface="Platypi Light" panose="020F0502020204030204" pitchFamily="34" charset="0"/>
      <p:regular r:id="rId94"/>
      <p:bold r:id="rId95"/>
      <p:italic r:id="rId96"/>
      <p:boldItalic r:id="rId97"/>
    </p:embeddedFont>
    <p:embeddedFont>
      <p:font typeface="Platypi Medium" panose="020F0502020204030204" pitchFamily="34" charset="0"/>
      <p:regular r:id="rId98"/>
      <p:bold r:id="rId99"/>
      <p:italic r:id="rId100"/>
      <p:boldItalic r:id="rId101"/>
    </p:embeddedFont>
    <p:embeddedFont>
      <p:font typeface="Space Mono" panose="02010509030202000204" pitchFamily="49" charset="77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9" roundtripDataSignature="AMtx7mhE9eunjq4jI1S68ZgHjFKT6J0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2D888-38A8-4440-9CC0-006FE3714675}" v="1" dt="2026-09-20T14:33:31.636"/>
  </p1510:revLst>
</p1510:revInfo>
</file>

<file path=ppt/tableStyles.xml><?xml version="1.0" encoding="utf-8"?>
<a:tblStyleLst xmlns:a="http://schemas.openxmlformats.org/drawingml/2006/main" def="{ADAD4E3E-3B28-4D4B-8860-2DF9D5CB9701}">
  <a:tblStyle styleId="{ADAD4E3E-3B28-4D4B-8860-2DF9D5CB97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12"/>
  </p:normalViewPr>
  <p:slideViewPr>
    <p:cSldViewPr snapToGrid="0">
      <p:cViewPr>
        <p:scale>
          <a:sx n="136" d="100"/>
          <a:sy n="136" d="100"/>
        </p:scale>
        <p:origin x="108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11" Type="http://schemas.openxmlformats.org/officeDocument/2006/relationships/slide" Target="slides/slide6.xml"/><Relationship Id="rId30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2.xml"/><Relationship Id="rId45" Type="http://schemas.openxmlformats.org/officeDocument/2006/relationships/slide" Target="slides/slide42.xml"/><Relationship Id="rId46" Type="http://schemas.openxmlformats.org/officeDocument/2006/relationships/slide" Target="slides/slide41.xml"/><Relationship Id="rId47" Type="http://schemas.openxmlformats.org/officeDocument/2006/relationships/slide" Target="slides/slide40.xml"/><Relationship Id="rId48" Type="http://schemas.openxmlformats.org/officeDocument/2006/relationships/slide" Target="slides/slide21.xml"/><Relationship Id="rId49" Type="http://schemas.openxmlformats.org/officeDocument/2006/relationships/slide" Target="slides/slide38.xml"/><Relationship Id="rId50" Type="http://schemas.openxmlformats.org/officeDocument/2006/relationships/slide" Target="slides/slide37.xml"/><Relationship Id="rId51" Type="http://schemas.openxmlformats.org/officeDocument/2006/relationships/slide" Target="slides/slide36.xml"/><Relationship Id="rId52" Type="http://schemas.openxmlformats.org/officeDocument/2006/relationships/slide" Target="slides/slide35.xml"/><Relationship Id="rId53" Type="http://schemas.openxmlformats.org/officeDocument/2006/relationships/slide" Target="slides/slide34.xml"/><Relationship Id="rId54" Type="http://schemas.openxmlformats.org/officeDocument/2006/relationships/slide" Target="slides/slide33.xml"/><Relationship Id="rId55" Type="http://schemas.openxmlformats.org/officeDocument/2006/relationships/slide" Target="slides/slide32.xml"/><Relationship Id="rId56" Type="http://schemas.openxmlformats.org/officeDocument/2006/relationships/slide" Target="slides/slide7.xml"/><Relationship Id="rId57" Type="http://schemas.openxmlformats.org/officeDocument/2006/relationships/slide" Target="slides/slide31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4" Type="http://schemas.openxmlformats.org/officeDocument/2006/relationships/slide" Target="slides/slide30.xml"/><Relationship Id="rId65" Type="http://schemas.openxmlformats.org/officeDocument/2006/relationships/slide" Target="slides/slide29.xml"/><Relationship Id="rId66" Type="http://schemas.openxmlformats.org/officeDocument/2006/relationships/slide" Target="slides/slide14.xml"/><Relationship Id="rId67" Type="http://schemas.openxmlformats.org/officeDocument/2006/relationships/slide" Target="slides/slide15.xml"/><Relationship Id="rId68" Type="http://schemas.openxmlformats.org/officeDocument/2006/relationships/slide" Target="slides/slide16.xml"/><Relationship Id="rId69" Type="http://schemas.openxmlformats.org/officeDocument/2006/relationships/slide" Target="slides/slide17.xml"/><Relationship Id="rId70" Type="http://schemas.openxmlformats.org/officeDocument/2006/relationships/slide" Target="slides/slide18.xml"/><Relationship Id="rId71" Type="http://schemas.openxmlformats.org/officeDocument/2006/relationships/slide" Target="slides/slide19.xml"/><Relationship Id="rId72" Type="http://schemas.openxmlformats.org/officeDocument/2006/relationships/slide" Target="slides/slide20.xml"/><Relationship Id="rId76" Type="http://schemas.openxmlformats.org/officeDocument/2006/relationships/slide" Target="slides/slide27.xml"/><Relationship Id="rId78" Type="http://schemas.openxmlformats.org/officeDocument/2006/relationships/slide" Target="slides/slide43.xml"/><Relationship Id="rId79" Type="http://schemas.openxmlformats.org/officeDocument/2006/relationships/slide" Target="slides/slide58.xml"/><Relationship Id="rId80" Type="http://schemas.openxmlformats.org/officeDocument/2006/relationships/slide" Target="slides/slide28.xml"/><Relationship Id="rId81" Type="http://schemas.openxmlformats.org/officeDocument/2006/relationships/slide" Target="slides/slide54.xml"/><Relationship Id="rId82" Type="http://schemas.openxmlformats.org/officeDocument/2006/relationships/slide" Target="slides/slide55.xml"/><Relationship Id="rId83" Type="http://schemas.openxmlformats.org/officeDocument/2006/relationships/slide" Target="slides/slide56.xml"/><Relationship Id="rId84" Type="http://schemas.openxmlformats.org/officeDocument/2006/relationships/slide" Target="slides/slide57.xml"/><Relationship Id="rId85" Type="http://schemas.openxmlformats.org/officeDocument/2006/relationships/notesMaster" Target="notesMasters/notesMaster1.xml"/><Relationship Id="rId86" Type="http://schemas.openxmlformats.org/officeDocument/2006/relationships/font" Target="fonts/font1.fntdata"/><Relationship Id="rId87" Type="http://schemas.openxmlformats.org/officeDocument/2006/relationships/font" Target="fonts/font2.fntdata"/><Relationship Id="rId88" Type="http://schemas.openxmlformats.org/officeDocument/2006/relationships/font" Target="fonts/font3.fntdata"/><Relationship Id="rId89" Type="http://schemas.openxmlformats.org/officeDocument/2006/relationships/font" Target="fonts/font4.fntdata"/><Relationship Id="rId90" Type="http://schemas.openxmlformats.org/officeDocument/2006/relationships/font" Target="fonts/font5.fntdata"/><Relationship Id="rId91" Type="http://schemas.openxmlformats.org/officeDocument/2006/relationships/font" Target="fonts/font6.fntdata"/><Relationship Id="rId92" Type="http://schemas.openxmlformats.org/officeDocument/2006/relationships/font" Target="fonts/font7.fntdata"/><Relationship Id="rId93" Type="http://schemas.openxmlformats.org/officeDocument/2006/relationships/font" Target="fonts/font8.fntdata"/><Relationship Id="rId94" Type="http://schemas.openxmlformats.org/officeDocument/2006/relationships/font" Target="fonts/font9.fntdata"/><Relationship Id="rId95" Type="http://schemas.openxmlformats.org/officeDocument/2006/relationships/font" Target="fonts/font10.fntdata"/><Relationship Id="rId96" Type="http://schemas.openxmlformats.org/officeDocument/2006/relationships/font" Target="fonts/font11.fntdata"/><Relationship Id="rId97" Type="http://schemas.openxmlformats.org/officeDocument/2006/relationships/font" Target="fonts/font12.fntdata"/><Relationship Id="rId98" Type="http://schemas.openxmlformats.org/officeDocument/2006/relationships/font" Target="fonts/font13.fntdata"/><Relationship Id="rId99" Type="http://schemas.openxmlformats.org/officeDocument/2006/relationships/font" Target="fonts/font14.fntdata"/><Relationship Id="rId100" Type="http://schemas.openxmlformats.org/officeDocument/2006/relationships/font" Target="fonts/font15.fntdata"/><Relationship Id="rId101" Type="http://schemas.openxmlformats.org/officeDocument/2006/relationships/font" Target="fonts/font16.fntdata"/><Relationship Id="rId102" Type="http://schemas.openxmlformats.org/officeDocument/2006/relationships/font" Target="fonts/font17.fntdata"/><Relationship Id="rId103" Type="http://schemas.openxmlformats.org/officeDocument/2006/relationships/font" Target="fonts/font18.fntdata"/><Relationship Id="rId104" Type="http://schemas.openxmlformats.org/officeDocument/2006/relationships/font" Target="fonts/font19.fntdata"/><Relationship Id="rId105" Type="http://schemas.openxmlformats.org/officeDocument/2006/relationships/font" Target="fonts/font20.fntdata"/><Relationship Id="rId114" Type="http://schemas.openxmlformats.org/officeDocument/2006/relationships/slide" Target="slides/slide25.xml"/><Relationship Id="rId115" Type="http://schemas.openxmlformats.org/officeDocument/2006/relationships/slide" Target="slides/slide26.xml"/><Relationship Id="rId116" Type="http://schemas.openxmlformats.org/officeDocument/2006/relationships/slide" Target="slides/slide39.xml"/><Relationship Id="rId117" Type="http://schemas.openxmlformats.org/officeDocument/2006/relationships/slide" Target="slides/slide44.xml"/><Relationship Id="rId118" Type="http://schemas.openxmlformats.org/officeDocument/2006/relationships/slide" Target="slides/slide45.xml"/><Relationship Id="rId119" Type="http://schemas.openxmlformats.org/officeDocument/2006/relationships/slide" Target="slides/slide46.xml"/><Relationship Id="rId120" Type="http://schemas.openxmlformats.org/officeDocument/2006/relationships/slide" Target="slides/slide47.xml"/><Relationship Id="rId121" Type="http://schemas.openxmlformats.org/officeDocument/2006/relationships/slide" Target="slides/slide48.xml"/><Relationship Id="rId122" Type="http://schemas.openxmlformats.org/officeDocument/2006/relationships/slide" Target="slides/slide49.xml"/><Relationship Id="rId123" Type="http://schemas.openxmlformats.org/officeDocument/2006/relationships/slide" Target="slides/slide50.xml"/><Relationship Id="rId124" Type="http://schemas.openxmlformats.org/officeDocument/2006/relationships/slide" Target="slides/slide51.xml"/><Relationship Id="rId125" Type="http://schemas.openxmlformats.org/officeDocument/2006/relationships/slide" Target="slides/slide52.xml"/><Relationship Id="rId126" Type="http://schemas.openxmlformats.org/officeDocument/2006/relationships/slide" Target="slides/slide53.xml"/><Relationship Id="rId129" Type="http://customschemas.google.com/relationships/presentationmetadata" Target="metadata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Relationship Id="rId134" Type="http://schemas.microsoft.com/office/2016/11/relationships/changesInfo" Target="changesInfos/changesInfo1.xml"/><Relationship Id="rId1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Romualdo Costa Filho" userId="a811325af1610333" providerId="LiveId" clId="{1A5078BE-E6DE-530E-AD2F-11A3B71CEA17}"/>
    <pc:docChg chg="addSld delSld modSld sldOrd">
      <pc:chgData name="José Romualdo Costa Filho" userId="a811325af1610333" providerId="LiveId" clId="{1A5078BE-E6DE-530E-AD2F-11A3B71CEA17}" dt="2026-09-20T14:37:41.504" v="28" actId="2696"/>
      <pc:docMkLst>
        <pc:docMk/>
      </pc:docMkLst>
      <pc:sldChg chg="addSp delSp modSp add mod modNotes">
        <pc:chgData name="José Romualdo Costa Filho" userId="a811325af1610333" providerId="LiveId" clId="{1A5078BE-E6DE-530E-AD2F-11A3B71CEA17}" dt="2026-09-20T14:33:32.507" v="25"/>
        <pc:sldMkLst>
          <pc:docMk/>
          <pc:sldMk cId="0" sldId="366"/>
        </pc:sldMkLst>
        <pc:spChg chg="add del mod">
          <ac:chgData name="José Romualdo Costa Filho" userId="a811325af1610333" providerId="LiveId" clId="{1A5078BE-E6DE-530E-AD2F-11A3B71CEA17}" dt="2026-09-20T14:33:32.507" v="25"/>
          <ac:spMkLst>
            <pc:docMk/>
            <pc:sldMk cId="0" sldId="366"/>
            <ac:spMk id="2" creationId="{538331B5-0080-C23B-6348-90B45541D937}"/>
          </ac:spMkLst>
        </pc:spChg>
      </pc:sldChg>
      <pc:sldChg chg="del">
        <pc:chgData name="José Romualdo Costa Filho" userId="a811325af1610333" providerId="LiveId" clId="{1A5078BE-E6DE-530E-AD2F-11A3B71CEA17}" dt="2026-09-20T14:37:39.876" v="26" actId="2696"/>
        <pc:sldMkLst>
          <pc:docMk/>
          <pc:sldMk cId="0" sldId="371"/>
        </pc:sldMkLst>
      </pc:sldChg>
      <pc:sldChg chg="del">
        <pc:chgData name="José Romualdo Costa Filho" userId="a811325af1610333" providerId="LiveId" clId="{1A5078BE-E6DE-530E-AD2F-11A3B71CEA17}" dt="2026-09-20T14:37:40.668" v="27" actId="2696"/>
        <pc:sldMkLst>
          <pc:docMk/>
          <pc:sldMk cId="0" sldId="372"/>
        </pc:sldMkLst>
      </pc:sldChg>
      <pc:sldChg chg="del">
        <pc:chgData name="José Romualdo Costa Filho" userId="a811325af1610333" providerId="LiveId" clId="{1A5078BE-E6DE-530E-AD2F-11A3B71CEA17}" dt="2026-09-20T14:37:41.504" v="28" actId="2696"/>
        <pc:sldMkLst>
          <pc:docMk/>
          <pc:sldMk cId="0" sldId="3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07a9137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g3f07a913747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5affc34e5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f5affc34e5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Manhã</a:t>
            </a:r>
            <a:r>
              <a:rPr dirty="0"/>
              <a:t>: </a:t>
            </a:r>
            <a:r>
              <a:rPr dirty="0" err="1"/>
              <a:t>Módulo</a:t>
            </a:r>
            <a:r>
              <a:rPr dirty="0"/>
              <a:t> 1 (</a:t>
            </a:r>
            <a:r>
              <a:rPr dirty="0" err="1"/>
              <a:t>este</a:t>
            </a:r>
            <a:r>
              <a:rPr dirty="0"/>
              <a:t> deck). Tarde: </a:t>
            </a:r>
            <a:r>
              <a:rPr dirty="0" err="1"/>
              <a:t>Módulo</a:t>
            </a:r>
            <a:r>
              <a:rPr dirty="0"/>
              <a:t> 2, </a:t>
            </a:r>
            <a:r>
              <a:rPr dirty="0" err="1"/>
              <a:t>conforme</a:t>
            </a:r>
            <a:r>
              <a:rPr dirty="0"/>
              <a:t> o </a:t>
            </a:r>
            <a:r>
              <a:rPr dirty="0" err="1"/>
              <a:t>guia</a:t>
            </a:r>
            <a:r>
              <a:rPr dirty="0"/>
              <a:t> do </a:t>
            </a:r>
            <a:r>
              <a:rPr dirty="0" err="1"/>
              <a:t>curso</a:t>
            </a:r>
            <a:r>
              <a:rPr dirty="0"/>
              <a:t>; </a:t>
            </a:r>
            <a:r>
              <a:rPr dirty="0" err="1"/>
              <a:t>conferir</a:t>
            </a:r>
            <a:r>
              <a:rPr dirty="0"/>
              <a:t> com a </a:t>
            </a:r>
            <a:r>
              <a:rPr dirty="0" err="1"/>
              <a:t>coordenação</a:t>
            </a:r>
            <a:r>
              <a:rPr dirty="0"/>
              <a:t> quem </a:t>
            </a:r>
            <a:r>
              <a:rPr dirty="0" err="1"/>
              <a:t>conduz</a:t>
            </a:r>
            <a:r>
              <a:rPr dirty="0"/>
              <a:t>. O </a:t>
            </a:r>
            <a:r>
              <a:rPr dirty="0" err="1"/>
              <a:t>guia</a:t>
            </a:r>
            <a:r>
              <a:rPr dirty="0"/>
              <a:t> </a:t>
            </a:r>
            <a:r>
              <a:rPr dirty="0" err="1"/>
              <a:t>diz</a:t>
            </a:r>
            <a:r>
              <a:rPr dirty="0"/>
              <a:t> 8h30; a agenda do professor </a:t>
            </a:r>
            <a:r>
              <a:rPr dirty="0" err="1"/>
              <a:t>diz</a:t>
            </a:r>
            <a:r>
              <a:rPr dirty="0"/>
              <a:t> 9h.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logo </a:t>
            </a:r>
            <a:r>
              <a:rPr dirty="0" err="1"/>
              <a:t>depois</a:t>
            </a:r>
            <a:r>
              <a:rPr dirty="0"/>
              <a:t> da agenda e </a:t>
            </a:r>
            <a:r>
              <a:rPr dirty="0" err="1"/>
              <a:t>voltar</a:t>
            </a:r>
            <a:r>
              <a:rPr dirty="0"/>
              <a:t> a </a:t>
            </a:r>
            <a:r>
              <a:rPr dirty="0" err="1"/>
              <a:t>ele</a:t>
            </a:r>
            <a:r>
              <a:rPr dirty="0"/>
              <a:t> no </a:t>
            </a:r>
            <a:r>
              <a:rPr dirty="0" err="1"/>
              <a:t>fechamento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checklist. </a:t>
            </a:r>
            <a:r>
              <a:rPr dirty="0" err="1"/>
              <a:t>Combinado</a:t>
            </a:r>
            <a:r>
              <a:rPr dirty="0"/>
              <a:t> com a Camila no </a:t>
            </a:r>
            <a:r>
              <a:rPr dirty="0" err="1"/>
              <a:t>alinhamento</a:t>
            </a:r>
            <a:r>
              <a:rPr dirty="0"/>
              <a:t> de 15/10: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, inclusive a </a:t>
            </a:r>
            <a:r>
              <a:rPr dirty="0" err="1"/>
              <a:t>liderança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5d7fd1e03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95d7fd1e03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5d7fd1e03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95d7fd1e03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Antes de </a:t>
            </a:r>
            <a:r>
              <a:rPr dirty="0" err="1"/>
              <a:t>apresentar</a:t>
            </a:r>
            <a:r>
              <a:rPr dirty="0"/>
              <a:t>, </a:t>
            </a:r>
            <a:r>
              <a:rPr dirty="0" err="1"/>
              <a:t>confirmar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da nota 5 do MEC: qual </a:t>
            </a:r>
            <a:r>
              <a:rPr dirty="0" err="1"/>
              <a:t>indicador</a:t>
            </a:r>
            <a:r>
              <a:rPr dirty="0"/>
              <a:t> (</a:t>
            </a:r>
            <a:r>
              <a:rPr dirty="0" err="1"/>
              <a:t>conceito</a:t>
            </a:r>
            <a:r>
              <a:rPr dirty="0"/>
              <a:t> de </a:t>
            </a: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CPC),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 e para quais </a:t>
            </a:r>
            <a:r>
              <a:rPr dirty="0" err="1"/>
              <a:t>cursos</a:t>
            </a:r>
            <a:r>
              <a:rPr dirty="0"/>
              <a:t>. O slide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e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localizada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Mandar os dois links no chat do Meet. Pedir que todos abram a página e cliquem em Salvar e testar antes do prompt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Ligação direta com o harness e com a política de uso do Afonso.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0" name="Google Shape;148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É heurística de alocação de esforço, publicada pela BCG em 2024: as empresas que geram valor com IA põem cerca de 10% dos recursos em algoritmo, 20% em tecnologia e dados e 70% em pessoas e processos. Não prova que o modelo seja 10% de qualquer projeto. O recado para a sala: vocês, das áreas de negócio, estão nos 70%.</a:t>
            </a:r>
          </a:p>
        </p:txBody>
      </p:sp>
      <p:sp>
        <p:nvSpPr>
          <p:cNvPr id="1481" name="Google Shape;148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 cinco causas são uma síntese minha a partir dos relatórios citados nos slides anteriores. Nenhum estudo único traz essa lista. Quase nenhuma é sobre o modelo: é negócio, dado, integração, dono e verificação.</a:t>
            </a:r>
          </a:p>
        </p:txBody>
      </p:sp>
      <p:sp>
        <p:nvSpPr>
          <p:cNvPr id="516" name="Google Shape;51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Cada número tem escopo. Bradesco: 118% a mais de funcionalidades de negócio entregues pela TI entre o fim de 2023 e o fim de 2025, numa transformação que incluiu IA, mais desenvolvedores e métodos ágeis; o lead time caiu 43%. Klarna: US$ 40 milhões é estimativa de melhoria de lucro para 2024, divulgada em fevereiro daquele ano, antes de qualquer resultado apurado. Merck: redação do relatório de estudo clínico, primeiro rascunho de 180 para 80 horas e erros 50% menores. Nos três casos o ganho vem de processo redesenhado, e o número é da própria empresa.</a:t>
            </a:r>
          </a:p>
        </p:txBody>
      </p:sp>
      <p:sp>
        <p:nvSpPr>
          <p:cNvPr id="533" name="Google Shape;533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Ligar com o red team do encontro anterior: a pergunta pode pedir objeções.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2 · 15h55. Entregar o link do n8n no chat. A turma constrói a página com os cinco prompts; quem travar usa o index.html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ferramenta de IA, sozinha, raramente é vantagem, porque o concorrente pode comprar a mesma. A vantagem tende a vir de aplicar IA sobre recursos que só a empresa tem, e dado é um deles, ao lado de processo, integração, confiança, talento e governança (Barney, 1991).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workflow aberto no n8n: Webhook → Code → Modelo → Respond. Os três workflows têm a mesma espinha; o que muda é o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pessoa usa a ferramenta que tem (ChatGPT, Claude, Gemini, Copilot). Peça sempre o arquivo completo, não o trecho.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30 relatos estão no arquivo de referência e no material do Afonso.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Entregar a URL do n8n no chat. Se o CORS falhar, conferir Allowed Origins no nó Webhook.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1 · 15h10. Afonso já apresentou o CREATE no encontro 1: partir dele e subir um degrau (níveis 0 a 3, estratégias e verificação).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exemplo Triagem de relatos do SAC.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290" name="Google Shape;29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consulta, não conteúdo para decorar. Em coral, o que usamos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Rode ao vivo. Saída típica: galpão classe A, 32.000 m², inquilino AAA até 2031, R$ 134 mi, cap de 8,0%. O modelo repete o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dúvidas que aparecem aqui (área, contrato, inquilino) viram a pauta do nível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já costumam aparecer a diferença de área (32.000 x 28.450 m²) e a alienação fiduciária. Deixe a sala descobrir.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o chain-of-thought que a ementa pede, no enquadramento de justificativa verificável: audita-se o trecho citado e a conta, não o texto da explicação (Wei et al., 2022; OpenAI, 2025). Anexe matrícula, contrato, laudo e clipping. Compare a lista com a de quem usou outra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Ligação com a contribuição 03: teasers e propostas consomem horas de sênior. Com os dois teasers do PDF 06, peça o teaser do Galpão Atlas na mesma voz, com o bloco Pontos de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momento para chamar quem é de Capital Markets ou Industrial &amp; Logística e perguntar se as objeções soam como as de um comitê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Self-refine melhora forma e estrutura. Para conferir fato, o mesmo modelo tende a repetir o próprio erro: o próximo slide resolve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Reduz alucinação, sem garantir acerto (Dhuliawala et al.,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Passos 1, 2 e 4 no mesmo chat. O passo 3 em janela nova, com os PDFs anexados. A independência é parcial, porque o modelo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Quem não tiver documento seguro à mão usa o caso do galpão. Sugestões por família: contratos (datas críticas com cláusula citada), avaliação (premissas rotuladas como fato ou hipótese), material comercial (teaser na voz da casa), finanças (conferir premissas de um fluxo). Cobre o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AVCB costuma cair aqui: nenhum documento comprova a renovação, então vira NÃO LOCALIZADO e pergunta ao proprietário.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0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5" name="Google Shape;178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Voltar ao slide de entregáveis como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07a913747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7" name="Google Shape;1797;g3f07a913747_0_172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Lembrar a turma: os quatro artefatos do dia vão para a atividade do Dia 1 na Adalove.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Essa e a distincao mais importante da manha. A maioria so conhece o assistente. O salto de valor esta no copiloto e no agente. Guardem os quatro 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Nao vou dar a resposta de cara. Quero ouvir voces. O que diferencia os niveis e uma pergunta so: quanta decisao voce esta entregando? Esse e o fio do dia inteiro. (Respostas: automacao, assistente, copiloto, agente.)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erro clássico é começar perguntando onde usar IA. A pergunta certa é qual processo dói e como ele funciona hoje, com número. Quando se mapeia decisão, regra e exceção, o lugar da IA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o dia deixa de ser sobre mim e passa a ser sobre voces. Escolham um processo que incomoda de verdade e, de preferencia, que toque um recurso unico. Ele vai atravessar a engenharia de prompt, a priorizacao e virar prototipo 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grupos usam o FLUXO ATUAL e a DECISÃO QUE SE REPETE da ficha de diagnóstico da manhã. O ponto do passo 2 é o (?) e o DADO FALTANTE: o Copilot não conhece o Tasy nem o fluxo de vocês, e o que ele inventar vira teste do prompt da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qualquer conta, o olho. Todo projeto cai num desses quatro quadrantes. Comecem pelos quick wins para gerar confianca e dado, e tratem o moon shot com o respeito de um programa, nao de um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transforma discussao de opiniao em numero. Alcance vezes impacto vezes confianca, dividido pelo esforco. O poder nao esta na conta exata, esta em obrigar o grupo a olhar os quatro fatores em vez de brigar por gosto.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e ICE vieram do mundo de produto. Para IA sao incompletos. Um projeto pode ter RICE alto e morrer por falta de dado ou por risco de LGPD. E ha um criterio que nenhuma conta captura: constroi vantagem sustentavel? Dois projetos com mesmo RICE, aquele que se apoia na base de medidores vale mais no longo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Cuidado com a tentação de escolher só quick win. Sem investir na base de dados e na plataforma, os projetos transformacionais não saem, e é essa base que vira recurso próprio. Priorizem olhando a carteira, as dependências de dado e sistema e a capacidade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Peguem o processo, joguem na matriz e calculem o RICE. A precisão importa menos que a conversa que a nota provoca. Cada nota sem evidência vira hipótese, e ela alimenta o stress test das 15h.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">
  <p:cSld name="CUSTOM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Marcadores 1">
  <p:cSld name="TITLE_AND_BODY_2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07a913747_0_159"/>
          <p:cNvSpPr txBox="1">
            <a:spLocks noGrp="1"/>
          </p:cNvSpPr>
          <p:nvPr>
            <p:ph type="sldNum" idx="12"/>
          </p:nvPr>
        </p:nvSpPr>
        <p:spPr>
          <a:xfrm>
            <a:off x="4500563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3" name="Google Shape;13;g3f07a913747_0_159"/>
          <p:cNvSpPr/>
          <p:nvPr/>
        </p:nvSpPr>
        <p:spPr>
          <a:xfrm>
            <a:off x="0" y="0"/>
            <a:ext cx="29727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" name="Google Shape;14;g3f07a913747_0_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1669" y="4317725"/>
            <a:ext cx="1019604" cy="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g3f07a913747_0_159"/>
          <p:cNvPicPr preferRelativeResize="0"/>
          <p:nvPr/>
        </p:nvPicPr>
        <p:blipFill rotWithShape="1">
          <a:blip r:embed="rId3">
            <a:alphaModFix/>
          </a:blip>
          <a:srcRect r="9886"/>
          <a:stretch/>
        </p:blipFill>
        <p:spPr>
          <a:xfrm>
            <a:off x="-69481" y="2239663"/>
            <a:ext cx="3041913" cy="207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AND_BODY_1_2">
    <p:bg>
      <p:bgPr>
        <a:solidFill>
          <a:srgbClr val="2E264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 2 1 1 1 1 1">
  <p:cSld name="One column text 1 2 1 1 1 1">
    <p:bg>
      <p:bgPr>
        <a:solidFill>
          <a:srgbClr val="E6EAEB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f07a913747_0_397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07a913747_0_6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ITLE_AND_BODY_1_1">
    <p:bg>
      <p:bgPr>
        <a:solidFill>
          <a:srgbClr val="E6EAEB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f07a913747_0_243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1_Título 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"/>
          <p:cNvSpPr txBox="1">
            <a:spLocks noGrp="1"/>
          </p:cNvSpPr>
          <p:nvPr>
            <p:ph type="body" idx="1"/>
          </p:nvPr>
        </p:nvSpPr>
        <p:spPr>
          <a:xfrm>
            <a:off x="450502" y="4447449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34300" rIns="34300" bIns="343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800"/>
              <a:buFont typeface="Helvetica Neue"/>
              <a:buNone/>
              <a:defRPr sz="140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2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8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2"/>
          <p:cNvSpPr txBox="1">
            <a:spLocks noGrp="1"/>
          </p:cNvSpPr>
          <p:nvPr>
            <p:ph type="body" idx="2"/>
          </p:nvPr>
        </p:nvSpPr>
        <p:spPr>
          <a:xfrm>
            <a:off x="450503" y="2708697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228600" lvl="0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1pPr>
            <a:lvl2pPr marL="457200" lvl="1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2pPr>
            <a:lvl3pPr marL="685800" lvl="2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3pPr>
            <a:lvl4pPr marL="914400" lvl="3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4pPr>
            <a:lvl5pPr marL="1143000" lvl="4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2"/>
          <p:cNvSpPr txBox="1">
            <a:spLocks noGrp="1"/>
          </p:cNvSpPr>
          <p:nvPr>
            <p:ph type="sldNum" idx="12"/>
          </p:nvPr>
        </p:nvSpPr>
        <p:spPr>
          <a:xfrm>
            <a:off x="4500563" y="4651515"/>
            <a:ext cx="1383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14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97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2286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457200" lvl="1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685800" lvl="2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914400" lvl="3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1143000" lvl="4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1371600" lvl="5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1600200" lvl="6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1828800" lvl="7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2057400" lvl="8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817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28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jpe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19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8.xml"/><Relationship Id="rId5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8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Relationship Id="rId4" Type="http://schemas.openxmlformats.org/officeDocument/2006/relationships/hyperlink" Target="https://www.microsoft.com/en-us/worklab/work-trend-index/2025-the-year-the-frontier-firm-is-born" TargetMode="External"/><Relationship Id="rId5" Type="http://schemas.openxmlformats.org/officeDocument/2006/relationships/hyperlink" Target="https://www.gartner.com/en/articles/3-bold-and-actionable-predictions-for-the-future-of-genai" TargetMode="External"/><Relationship Id="rId6" Type="http://schemas.openxmlformats.org/officeDocument/2006/relationships/hyperlink" Target="https://www.microsoft.com/en-us/security/blog/2026/02/10/80-of-fortune-500-use-active-ai-agents-observability-governance-and-security-shape-the-new-frontier/" TargetMode="External"/><Relationship Id="rId7" Type="http://schemas.openxmlformats.org/officeDocument/2006/relationships/hyperlink" Target="https://www.mckinsey.com/capabilities/quantumblack/our-insights/seizing-the-agentic-ai-advantage" TargetMode="External"/><Relationship Id="rId8" Type="http://schemas.openxmlformats.org/officeDocument/2006/relationships/hyperlink" Target="https://www.cio.com/article/3850763/88-of-ai-pilots-fail-to-reach-production-but-thats-not-all-on-it.html" TargetMode="External"/><Relationship Id="rId9" Type="http://schemas.openxmlformats.org/officeDocument/2006/relationships/hyperlink" Target="https://www.deloitte.com/us/en/about/press-room/state-of-ai-report-2026.html" TargetMode="External"/><Relationship Id="rId10" Type="http://schemas.openxmlformats.org/officeDocument/2006/relationships/hyperlink" Target="https://www.bcg.com/press/24october2024-ai-adoption-in-2024-74-of-companies-struggle-to-achieve-and-scale-value" TargetMode="External"/><Relationship Id="rId11" Type="http://schemas.openxmlformats.org/officeDocument/2006/relationships/hyperlink" Target="https://www.nber.org/papers/w25148" TargetMode="External"/><Relationship Id="rId12" Type="http://schemas.openxmlformats.org/officeDocument/2006/relationships/hyperlink" Target="https://www.merck.com/news/merck-expands-innovative-internal-generative-ai-solutions-helping-to-deliver-medicines-to-patients-faster/" TargetMode="External"/><Relationship Id="rId13" Type="http://schemas.openxmlformats.org/officeDocument/2006/relationships/hyperlink" Target="https://www.prnewswire.com/news-releases/klarna-ai-assistant-handles-two-thirds-of-customer-service-chats-in-its-first-month-302072740.html" TargetMode="External"/><Relationship Id="rId14" Type="http://schemas.openxmlformats.org/officeDocument/2006/relationships/hyperlink" Target="https://filemanager-cdn.mziq.com/published/80f2e993-0a30-421a-9470-a4d5c8ad5e9f/401fefb6-866a-4e7e-95eb-939966d0e73d_bradesco_4q25_earnings_presentation.pdf" TargetMode="External"/><Relationship Id="rId15" Type="http://schemas.openxmlformats.org/officeDocument/2006/relationships/hyperlink" Target="https://www.infomoney.com.br/business/conta-da-ia-chega-as-empresas-e-forca-limites-para-funcionarios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07a913747_0_0"/>
          <p:cNvSpPr txBox="1"/>
          <p:nvPr/>
        </p:nvSpPr>
        <p:spPr>
          <a:xfrm>
            <a:off x="3073338" y="2096675"/>
            <a:ext cx="53895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Laboratório Prático: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 dirty="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Ferramentas e Aplicação Tática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29;g3f07a913747_0_0"/>
          <p:cNvSpPr txBox="1"/>
          <p:nvPr/>
        </p:nvSpPr>
        <p:spPr>
          <a:xfrm>
            <a:off x="2355400" y="3526275"/>
            <a:ext cx="6107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Encontro 2 · AI for Business · Sindusfarma · 22/10/2026</a:t>
            </a: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" name="Google Shape;30;g3f07a913747_0_0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1" name="Google Shape;31;g3f07a913747_0_0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8"/>
          <p:cNvSpPr/>
          <p:nvPr/>
        </p:nvSpPr>
        <p:spPr>
          <a:xfrm>
            <a:off x="6023300" y="-94950"/>
            <a:ext cx="3120750" cy="53971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1400"/>
            </a:pPr>
            <a:endParaRPr sz="900"/>
          </a:p>
        </p:txBody>
      </p:sp>
      <p:sp>
        <p:nvSpPr>
          <p:cNvPr id="505" name="Google Shape;505;p88"/>
          <p:cNvSpPr/>
          <p:nvPr/>
        </p:nvSpPr>
        <p:spPr>
          <a:xfrm>
            <a:off x="2066543" y="1078992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Engenharia de prompt para executivos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6" name="Google Shape;506;p88"/>
          <p:cNvSpPr/>
          <p:nvPr/>
        </p:nvSpPr>
        <p:spPr>
          <a:xfrm>
            <a:off x="640080" y="1078992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15:10 - 15:35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7" name="Google Shape;507;p88"/>
          <p:cNvSpPr txBox="1"/>
          <p:nvPr/>
        </p:nvSpPr>
        <p:spPr>
          <a:xfrm>
            <a:off x="3291840" y="2093976"/>
            <a:ext cx="835800" cy="23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000" tIns="43000" rIns="43000" bIns="43000" anchor="t" anchorCtr="0">
            <a:spAutoFit/>
          </a:bodyPr>
          <a:lstStyle/>
          <a:p>
            <a:pPr>
              <a:lnSpc>
                <a:spcPct val="115000"/>
              </a:lnSpc>
              <a:buSzPts val="1700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10min: Break</a:t>
            </a:r>
            <a:endParaRPr sz="9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8" name="Google Shape;508;p88"/>
          <p:cNvSpPr/>
          <p:nvPr/>
        </p:nvSpPr>
        <p:spPr>
          <a:xfrm>
            <a:off x="640080" y="141732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15:35 - 15:55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9" name="Google Shape;509;p88"/>
          <p:cNvSpPr/>
          <p:nvPr/>
        </p:nvSpPr>
        <p:spPr>
          <a:xfrm>
            <a:off x="2066543" y="141732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1 · Prompt versionado e verificado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0" name="Google Shape;510;p88"/>
          <p:cNvSpPr/>
          <p:nvPr/>
        </p:nvSpPr>
        <p:spPr>
          <a:xfrm>
            <a:off x="640080" y="239572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16:30 - 16:55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1" name="Google Shape;511;p88"/>
          <p:cNvSpPr/>
          <p:nvPr/>
        </p:nvSpPr>
        <p:spPr>
          <a:xfrm>
            <a:off x="2066543" y="239572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2 · Do relatório à decisão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12" name="Google Shape;512;p88"/>
          <p:cNvCxnSpPr/>
          <p:nvPr/>
        </p:nvCxnSpPr>
        <p:spPr>
          <a:xfrm>
            <a:off x="1014984" y="2203704"/>
            <a:ext cx="2276856" cy="600"/>
          </a:xfrm>
          <a:prstGeom prst="straightConnector1">
            <a:avLst/>
          </a:prstGeom>
          <a:noFill/>
          <a:ln w="9525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Google Shape;513;p88"/>
          <p:cNvSpPr/>
          <p:nvPr/>
        </p:nvSpPr>
        <p:spPr>
          <a:xfrm>
            <a:off x="2066543" y="740664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Abertura e ponte com o encontro 1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4" name="Google Shape;514;p88"/>
          <p:cNvSpPr/>
          <p:nvPr/>
        </p:nvSpPr>
        <p:spPr>
          <a:xfrm>
            <a:off x="640080" y="740664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15:00 - 15:10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6" name="Google Shape;516;p88"/>
          <p:cNvSpPr/>
          <p:nvPr/>
        </p:nvSpPr>
        <p:spPr>
          <a:xfrm>
            <a:off x="640080" y="2734056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16:55 - 17:20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7" name="Google Shape;517;p88"/>
          <p:cNvSpPr/>
          <p:nvPr/>
        </p:nvSpPr>
        <p:spPr>
          <a:xfrm>
            <a:off x="2066543" y="2734056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Mapeamento de oportunidades e casos de uso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8" name="Google Shape;518;p88"/>
          <p:cNvSpPr/>
          <p:nvPr/>
        </p:nvSpPr>
        <p:spPr>
          <a:xfrm>
            <a:off x="640080" y="30708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17:20 - 17:50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9" name="Google Shape;519;p88"/>
          <p:cNvSpPr/>
          <p:nvPr/>
        </p:nvSpPr>
        <p:spPr>
          <a:xfrm>
            <a:off x="2066543" y="30708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3 · Matriz impacto × viabilidade em grupos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88"/>
          <p:cNvSpPr/>
          <p:nvPr/>
        </p:nvSpPr>
        <p:spPr>
          <a:xfrm>
            <a:off x="640080" y="175564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82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15:55 - 16:20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6" name="Google Shape;526;p88"/>
          <p:cNvSpPr/>
          <p:nvPr/>
        </p:nvSpPr>
        <p:spPr>
          <a:xfrm>
            <a:off x="2066543" y="175564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Produtividade executiva e análise de informação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7" name="Google Shape;527;p88"/>
          <p:cNvSpPr/>
          <p:nvPr/>
        </p:nvSpPr>
        <p:spPr>
          <a:xfrm>
            <a:off x="640080" y="34092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17:50 - 18:00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8" name="Google Shape;528;p88"/>
          <p:cNvSpPr/>
          <p:nvPr/>
        </p:nvSpPr>
        <p:spPr>
          <a:xfrm>
            <a:off x="2066543" y="34092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Fechamento e ponte para o encontro 3 (27/10)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9" name="Google Shape;529;p88"/>
          <p:cNvSpPr txBox="1"/>
          <p:nvPr/>
        </p:nvSpPr>
        <p:spPr>
          <a:xfrm>
            <a:off x="0" y="4745438"/>
            <a:ext cx="239715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SzPts val="1600"/>
            </a:pPr>
            <a:r>
              <a:rPr lang="pt-BR" sz="900" i="1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*Sujeito a alteração sem aviso prévio.</a:t>
            </a:r>
            <a:endParaRPr sz="900" i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1" name="Google Shape;531;p88"/>
          <p:cNvSpPr txBox="1"/>
          <p:nvPr/>
        </p:nvSpPr>
        <p:spPr>
          <a:xfrm>
            <a:off x="7024225" y="2310075"/>
            <a:ext cx="1396200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DIA 22/10</a:t>
            </a:r>
            <a:endParaRPr sz="2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2" name="Google Shape;532;p88"/>
          <p:cNvSpPr/>
          <p:nvPr/>
        </p:nvSpPr>
        <p:spPr>
          <a:xfrm>
            <a:off x="280263" y="644034"/>
            <a:ext cx="1188750" cy="27450"/>
          </a:xfrm>
          <a:prstGeom prst="rect">
            <a:avLst/>
          </a:prstGeom>
          <a:solidFill>
            <a:srgbClr val="FF4545"/>
          </a:solidFill>
          <a:ln w="12700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endParaRPr sz="900"/>
          </a:p>
        </p:txBody>
      </p:sp>
      <p:sp>
        <p:nvSpPr>
          <p:cNvPr id="533" name="Google Shape;533;p88"/>
          <p:cNvSpPr txBox="1"/>
          <p:nvPr/>
        </p:nvSpPr>
        <p:spPr>
          <a:xfrm>
            <a:off x="280263" y="213088"/>
            <a:ext cx="5072100" cy="48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AGENDA</a:t>
            </a:r>
            <a:endParaRPr sz="12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43" name="Picture 54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ENTREGÁVEIS DO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cada um leva pronto às 18h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Prompt versionado · 15h55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área, com dado fictício ou público.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Achados conferidos · 16h20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cada ponto com o trecho citado e o veredito: fato, suposição ou não localizado.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Parecer com cenários · 16h55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recomendação, estressada por um red team de 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Caso de uso priorizado · 17h50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Dores da sua área convertidas em casos de uso, na matriz impacto × viabilidade, com um caso escolhido para o encontro 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Tudo sai de uma tarefa real da sua área. O caso escolhido hoje vira o business case dos encontros 3 e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0" y="0"/>
            <a:ext cx="29718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164983" y="748084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59714" y="7480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PROF. ORIENTADOR &amp; INSTRUTOR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Inteli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164983" y="13969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659714" y="13969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PROFESSOR MBA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Mackenzie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164983" y="20446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659714" y="20446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TRANSFORMAÇÃO DIGITAL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655221" y="27292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TECH ADVISOR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FOOTSTATS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655221" y="33781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EM IA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ALLOS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655221" y="402575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SÓCIO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Askklog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161358" y="273191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61358" y="3380823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4161358" y="402972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441014" y="745024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DOUTORANDO EM ADM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441014" y="139392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MBA Digital Transformation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MIT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441014" y="204150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MESTRE GESTÃO DE PROJETOS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7441014" y="2690413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ANALISTA DE SISTEMAS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946840" y="745484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946840" y="1394390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946845" y="2046708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946845" y="2695613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7" name="Google Shape;57;p1"/>
          <p:cNvCxnSpPr/>
          <p:nvPr/>
        </p:nvCxnSpPr>
        <p:spPr>
          <a:xfrm>
            <a:off x="37409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"/>
          <p:cNvCxnSpPr/>
          <p:nvPr/>
        </p:nvCxnSpPr>
        <p:spPr>
          <a:xfrm>
            <a:off x="65222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"/>
          <p:cNvSpPr txBox="1"/>
          <p:nvPr/>
        </p:nvSpPr>
        <p:spPr>
          <a:xfrm>
            <a:off x="4163112" y="238813"/>
            <a:ext cx="1688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PROFISSIONAL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961938" y="238813"/>
            <a:ext cx="1500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ACADÊMICO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56621" y="2778400"/>
            <a:ext cx="19365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JOSÉ ROMUALDO</a:t>
            </a:r>
            <a:endParaRPr sz="1500" b="1" i="0" u="none" strike="noStrike" cap="non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34" y="31433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 title="IMG_8300.jpeg"/>
          <p:cNvPicPr preferRelativeResize="0"/>
          <p:nvPr/>
        </p:nvPicPr>
        <p:blipFill rotWithShape="1">
          <a:blip r:embed="rId4">
            <a:alphaModFix/>
          </a:blip>
          <a:srcRect t="25454" b="25454"/>
          <a:stretch/>
        </p:blipFill>
        <p:spPr>
          <a:xfrm>
            <a:off x="903600" y="591063"/>
            <a:ext cx="2383500" cy="2080200"/>
          </a:xfrm>
          <a:prstGeom prst="rect">
            <a:avLst/>
          </a:prstGeom>
          <a:noFill/>
          <a:ln w="143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9525" dir="5400000" algn="bl" rotWithShape="0">
              <a:srgbClr val="000000">
                <a:alpha val="49411"/>
              </a:srgbClr>
            </a:outerShdw>
          </a:effectLst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600" y="3143375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309360" y="4776450"/>
            <a:ext cx="2743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1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9800" y="4318000"/>
            <a:ext cx="10160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 descr="Maleta profissional"/>
          <p:cNvSpPr/>
          <p:nvPr/>
        </p:nvSpPr>
        <p:spPr>
          <a:xfrm>
            <a:off x="42862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8" name="Google Shape;68;p1" descr="Maleta profissional"/>
          <p:cNvSpPr/>
          <p:nvPr/>
        </p:nvSpPr>
        <p:spPr>
          <a:xfrm>
            <a:off x="42862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9" name="Google Shape;69;p1" descr="Maleta profissional"/>
          <p:cNvSpPr/>
          <p:nvPr/>
        </p:nvSpPr>
        <p:spPr>
          <a:xfrm>
            <a:off x="42862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" name="Google Shape;70;p1" descr="Maleta profissional"/>
          <p:cNvSpPr/>
          <p:nvPr/>
        </p:nvSpPr>
        <p:spPr>
          <a:xfrm>
            <a:off x="4286250" y="28511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Google Shape;71;p1" descr="Maleta profissional"/>
          <p:cNvSpPr/>
          <p:nvPr/>
        </p:nvSpPr>
        <p:spPr>
          <a:xfrm>
            <a:off x="4286250" y="34988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" name="Google Shape;72;p1" descr="Maleta profissional"/>
          <p:cNvSpPr/>
          <p:nvPr/>
        </p:nvSpPr>
        <p:spPr>
          <a:xfrm>
            <a:off x="4286250" y="41465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" name="Google Shape;73;p1" descr="Capelo acadêmico"/>
          <p:cNvSpPr/>
          <p:nvPr/>
        </p:nvSpPr>
        <p:spPr>
          <a:xfrm>
            <a:off x="70675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" name="Google Shape;74;p1" descr="Capelo acadêmico"/>
          <p:cNvSpPr/>
          <p:nvPr/>
        </p:nvSpPr>
        <p:spPr>
          <a:xfrm>
            <a:off x="70675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5" name="Google Shape;75;p1" descr="Capelo acadêmico"/>
          <p:cNvSpPr/>
          <p:nvPr/>
        </p:nvSpPr>
        <p:spPr>
          <a:xfrm>
            <a:off x="70675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6" name="Google Shape;76;p1" descr="Capelo acadêmico"/>
          <p:cNvSpPr/>
          <p:nvPr/>
        </p:nvSpPr>
        <p:spPr>
          <a:xfrm>
            <a:off x="7067550" y="28130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5"/>
          <p:cNvSpPr txBox="1">
            <a:spLocks noGrp="1"/>
          </p:cNvSpPr>
          <p:nvPr>
            <p:ph type="ctrTitle" idx="4294967295"/>
          </p:nvPr>
        </p:nvSpPr>
        <p:spPr>
          <a:xfrm>
            <a:off x="5101125" y="1675163"/>
            <a:ext cx="330375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SzPts val="2000"/>
            </a:pP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Somos uma organização sem fins lucrativos,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lang="pt-BR" sz="1300">
                <a:solidFill>
                  <a:srgbClr val="2C233B"/>
                </a:solidFill>
                <a:latin typeface="Manrope Light"/>
                <a:ea typeface="Manrope Light"/>
                <a:cs typeface="Manrope Light"/>
                <a:sym typeface="Manrope Light"/>
              </a:rPr>
              <a:t>fundada por líderes do setor privado do Brasil, com o propósito de criar um instituto de tecnologia de excelência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, </a:t>
            </a: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comprometido em formar os futuros líderes de tecnologia que vão revolucionar a América Latina. </a:t>
            </a: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lnSpc>
                <a:spcPct val="150000"/>
              </a:lnSpc>
              <a:buSzPts val="2000"/>
            </a:pP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65"/>
          <p:cNvSpPr txBox="1"/>
          <p:nvPr/>
        </p:nvSpPr>
        <p:spPr>
          <a:xfrm>
            <a:off x="5031350" y="1013357"/>
            <a:ext cx="3740550" cy="73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457200">
              <a:lnSpc>
                <a:spcPct val="115000"/>
              </a:lnSpc>
              <a:buSzPts val="9600"/>
            </a:pPr>
            <a:r>
              <a:rPr lang="pt-BR" sz="3100">
                <a:solidFill>
                  <a:srgbClr val="2C233B"/>
                </a:solidFill>
                <a:latin typeface="Platypi"/>
                <a:ea typeface="Platypi"/>
                <a:cs typeface="Platypi"/>
                <a:sym typeface="Platypi"/>
              </a:rPr>
              <a:t>QUEM SOMOS</a:t>
            </a:r>
            <a:endParaRPr sz="3100">
              <a:solidFill>
                <a:srgbClr val="2C233B"/>
              </a:solidFill>
              <a:latin typeface="Platypi"/>
              <a:ea typeface="Platypi"/>
              <a:cs typeface="Platypi"/>
              <a:sym typeface="Platypi"/>
            </a:endParaRPr>
          </a:p>
        </p:txBody>
      </p:sp>
      <p:pic>
        <p:nvPicPr>
          <p:cNvPr id="274" name="Google Shape;274;p65"/>
          <p:cNvPicPr preferRelativeResize="0"/>
          <p:nvPr/>
        </p:nvPicPr>
        <p:blipFill rotWithShape="1">
          <a:blip r:embed="rId3">
            <a:alphaModFix/>
          </a:blip>
          <a:srcRect t="9357" b="9349"/>
          <a:stretch/>
        </p:blipFill>
        <p:spPr>
          <a:xfrm>
            <a:off x="0" y="0"/>
            <a:ext cx="40209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grpSp>
        <p:nvGrpSpPr>
          <p:cNvPr id="275" name="Google Shape;275;p65"/>
          <p:cNvGrpSpPr/>
          <p:nvPr/>
        </p:nvGrpSpPr>
        <p:grpSpPr>
          <a:xfrm>
            <a:off x="7855100" y="171375"/>
            <a:ext cx="1755600" cy="303600"/>
            <a:chOff x="15710199" y="342750"/>
            <a:chExt cx="3511200" cy="607200"/>
          </a:xfrm>
        </p:grpSpPr>
        <p:sp>
          <p:nvSpPr>
            <p:cNvPr id="276" name="Google Shape;276;p65"/>
            <p:cNvSpPr/>
            <p:nvPr/>
          </p:nvSpPr>
          <p:spPr>
            <a:xfrm>
              <a:off x="15710199" y="342750"/>
              <a:ext cx="3511200" cy="60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>
              <a:outerShdw blurRad="12977" dist="4326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0375" tIns="10375" rIns="10375" bIns="10375" anchor="ctr" anchorCtr="0">
              <a:noAutofit/>
            </a:bodyPr>
            <a:lstStyle/>
            <a:p>
              <a:pPr algn="ctr" defTabSz="457200"/>
              <a:endParaRPr sz="159"/>
            </a:p>
          </p:txBody>
        </p:sp>
        <p:pic>
          <p:nvPicPr>
            <p:cNvPr id="277" name="Google Shape;277;p65" title="AF_Inteli_Exec_Positiva.png"/>
            <p:cNvPicPr preferRelativeResize="0"/>
            <p:nvPr/>
          </p:nvPicPr>
          <p:blipFill rotWithShape="1">
            <a:blip r:embed="rId4">
              <a:alphaModFix/>
            </a:blip>
            <a:srcRect l="25000" t="24965" r="24556" b="39431"/>
            <a:stretch/>
          </p:blipFill>
          <p:spPr>
            <a:xfrm>
              <a:off x="17051053" y="467577"/>
              <a:ext cx="827474" cy="328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8"/>
          <p:cNvSpPr txBox="1"/>
          <p:nvPr/>
        </p:nvSpPr>
        <p:spPr>
          <a:xfrm>
            <a:off x="287838" y="348900"/>
            <a:ext cx="39270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3600"/>
            </a:pPr>
            <a:r>
              <a:rPr lang="pt-BR" sz="24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PORTFÓLIO DE CURSOS</a:t>
            </a:r>
            <a:endParaRPr sz="24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" name="Google Shape;334;p68"/>
          <p:cNvSpPr/>
          <p:nvPr/>
        </p:nvSpPr>
        <p:spPr>
          <a:xfrm>
            <a:off x="287838" y="2012700"/>
            <a:ext cx="2776800" cy="445200"/>
          </a:xfrm>
          <a:prstGeom prst="rect">
            <a:avLst/>
          </a:prstGeom>
          <a:solidFill>
            <a:srgbClr val="89CEA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GRADUAÇÃO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" name="Google Shape;335;p68"/>
          <p:cNvSpPr/>
          <p:nvPr/>
        </p:nvSpPr>
        <p:spPr>
          <a:xfrm>
            <a:off x="3183600" y="2012700"/>
            <a:ext cx="2776800" cy="445200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PÓS-GRADUAÇÃO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6" name="Google Shape;336;p68"/>
          <p:cNvSpPr/>
          <p:nvPr/>
        </p:nvSpPr>
        <p:spPr>
          <a:xfrm>
            <a:off x="6079363" y="2012700"/>
            <a:ext cx="2776800" cy="445200"/>
          </a:xfrm>
          <a:prstGeom prst="rect">
            <a:avLst/>
          </a:prstGeom>
          <a:solidFill>
            <a:srgbClr val="90A5E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&amp; ENSINO BÁSICO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7" name="Google Shape;337;p68"/>
          <p:cNvSpPr/>
          <p:nvPr/>
        </p:nvSpPr>
        <p:spPr>
          <a:xfrm>
            <a:off x="3183600" y="3046222"/>
            <a:ext cx="2776800" cy="4452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EXECUTIVA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68"/>
          <p:cNvSpPr/>
          <p:nvPr/>
        </p:nvSpPr>
        <p:spPr>
          <a:xfrm>
            <a:off x="287838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Ciência da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68"/>
          <p:cNvSpPr/>
          <p:nvPr/>
        </p:nvSpPr>
        <p:spPr>
          <a:xfrm>
            <a:off x="287836" y="29691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Software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68"/>
          <p:cNvSpPr/>
          <p:nvPr/>
        </p:nvSpPr>
        <p:spPr>
          <a:xfrm>
            <a:off x="287838" y="3414338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p68"/>
          <p:cNvSpPr/>
          <p:nvPr/>
        </p:nvSpPr>
        <p:spPr>
          <a:xfrm>
            <a:off x="287836" y="38540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de Informação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p68"/>
          <p:cNvSpPr/>
          <p:nvPr/>
        </p:nvSpPr>
        <p:spPr>
          <a:xfrm>
            <a:off x="287836" y="42992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ADM Tech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p68"/>
          <p:cNvSpPr/>
          <p:nvPr/>
        </p:nvSpPr>
        <p:spPr>
          <a:xfrm>
            <a:off x="3183600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MBA em IA e Dados para Negócios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p68"/>
          <p:cNvSpPr/>
          <p:nvPr/>
        </p:nvSpPr>
        <p:spPr>
          <a:xfrm>
            <a:off x="3183600" y="355435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Data Science for Decision Makers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3183599" y="39940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Compass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6" name="Google Shape;346;p68"/>
          <p:cNvSpPr/>
          <p:nvPr/>
        </p:nvSpPr>
        <p:spPr>
          <a:xfrm>
            <a:off x="3183599" y="44392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Business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7" name="Google Shape;347;p68"/>
          <p:cNvSpPr/>
          <p:nvPr/>
        </p:nvSpPr>
        <p:spPr>
          <a:xfrm>
            <a:off x="6079361" y="252945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Inteli Camp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8" name="Google Shape;348;p68"/>
          <p:cNvSpPr/>
          <p:nvPr/>
        </p:nvSpPr>
        <p:spPr>
          <a:xfrm>
            <a:off x="6079363" y="29746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Hackathon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6079361" y="34143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Metodologias ativas e PBL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0" name="Google Shape;350;p68"/>
          <p:cNvSpPr/>
          <p:nvPr/>
        </p:nvSpPr>
        <p:spPr>
          <a:xfrm>
            <a:off x="6079361" y="38595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Education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1" name="Google Shape;351;p68"/>
          <p:cNvSpPr txBox="1"/>
          <p:nvPr/>
        </p:nvSpPr>
        <p:spPr>
          <a:xfrm>
            <a:off x="8255264" y="885350"/>
            <a:ext cx="600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noAutofit/>
          </a:bodyPr>
          <a:lstStyle/>
          <a:p>
            <a:pPr>
              <a:buSzPts val="13262"/>
            </a:pPr>
            <a:r>
              <a:rPr lang="pt-BR" sz="6631" b="1">
                <a:solidFill>
                  <a:srgbClr val="2E2640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endParaRPr sz="6631" b="1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52" name="Google Shape;352;p68"/>
          <p:cNvSpPr txBox="1"/>
          <p:nvPr/>
        </p:nvSpPr>
        <p:spPr>
          <a:xfrm>
            <a:off x="8314035" y="944730"/>
            <a:ext cx="39825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NOTA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68"/>
          <p:cNvSpPr txBox="1"/>
          <p:nvPr/>
        </p:nvSpPr>
        <p:spPr>
          <a:xfrm>
            <a:off x="8297288" y="1737552"/>
            <a:ext cx="51690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 MEC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8290474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p68"/>
          <p:cNvSpPr/>
          <p:nvPr/>
        </p:nvSpPr>
        <p:spPr>
          <a:xfrm>
            <a:off x="8397872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6" name="Google Shape;356;p68"/>
          <p:cNvSpPr/>
          <p:nvPr/>
        </p:nvSpPr>
        <p:spPr>
          <a:xfrm>
            <a:off x="8505269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7" name="Google Shape;357;p68"/>
          <p:cNvSpPr txBox="1"/>
          <p:nvPr/>
        </p:nvSpPr>
        <p:spPr>
          <a:xfrm>
            <a:off x="4512214" y="1025025"/>
            <a:ext cx="4084500" cy="73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>
              <a:buSzPts val="3600"/>
            </a:pPr>
            <a:r>
              <a:rPr lang="pt-B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 4 anos de história, o Inteli tem nota máxima do MEC nos 5 cursos de graduação oferecidos.</a:t>
            </a:r>
            <a:endParaRPr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8" name="Google Shape;358;p68"/>
          <p:cNvSpPr/>
          <p:nvPr/>
        </p:nvSpPr>
        <p:spPr>
          <a:xfrm>
            <a:off x="7855100" y="171375"/>
            <a:ext cx="1755600" cy="30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977" dist="4326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375" tIns="10375" rIns="10375" bIns="10375" anchor="ctr" anchorCtr="0">
            <a:noAutofit/>
          </a:bodyPr>
          <a:lstStyle/>
          <a:p>
            <a:pPr algn="ctr"/>
            <a:endParaRPr sz="900"/>
          </a:p>
        </p:txBody>
      </p:sp>
      <p:pic>
        <p:nvPicPr>
          <p:cNvPr id="359" name="Picture 3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7744"/>
            <a:ext cx="1005840" cy="403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Prompt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Decisores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TIPOS DE TAREFA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Nem toda tarefa acontece no mesmo ritmo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4775" y="1572768"/>
            <a:ext cx="643445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Para classificar: duração, número de etapas, ferramentas envolvidas, dependências, reversibilidade e necessidade de supervisão.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mapa: princípios, frameworks e estratégias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Mapa de consulta. Hoje usamos: contexto estruturado, exemplos (few-shot), persona, justificativa verificável e Chain-of-Verification.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29844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PRINCÍPIOS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49961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As diretrizes que valem para qualquer prompt: ser específico, organizar a instrução, ajustar o tom e iterar.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Formas prontas de montar a anatomia do pedido. R-T-F e C-A-R-E são as duas que cabem no dia a dia de vocês.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TÉCNICAS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Como pedir o raciocínio. Zero-shot para o simples, few-shot quando a categoria é sua, justificativa verificável quando a decisão precisa de defesa.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AVANÇADAS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3133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Quando uma chamada só não resolve. Chain-of-Verification é a que vocês vão rodar sobre os achados do galpão.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6248000"/>
              <a:gd name="adj2" fmla="val 215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lock Arc 21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48000"/>
              <a:gd name="adj2" fmla="val 53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lock Arc 22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5448000"/>
              <a:gd name="adj2" fmla="val 107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lock Arc 23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0848000"/>
              <a:gd name="adj2" fmla="val 161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lock Arc 24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6248000"/>
              <a:gd name="adj2" fmla="val 2047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lock Arc 25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20568000"/>
              <a:gd name="adj2" fmla="val 319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lock Arc 26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3288000"/>
              <a:gd name="adj2" fmla="val 751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lock Arc 27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7608000"/>
              <a:gd name="adj2" fmla="val 1183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lock Arc 28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1928000"/>
              <a:gd name="adj2" fmla="val 1615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lock Arc 29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6248000"/>
              <a:gd name="adj2" fmla="val 19237714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lock Arc 30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9333714"/>
              <a:gd name="adj2" fmla="val 723429"/>
              <a:gd name="adj3" fmla="val 11458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lock Arc 31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819429"/>
              <a:gd name="adj2" fmla="val 3809143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lock Arc 32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3905143"/>
              <a:gd name="adj2" fmla="val 6894857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lock Arc 33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6990857"/>
              <a:gd name="adj2" fmla="val 9980571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lock Arc 34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0076571"/>
              <a:gd name="adj2" fmla="val 13066286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lock Arc 35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3162286"/>
              <a:gd name="adj2" fmla="val 16152000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lock Arc 36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6248000"/>
              <a:gd name="adj2" fmla="val 2047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lock Arc 37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20568000"/>
              <a:gd name="adj2" fmla="val 319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lock Arc 38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3288000"/>
              <a:gd name="adj2" fmla="val 7512000"/>
              <a:gd name="adj3" fmla="val 9322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lock Arc 39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7608000"/>
              <a:gd name="adj2" fmla="val 1183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Block Arc 40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1928000"/>
              <a:gd name="adj2" fmla="val 1615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551338" y="2488098"/>
            <a:ext cx="693084" cy="693084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1338" y="2596896"/>
            <a:ext cx="6930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Engenharia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de Prompt</a:t>
            </a:r>
          </a:p>
          <a:p>
            <a:pPr algn="ctr"/>
            <a:r>
              <a:rPr sz="900" b="1">
                <a:solidFill>
                  <a:srgbClr val="FF4545"/>
                </a:solidFill>
                <a:latin typeface="Manrope"/>
              </a:rPr>
              <a:t>IA4B</a:t>
            </a:r>
          </a:p>
        </p:txBody>
      </p:sp>
      <p:sp>
        <p:nvSpPr>
          <p:cNvPr id="44" name="TextBox 43"/>
          <p:cNvSpPr txBox="1"/>
          <p:nvPr/>
        </p:nvSpPr>
        <p:spPr>
          <a:xfrm rot="2700000">
            <a:off x="5888501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Especificidade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Clareza</a:t>
            </a:r>
          </a:p>
        </p:txBody>
      </p:sp>
      <p:sp>
        <p:nvSpPr>
          <p:cNvPr id="45" name="TextBox 44"/>
          <p:cNvSpPr txBox="1"/>
          <p:nvPr/>
        </p:nvSpPr>
        <p:spPr>
          <a:xfrm rot="18900000">
            <a:off x="5888501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Estruturação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Lógica</a:t>
            </a:r>
          </a:p>
        </p:txBody>
      </p:sp>
      <p:sp>
        <p:nvSpPr>
          <p:cNvPr id="46" name="TextBox 45"/>
          <p:cNvSpPr txBox="1"/>
          <p:nvPr/>
        </p:nvSpPr>
        <p:spPr>
          <a:xfrm rot="2700000">
            <a:off x="5153374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Tonalidade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Linguagem</a:t>
            </a:r>
          </a:p>
        </p:txBody>
      </p:sp>
      <p:sp>
        <p:nvSpPr>
          <p:cNvPr id="47" name="TextBox 46"/>
          <p:cNvSpPr txBox="1"/>
          <p:nvPr/>
        </p:nvSpPr>
        <p:spPr>
          <a:xfrm rot="18900000">
            <a:off x="5153374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Etapas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Iterações</a:t>
            </a:r>
          </a:p>
        </p:txBody>
      </p:sp>
      <p:sp>
        <p:nvSpPr>
          <p:cNvPr id="48" name="TextBox 47"/>
          <p:cNvSpPr txBox="1"/>
          <p:nvPr/>
        </p:nvSpPr>
        <p:spPr>
          <a:xfrm rot="2160000">
            <a:off x="5906521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R-T-F</a:t>
            </a:r>
          </a:p>
        </p:txBody>
      </p:sp>
      <p:sp>
        <p:nvSpPr>
          <p:cNvPr id="49" name="TextBox 48"/>
          <p:cNvSpPr txBox="1"/>
          <p:nvPr/>
        </p:nvSpPr>
        <p:spPr>
          <a:xfrm rot="17280000">
            <a:off x="6211559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C-A-R-E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2959" y="3611838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T-A-G</a:t>
            </a:r>
          </a:p>
        </p:txBody>
      </p:sp>
      <p:sp>
        <p:nvSpPr>
          <p:cNvPr id="51" name="TextBox 50"/>
          <p:cNvSpPr txBox="1"/>
          <p:nvPr/>
        </p:nvSpPr>
        <p:spPr>
          <a:xfrm rot="4320000">
            <a:off x="4614358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B-A-B</a:t>
            </a:r>
          </a:p>
        </p:txBody>
      </p:sp>
      <p:sp>
        <p:nvSpPr>
          <p:cNvPr id="52" name="TextBox 51"/>
          <p:cNvSpPr txBox="1"/>
          <p:nvPr/>
        </p:nvSpPr>
        <p:spPr>
          <a:xfrm rot="19440000">
            <a:off x="4919396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R-I-S-E</a:t>
            </a:r>
          </a:p>
        </p:txBody>
      </p:sp>
      <p:sp>
        <p:nvSpPr>
          <p:cNvPr id="53" name="TextBox 52"/>
          <p:cNvSpPr txBox="1"/>
          <p:nvPr/>
        </p:nvSpPr>
        <p:spPr>
          <a:xfrm rot="1542857">
            <a:off x="5926359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Zero-shot</a:t>
            </a:r>
          </a:p>
        </p:txBody>
      </p:sp>
      <p:sp>
        <p:nvSpPr>
          <p:cNvPr id="54" name="TextBox 53"/>
          <p:cNvSpPr txBox="1"/>
          <p:nvPr/>
        </p:nvSpPr>
        <p:spPr>
          <a:xfrm rot="4628571">
            <a:off x="6539322" y="2520040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Few-shot</a:t>
            </a:r>
          </a:p>
        </p:txBody>
      </p:sp>
      <p:sp>
        <p:nvSpPr>
          <p:cNvPr id="55" name="TextBox 54"/>
          <p:cNvSpPr txBox="1"/>
          <p:nvPr/>
        </p:nvSpPr>
        <p:spPr>
          <a:xfrm rot="18514286">
            <a:off x="6042711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Chain-of-Thought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6954" y="3905066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Tree-of-Thought</a:t>
            </a:r>
          </a:p>
        </p:txBody>
      </p:sp>
      <p:sp>
        <p:nvSpPr>
          <p:cNvPr id="57" name="TextBox 56"/>
          <p:cNvSpPr txBox="1"/>
          <p:nvPr/>
        </p:nvSpPr>
        <p:spPr>
          <a:xfrm rot="3085714">
            <a:off x="4271196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Skeleton-of-Thought</a:t>
            </a:r>
          </a:p>
        </p:txBody>
      </p:sp>
      <p:sp>
        <p:nvSpPr>
          <p:cNvPr id="58" name="TextBox 57"/>
          <p:cNvSpPr txBox="1"/>
          <p:nvPr/>
        </p:nvSpPr>
        <p:spPr>
          <a:xfrm rot="16971429">
            <a:off x="4052432" y="2520040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Self-Consistency</a:t>
            </a:r>
          </a:p>
        </p:txBody>
      </p:sp>
      <p:sp>
        <p:nvSpPr>
          <p:cNvPr id="59" name="TextBox 58"/>
          <p:cNvSpPr txBox="1"/>
          <p:nvPr/>
        </p:nvSpPr>
        <p:spPr>
          <a:xfrm rot="20057143">
            <a:off x="4943242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Step-Back</a:t>
            </a:r>
          </a:p>
        </p:txBody>
      </p:sp>
      <p:sp>
        <p:nvSpPr>
          <p:cNvPr id="60" name="TextBox 59"/>
          <p:cNvSpPr txBox="1"/>
          <p:nvPr/>
        </p:nvSpPr>
        <p:spPr>
          <a:xfrm rot="2160000">
            <a:off x="5912556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Prompt Chaining</a:t>
            </a:r>
          </a:p>
        </p:txBody>
      </p:sp>
      <p:sp>
        <p:nvSpPr>
          <p:cNvPr id="61" name="TextBox 60"/>
          <p:cNvSpPr txBox="1"/>
          <p:nvPr/>
        </p:nvSpPr>
        <p:spPr>
          <a:xfrm rot="17280000">
            <a:off x="6430637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Least-to-Most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284" y="4198294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Chain-of-Verification</a:t>
            </a:r>
          </a:p>
        </p:txBody>
      </p:sp>
      <p:sp>
        <p:nvSpPr>
          <p:cNvPr id="63" name="TextBox 62"/>
          <p:cNvSpPr txBox="1"/>
          <p:nvPr/>
        </p:nvSpPr>
        <p:spPr>
          <a:xfrm rot="4320000">
            <a:off x="3717930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Self-Refine</a:t>
            </a:r>
          </a:p>
        </p:txBody>
      </p:sp>
      <p:sp>
        <p:nvSpPr>
          <p:cNvPr id="64" name="TextBox 63"/>
          <p:cNvSpPr txBox="1"/>
          <p:nvPr/>
        </p:nvSpPr>
        <p:spPr>
          <a:xfrm rot="19440000">
            <a:off x="4236011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ReAct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0: uma descrição não é uma análise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16459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"Resuma o teaser do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Galpão Atlas."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POR QUE FALHA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ENTRADA VAGA </a:t>
            </a:r>
            <a:r>
              <a:rPr sz="1300" b="0">
                <a:solidFill>
                  <a:srgbClr val="3A3A4A"/>
                </a:solidFill>
                <a:latin typeface="Manrope"/>
              </a:rPr>
              <a:t>  só o teaser, a versão do vendedor.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VAGO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'resuma' não aponta nenhuma decisão.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Resultado: uma descrição educada que não decide nada. E nenhum modelo conserta um pedido mal feito.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Ninguém disse ao modelo qual decisão estava em jogo. Ele respondeu o que deu.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1: papel, dado e objetivo mudam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"Você é diretor de Capital Markets.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Um FII quer sua leitura às 14h.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Leia o teaser e aponte os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pontos que mudam a decisão.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Para cada um, o número e a dúvida."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deve ser: enquadra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DADO DE ENTRADA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insumo e o período que delimitam a análise.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pergunta voltada à decisão, não à descrição.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FORMATO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'os 3' e 'número e dúvida' forçam a priorização.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Quatro peças, e nenhuma delas é sobre tecnologia.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2: estrutura na entrada, estrutura na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"Cruze três fontes: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o teaser, a matrícula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e o contrato de locação.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Devolva no schema JSON: atributo,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teaser, documento, trecho."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OPERAÇÃO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cruzar, e não só ler: a tensão entre as fontes é que vira achado.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FONTES MÚLTIPLAS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teaser diz o que o vendedor quer; o registro diz o que existe.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FORMATO FIXO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saída que a próxima etapa do fluxo consome sem retrabalho.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Acrescentem a regra de fonte: use só os documentos anexados e escreva NÃO LOCALIZADO quando faltar evidência.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3: em vez de "resuma", diga "desconfie"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Desconfie do teaser. Devolva: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O trecho que confirma ou nega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A diferença: área, prazo, ônus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O que é fato e o que é suposição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Veredito: CONSISTENTE,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INCOMPLETO ou CONTRADITÓRIO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CONTA E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conta aparece e dá para refazer.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EVIDÊNCIA E SUPOSIÇÃO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separa o que veio do dado do que foi suposto.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INCERTEZA </a:t>
            </a:r>
            <a:r>
              <a:rPr sz="1300" b="0">
                <a:solidFill>
                  <a:srgbClr val="3A3A4A"/>
                </a:solidFill>
                <a:latin typeface="Manrope"/>
              </a:rPr>
              <a:t>  grau de confiança e dado que falta.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O texto que o modelo escreve não é o raciocínio interno dele e pode ser montado depois da resposta. Auditem a conta, a fonte e o teste.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FEW-SHOT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Few-shot: dê exemplos rotulados antes do pedido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Classifique as cláusulas: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'Reajuste anual pelo IPCA' → Aluguel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'Multa de 3 aluguéis na saída' → Saída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'Preferência na compra' → Direito do inquilino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Agora: 'desconto de 12,5% até set/2027'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definida uma vez, sem regra extensa.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EXEMPLOS ROTULADOS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dois ou três casos mostram o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CASO NOVO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IA aplica o padrão que aprendeu.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as categorias são da sua operação. Incluam um caso-limite, porque o modelo copia também o viés dos exemplos. Vale também para a voz da casa: dois teasers antigos ensinam o formato do novo (PDF 06 do kit).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ROLE PLAYING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Role Playing: dê um papel e um ponto de vista à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Simule o comitê de investimento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do FII. Leia o teaser e aponte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o que derrubaria a compra, 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a cláusula, a evidência, a lacuna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o grau de confiança.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é: muda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sob o olhar desse papel.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regra, evidência, lacuna e confiança explícitas.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revisão crítica antes de enviar. O papel orienta formato e vocabulário, mas não dá ao modelo a competência de um auditor.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SELF-REFINE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Self-Refine: peça para a IA revisar a forma da própria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Você acabou de escrever o teaser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para o FII. Agora critique 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próprio texto: onde ele afirma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mais do que os documentos dizem,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produza uma segunda versão.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AUTOCRÍTICA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já embute a revisão do próprio output.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CRITÉRIOS EXPLÍCITOS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fragilidade do dado e risco de erro viram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SEGUNDA VERSÃO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correção sai na mesma chamada, sem retrabalho.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para melhorar texto e estrutura. Para conferir fato, o mesmo modelo tende a repetir o próprio erro: use fonte externa, outra execução independente ou um especialista.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CHAIN-OF-VERIFICATION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Chain-of-Verification: separe quem responde de quem confere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468879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847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</a:t>
            </a: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Resposta inicial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Gere </a:t>
            </a: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perguntas sobre o domínio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   não sobre a resposta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Responda em </a:t>
            </a: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janela NOVA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   sem ver a resposta original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</a:t>
            </a: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Reescreva com o que sobreviveu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RESPOSTA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primeira versão, que ainda não vale nada.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PERGUNTAS DE DOMÍNIO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perguntar sobre o contrato, não sobre o que ele escreveu.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JANELA NOVA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isolamento é o que evita o viés de confirmação.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errar custa caro. Numa diligência, uma averbação inventada vira laudo errado. Reduz o risco de alucinação, sem garantir acerto (Dhuliawala et al., 2023).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CHAIN-OF-VERIFICATION · MECÂNICA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Quatro passos, e o terceiro muda de janela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RESPOSTA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O modelo responde à pergunta original. Guarde essa resposta e não olhe mais para ela.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2478024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96896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98064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PERGUNTAS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Ele gera perguntas de verificação sobre o domínio: regra, prazo, exceção. Não sobre o que escreveu.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526280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45152" y="1783080"/>
            <a:ext cx="1874519" cy="21031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46320" y="1956816"/>
            <a:ext cx="292608" cy="29260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F4545"/>
                </a:solidFill>
                <a:latin typeface="Manrope"/>
              </a:rPr>
              <a:t>VERIFICAÇÃO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E0E0E8"/>
                </a:solidFill>
                <a:latin typeface="Manrope"/>
              </a:rPr>
              <a:t>Janela nova responde cada pergunta, sem acesso à resposta original.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96849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JANELA NOVA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6574536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93408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94576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REESCRITA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De volta ao chat original, reescreve usando só o que sobreviveu à conferência.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61104"/>
            <a:ext cx="8046720" cy="512064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Passos 1, 2 e 4 no mesmo chat. O passo 3 em janela nova.  </a:t>
            </a:r>
            <a:r>
              <a:rPr sz="1150" b="0">
                <a:solidFill>
                  <a:srgbClr val="FF4545"/>
                </a:solidFill>
                <a:latin typeface="Manrope"/>
              </a:rPr>
              <a:t>A independência é parcial, porque o modelo é o mesmo: combinem com fonte autorizada.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Construa, rode e versione o prompt do seu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Use o processo da sua ficha. Trate o prompt como artefato de trabalho: ele tem versão, e tem um critério que diz quando está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1  Escreva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Monte a v1 com a anatomia: papel, dado de entrada, objetivo e formato. Escolha uma técnica do anel de fora.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2  Rode e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Rode na sua ferramenta, olhe onde a resposta falhou e corrija o pedido, não a resposta. Isso vira a v2.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1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3  Registre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Anote o que mudou da v1 para a v2 e o critério que você usou para dizer que a v2 serve.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64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ENTREGÁVEIS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6896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0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1456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O QUE MUDOU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3408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9712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CRITÉRIO DE ACEITE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Registro mínimo: objetivo, dados de entrada, prompt, modelo, versão, saída e avaliação.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CHAIN-OF-VERIFICATION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Agora confira os achados do Galpão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Os dois prompts abaixo são para colar. O segundo vai em uma janela nova. No mesmo chat, o exercício perde a graça.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2 · NO MESMO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Pede as perguntas, não as respostas: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Gere 5 perguntas de verificação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imóvel e o contrato.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domínio: área, ônus,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prazo, multa. NÃO sobre o texto.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Não responda agora.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3 · EM JANELA NOVA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Chat limpo, com as fontes anexadas: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7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Responda uma a uma, usando só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os documentos anexados (matrícula,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contrato, laudo). Cite o trecho.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Sem trecho, escreva NÃO LOCALIZADO.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[anexe os PDFs e cole as perguntas]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PASSO 4 · DE VOLTA AO CHAT 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Space Mono"/>
              </a:rPr>
              <a:t>"Considerando estas respostas, reescreva a tabela de achados e marque o que mudou."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07408"/>
            <a:ext cx="8046720" cy="402336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O que não sobreviver ao passo 3 não vai para o FII.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Janela de contexto: quanto o modelo consegue ler de uma vez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703320" cy="3017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O QUE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4A"/>
                </a:solidFill>
                <a:latin typeface="Manrope"/>
              </a:rPr>
              <a:t>Tudo o que o modelo enxerga em uma única conversa: o seu pedido, os arquivos anexados, o histórico e a própria resposta.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PARA QUE 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Analisar contratos e relatórios inteiros sem fatiar o documento.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9856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Manter o fio da meada em conversas longas e em agentes de horas.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95344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Comparar muitas fontes de uma vez, sem perder o começo.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4069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CAPACIDADE ANUNCIADA, EM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A4A"/>
                </a:solidFill>
                <a:latin typeface="Manrope"/>
              </a:rPr>
              <a:t>Claude Sonnet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6596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1 milhão (beta)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03704"/>
            <a:ext cx="4069080" cy="118872"/>
          </a:xfrm>
          <a:prstGeom prst="rect">
            <a:avLst/>
          </a:prstGeom>
          <a:solidFill>
            <a:srgbClr val="CA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80" y="2203704"/>
            <a:ext cx="3703320" cy="11887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532888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A4A"/>
                </a:solidFill>
                <a:latin typeface="Manrope"/>
              </a:rPr>
              <a:t>GPT-5.5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5328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1 milhão (API)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770632"/>
            <a:ext cx="4069080" cy="118872"/>
          </a:xfrm>
          <a:prstGeom prst="rect">
            <a:avLst/>
          </a:prstGeom>
          <a:solidFill>
            <a:srgbClr val="CA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26280" y="2770632"/>
            <a:ext cx="3703320" cy="11887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154680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A3A4A"/>
                </a:solidFill>
                <a:latin typeface="Manrope"/>
              </a:rPr>
              <a:t>Capacidade nominal. A qualidade cai conforme a tarefa e a posição da evidência no texto, e isso muda de modelo para modelo. Meçam com um documento de vocês antes de confiar no limite.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Fontes: Anthropic, Claude Sonnet 4.6, 17/02/2026; OpenAI, Introducing GPT-5.5, 23/04/2026. No Copilot, o limite prático depende do produto e do tenant.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32" name="TAG_CLASSE"/>
          <p:cNvSpPr txBox="1"/>
          <p:nvPr/>
        </p:nvSpPr>
        <p:spPr>
          <a:xfrm>
            <a:off x="7461503" y="256032"/>
            <a:ext cx="420624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FATO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1 milhão de tokens: os cinco primeiros livros de Harry Potter</a:t>
            </a:r>
          </a:p>
        </p:txBody>
      </p:sp>
      <p:pic>
        <p:nvPicPr>
          <p:cNvPr id="5" name="Picture 4" descr="liv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46120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7822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2640"/>
                </a:solidFill>
                <a:latin typeface="Manrope"/>
              </a:rPr>
              <a:t>717.020 palavras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nos cinco primeiros livros, cerca de 956 mil tokens (estimativa)</a:t>
            </a:r>
          </a:p>
        </p:txBody>
      </p:sp>
      <p:pic>
        <p:nvPicPr>
          <p:cNvPr id="7" name="Picture 6" descr="jane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91640"/>
            <a:ext cx="44348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950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Cada quadradinho vale mil tokens. Os cinco livros ocupam quase toda a janela: sobra pouco espaço para a sua pergunta e para a resposta.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62856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4545"/>
                </a:solidFill>
                <a:latin typeface="Manrope"/>
              </a:rPr>
              <a:t>Conta aproximada: edição original em inglês, 1,33 token por palavra. Muda com o idioma, a edição e o tokenizer. A série completa, com 1.084.170 palavras, passaria de 1,4 milhão de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11" name="TAG_CLASSE"/>
          <p:cNvSpPr txBox="1"/>
          <p:nvPr/>
        </p:nvSpPr>
        <p:spPr>
          <a:xfrm>
            <a:off x="6995159" y="256032"/>
            <a:ext cx="886968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ESTIMATIVA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CAPACIDADE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o modelo faz sozinho e o que ele faz com um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MODELO BASE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545"/>
                </a:solidFill>
                <a:latin typeface="Manrope"/>
              </a:rPr>
              <a:t>SISTEMA DE IA: MODELO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Lê o contexto e gera a resposta no chat.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Limitado à janela de contexto da conversa.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acessa sistemas, arquivos ou dados da empresa.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guarda nada entre sessões por conta própria.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Usa ferramentas: busca, planilhas, sistemas internos.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Mantém estado e memória entre etapas.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Executa em loop até atingir o objetivo.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Para e pede aprovação humana onde você definir.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Com o mesmo modelo, outro harness produz outro resultado. Vocês montam cada uma dessas caixas ao longo da semana.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420624" cy="420624"/>
          </a:xfrm>
          <a:prstGeom prst="rect">
            <a:avLst/>
          </a:prstGeom>
        </p:spPr>
      </p:pic>
      <p:pic>
        <p:nvPicPr>
          <p:cNvPr id="14" name="Picture 13" descr="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417320"/>
            <a:ext cx="420624" cy="420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2237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E2640"/>
                </a:solidFill>
                <a:latin typeface="Manrope"/>
              </a:rPr>
              <a:t>Harness: a infraestrutura que transforma modelo em agente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8046720" cy="3218688"/>
          </a:xfrm>
          <a:prstGeom prst="rect">
            <a:avLst/>
          </a:prstGeom>
          <a:solidFill>
            <a:srgbClr val="FFFFFF"/>
          </a:solidFill>
          <a:ln w="13970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2640"/>
                </a:solidFill>
                <a:latin typeface="Manrope"/>
              </a:rPr>
              <a:t>HARNESS</a:t>
            </a:r>
            <a:r>
              <a:rPr sz="900" b="0">
                <a:solidFill>
                  <a:srgbClr val="3A3A4A"/>
                </a:solidFill>
                <a:latin typeface="Manrope"/>
              </a:rPr>
              <a:t>   no ambiente Microsoft, o M365 Copilot é um exemplo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2384" y="1847088"/>
            <a:ext cx="2999232" cy="1005840"/>
          </a:xfrm>
          <a:prstGeom prst="rect">
            <a:avLst/>
          </a:prstGeom>
          <a:solidFill>
            <a:srgbClr val="FFFFFF"/>
          </a:solidFill>
          <a:ln w="13970">
            <a:solidFill>
              <a:srgbClr val="2E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975104"/>
            <a:ext cx="274320" cy="274320"/>
          </a:xfrm>
          <a:prstGeom prst="rect">
            <a:avLst/>
          </a:prstGeom>
        </p:spPr>
      </p:pic>
      <p:pic>
        <p:nvPicPr>
          <p:cNvPr id="9" name="Picture 8" descr="open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1975104"/>
            <a:ext cx="274320" cy="274320"/>
          </a:xfrm>
          <a:prstGeom prst="rect">
            <a:avLst/>
          </a:prstGeom>
        </p:spPr>
      </p:pic>
      <p:pic>
        <p:nvPicPr>
          <p:cNvPr id="10" name="Picture 9" descr="gemin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1975104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8688" y="2340864"/>
            <a:ext cx="270662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E2640"/>
                </a:solidFill>
                <a:latin typeface="Manrope"/>
              </a:rPr>
              <a:t>MODELO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GPT,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66D73"/>
                </a:solidFill>
                <a:latin typeface="Manrope"/>
              </a:rPr>
              <a:t>GUIAS</a:t>
            </a:r>
            <a:r>
              <a:rPr sz="900" b="0">
                <a:solidFill>
                  <a:srgbClr val="3A3A4A"/>
                </a:solidFill>
                <a:latin typeface="Manrope"/>
              </a:rPr>
              <a:t>   o que entra 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2996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21762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Instruções e políticas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004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28163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Contexto do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1012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45643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Exemplos e padrões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556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A3A4A"/>
                </a:solidFill>
                <a:latin typeface="Manrope"/>
              </a:rPr>
              <a:t>SENSORES</a:t>
            </a:r>
            <a:r>
              <a:rPr sz="900" b="0">
                <a:solidFill>
                  <a:srgbClr val="3A3A4A"/>
                </a:solidFill>
                <a:latin typeface="Manrope"/>
              </a:rPr>
              <a:t>   o que valida depois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02996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4" y="21762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Validação da 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67004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28163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Revisor automático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1012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45643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Alçada e 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99923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FERRAMENTAS E MEMÓRIA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656" y="3255264"/>
            <a:ext cx="3218688" cy="1042416"/>
          </a:xfrm>
          <a:prstGeom prst="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62656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Outlook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Dataverse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02336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66D73"/>
                </a:solidFill>
                <a:latin typeface="Manrope"/>
              </a:rPr>
              <a:t>memória, arquivos e sistemas que o agente aciona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09" name="Picture 108" descr="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3438144"/>
            <a:ext cx="274320" cy="274320"/>
          </a:xfrm>
          <a:prstGeom prst="rect">
            <a:avLst/>
          </a:prstGeom>
        </p:spPr>
      </p:pic>
      <p:pic>
        <p:nvPicPr>
          <p:cNvPr id="110" name="Picture 109" descr="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504" y="3438144"/>
            <a:ext cx="274320" cy="274320"/>
          </a:xfrm>
          <a:prstGeom prst="rect">
            <a:avLst/>
          </a:prstGeom>
        </p:spPr>
      </p:pic>
      <p:pic>
        <p:nvPicPr>
          <p:cNvPr id="111" name="Picture 110" descr="t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438144"/>
            <a:ext cx="274320" cy="274320"/>
          </a:xfrm>
          <a:prstGeom prst="rect">
            <a:avLst/>
          </a:prstGeom>
        </p:spPr>
      </p:pic>
      <p:pic>
        <p:nvPicPr>
          <p:cNvPr id="112" name="Picture 111" descr="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3438144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548640" y="292608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NÍVEIS DE USO DE 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5" name="Google Shape;375;p56"/>
          <p:cNvSpPr/>
          <p:nvPr/>
        </p:nvSpPr>
        <p:spPr>
          <a:xfrm>
            <a:off x="548640" y="548640"/>
            <a:ext cx="73152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 automação ao agente: quatro níveis de uso de IA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6" name="Google Shape;376;p56"/>
          <p:cNvSpPr/>
          <p:nvPr/>
        </p:nvSpPr>
        <p:spPr>
          <a:xfrm>
            <a:off x="566928" y="1353312"/>
            <a:ext cx="502800" cy="41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6"/>
          <p:cNvSpPr/>
          <p:nvPr/>
        </p:nvSpPr>
        <p:spPr>
          <a:xfrm>
            <a:off x="457200" y="484632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6"/>
          <p:cNvSpPr/>
          <p:nvPr/>
        </p:nvSpPr>
        <p:spPr>
          <a:xfrm>
            <a:off x="8321040" y="484632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546100" y="1473200"/>
            <a:ext cx="80518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Conforme o humano sai do loop (in → on → out), a IA assume mais etapas da decisão.</a:t>
            </a:r>
            <a:endParaRPr/>
          </a:p>
        </p:txBody>
      </p:sp>
      <p:sp>
        <p:nvSpPr>
          <p:cNvPr id="380" name="Google Shape;380;p56"/>
          <p:cNvSpPr/>
          <p:nvPr/>
        </p:nvSpPr>
        <p:spPr>
          <a:xfrm>
            <a:off x="5461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6"/>
          <p:cNvSpPr txBox="1"/>
          <p:nvPr/>
        </p:nvSpPr>
        <p:spPr>
          <a:xfrm>
            <a:off x="6985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382" name="Google Shape;382;p56"/>
          <p:cNvSpPr/>
          <p:nvPr/>
        </p:nvSpPr>
        <p:spPr>
          <a:xfrm>
            <a:off x="698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/>
        </p:nvSpPr>
        <p:spPr>
          <a:xfrm>
            <a:off x="9271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6"/>
          <p:cNvSpPr/>
          <p:nvPr/>
        </p:nvSpPr>
        <p:spPr>
          <a:xfrm>
            <a:off x="11557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6"/>
          <p:cNvSpPr/>
          <p:nvPr/>
        </p:nvSpPr>
        <p:spPr>
          <a:xfrm>
            <a:off x="1384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6"/>
          <p:cNvSpPr txBox="1"/>
          <p:nvPr/>
        </p:nvSpPr>
        <p:spPr>
          <a:xfrm>
            <a:off x="6985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Segue regras fixas; faz sempre igual.</a:t>
            </a:r>
            <a:endParaRPr/>
          </a:p>
        </p:txBody>
      </p:sp>
      <p:sp>
        <p:nvSpPr>
          <p:cNvPr id="387" name="Google Shape;387;p56"/>
          <p:cNvSpPr txBox="1"/>
          <p:nvPr/>
        </p:nvSpPr>
        <p:spPr>
          <a:xfrm>
            <a:off x="6985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RPA que preenche sistemas.</a:t>
            </a:r>
            <a:endParaRPr/>
          </a:p>
        </p:txBody>
      </p:sp>
      <p:sp>
        <p:nvSpPr>
          <p:cNvPr id="388" name="Google Shape;388;p56"/>
          <p:cNvSpPr/>
          <p:nvPr/>
        </p:nvSpPr>
        <p:spPr>
          <a:xfrm>
            <a:off x="6477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Regras humanas</a:t>
            </a:r>
            <a:endParaRPr/>
          </a:p>
        </p:txBody>
      </p:sp>
      <p:sp>
        <p:nvSpPr>
          <p:cNvPr id="389" name="Google Shape;389;p56"/>
          <p:cNvSpPr/>
          <p:nvPr/>
        </p:nvSpPr>
        <p:spPr>
          <a:xfrm>
            <a:off x="25527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6"/>
          <p:cNvSpPr txBox="1"/>
          <p:nvPr/>
        </p:nvSpPr>
        <p:spPr>
          <a:xfrm>
            <a:off x="27051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391" name="Google Shape;391;p56"/>
          <p:cNvSpPr/>
          <p:nvPr/>
        </p:nvSpPr>
        <p:spPr>
          <a:xfrm>
            <a:off x="2705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6"/>
          <p:cNvSpPr/>
          <p:nvPr/>
        </p:nvSpPr>
        <p:spPr>
          <a:xfrm>
            <a:off x="2933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3162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33909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27051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Responde quando é chamado.</a:t>
            </a:r>
            <a:endParaRPr/>
          </a:p>
        </p:txBody>
      </p:sp>
      <p:sp>
        <p:nvSpPr>
          <p:cNvPr id="396" name="Google Shape;396;p56"/>
          <p:cNvSpPr txBox="1"/>
          <p:nvPr/>
        </p:nvSpPr>
        <p:spPr>
          <a:xfrm>
            <a:off x="27051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resumir um chamado.</a:t>
            </a:r>
            <a:endParaRPr/>
          </a:p>
        </p:txBody>
      </p:sp>
      <p:sp>
        <p:nvSpPr>
          <p:cNvPr id="397" name="Google Shape;397;p56"/>
          <p:cNvSpPr/>
          <p:nvPr/>
        </p:nvSpPr>
        <p:spPr>
          <a:xfrm>
            <a:off x="26543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Decisão humana</a:t>
            </a:r>
            <a:endParaRPr/>
          </a:p>
        </p:txBody>
      </p:sp>
      <p:sp>
        <p:nvSpPr>
          <p:cNvPr id="398" name="Google Shape;398;p56"/>
          <p:cNvSpPr/>
          <p:nvPr/>
        </p:nvSpPr>
        <p:spPr>
          <a:xfrm>
            <a:off x="45593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 txBox="1"/>
          <p:nvPr/>
        </p:nvSpPr>
        <p:spPr>
          <a:xfrm>
            <a:off x="47117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00" name="Google Shape;400;p56"/>
          <p:cNvSpPr/>
          <p:nvPr/>
        </p:nvSpPr>
        <p:spPr>
          <a:xfrm>
            <a:off x="4711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6"/>
          <p:cNvSpPr/>
          <p:nvPr/>
        </p:nvSpPr>
        <p:spPr>
          <a:xfrm>
            <a:off x="4940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6"/>
          <p:cNvSpPr/>
          <p:nvPr/>
        </p:nvSpPr>
        <p:spPr>
          <a:xfrm>
            <a:off x="5168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6"/>
          <p:cNvSpPr/>
          <p:nvPr/>
        </p:nvSpPr>
        <p:spPr>
          <a:xfrm>
            <a:off x="53975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6"/>
          <p:cNvSpPr txBox="1"/>
          <p:nvPr/>
        </p:nvSpPr>
        <p:spPr>
          <a:xfrm>
            <a:off x="47117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Sugere dentro do fluxo de trabalho.</a:t>
            </a:r>
            <a:endParaRPr/>
          </a:p>
        </p:txBody>
      </p:sp>
      <p:sp>
        <p:nvSpPr>
          <p:cNvPr id="405" name="Google Shape;405;p56"/>
          <p:cNvSpPr txBox="1"/>
          <p:nvPr/>
        </p:nvSpPr>
        <p:spPr>
          <a:xfrm>
            <a:off x="47117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sugerir resposta ao atendente.</a:t>
            </a:r>
            <a:endParaRPr/>
          </a:p>
        </p:txBody>
      </p:sp>
      <p:sp>
        <p:nvSpPr>
          <p:cNvPr id="406" name="Google Shape;406;p56"/>
          <p:cNvSpPr/>
          <p:nvPr/>
        </p:nvSpPr>
        <p:spPr>
          <a:xfrm>
            <a:off x="46609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Aprovação humana</a:t>
            </a: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65659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6"/>
          <p:cNvSpPr txBox="1"/>
          <p:nvPr/>
        </p:nvSpPr>
        <p:spPr>
          <a:xfrm>
            <a:off x="67183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sp>
        <p:nvSpPr>
          <p:cNvPr id="409" name="Google Shape;409;p56"/>
          <p:cNvSpPr/>
          <p:nvPr/>
        </p:nvSpPr>
        <p:spPr>
          <a:xfrm>
            <a:off x="6718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6"/>
          <p:cNvSpPr/>
          <p:nvPr/>
        </p:nvSpPr>
        <p:spPr>
          <a:xfrm>
            <a:off x="6946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6"/>
          <p:cNvSpPr/>
          <p:nvPr/>
        </p:nvSpPr>
        <p:spPr>
          <a:xfrm>
            <a:off x="7175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6"/>
          <p:cNvSpPr/>
          <p:nvPr/>
        </p:nvSpPr>
        <p:spPr>
          <a:xfrm>
            <a:off x="7404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6"/>
          <p:cNvSpPr txBox="1"/>
          <p:nvPr/>
        </p:nvSpPr>
        <p:spPr>
          <a:xfrm>
            <a:off x="67183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Recebe um objetivo e executa.</a:t>
            </a:r>
            <a:endParaRPr/>
          </a:p>
        </p:txBody>
      </p:sp>
      <p:sp>
        <p:nvSpPr>
          <p:cNvPr id="414" name="Google Shape;414;p56"/>
          <p:cNvSpPr txBox="1"/>
          <p:nvPr/>
        </p:nvSpPr>
        <p:spPr>
          <a:xfrm>
            <a:off x="67183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triagem e escalonamento de documentos.</a:t>
            </a:r>
            <a:endParaRPr/>
          </a:p>
        </p:txBody>
      </p:sp>
      <p:sp>
        <p:nvSpPr>
          <p:cNvPr id="415" name="Google Shape;415;p56"/>
          <p:cNvSpPr/>
          <p:nvPr/>
        </p:nvSpPr>
        <p:spPr>
          <a:xfrm>
            <a:off x="66675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Supervisão humana</a:t>
            </a:r>
            <a:endParaRPr/>
          </a:p>
        </p:txBody>
      </p:sp>
      <p:pic>
        <p:nvPicPr>
          <p:cNvPr id="416" name="Picture 415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Em qual nível cada caso se encaixa?</a:t>
            </a:r>
            <a:endParaRPr/>
          </a:p>
        </p:txBody>
      </p:sp>
      <p:sp>
        <p:nvSpPr>
          <p:cNvPr id="424" name="Google Shape;424;p6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3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7" name="Google Shape;427;p63"/>
          <p:cNvSpPr/>
          <p:nvPr/>
        </p:nvSpPr>
        <p:spPr>
          <a:xfrm>
            <a:off x="546100" y="15748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3"/>
          <p:cNvSpPr txBox="1"/>
          <p:nvPr/>
        </p:nvSpPr>
        <p:spPr>
          <a:xfrm>
            <a:off x="762000" y="17907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1</a:t>
            </a:r>
            <a:endParaRPr/>
          </a:p>
        </p:txBody>
      </p:sp>
      <p:sp>
        <p:nvSpPr>
          <p:cNvPr id="429" name="Google Shape;429;p63"/>
          <p:cNvSpPr txBox="1"/>
          <p:nvPr/>
        </p:nvSpPr>
        <p:spPr>
          <a:xfrm>
            <a:off x="1778000" y="16637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Sistema dispara alerta quando o estoque cai abaixo do mínimo.</a:t>
            </a:r>
            <a:endParaRPr/>
          </a:p>
        </p:txBody>
      </p:sp>
      <p:sp>
        <p:nvSpPr>
          <p:cNvPr id="430" name="Google Shape;430;p63"/>
          <p:cNvSpPr/>
          <p:nvPr/>
        </p:nvSpPr>
        <p:spPr>
          <a:xfrm>
            <a:off x="6959600" y="17399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431" name="Google Shape;431;p63"/>
          <p:cNvSpPr/>
          <p:nvPr/>
        </p:nvSpPr>
        <p:spPr>
          <a:xfrm>
            <a:off x="546100" y="23749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3"/>
          <p:cNvSpPr txBox="1"/>
          <p:nvPr/>
        </p:nvSpPr>
        <p:spPr>
          <a:xfrm>
            <a:off x="762000" y="25908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2</a:t>
            </a:r>
            <a:endParaRPr/>
          </a:p>
        </p:txBody>
      </p:sp>
      <p:sp>
        <p:nvSpPr>
          <p:cNvPr id="433" name="Google Shape;433;p63"/>
          <p:cNvSpPr txBox="1"/>
          <p:nvPr/>
        </p:nvSpPr>
        <p:spPr>
          <a:xfrm>
            <a:off x="1778000" y="24638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resume as 200 avaliações da semana sobre o app da empresa.</a:t>
            </a:r>
            <a:endParaRPr/>
          </a:p>
        </p:txBody>
      </p:sp>
      <p:sp>
        <p:nvSpPr>
          <p:cNvPr id="434" name="Google Shape;434;p63"/>
          <p:cNvSpPr/>
          <p:nvPr/>
        </p:nvSpPr>
        <p:spPr>
          <a:xfrm>
            <a:off x="6959600" y="25400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435" name="Google Shape;435;p63"/>
          <p:cNvSpPr/>
          <p:nvPr/>
        </p:nvSpPr>
        <p:spPr>
          <a:xfrm>
            <a:off x="546100" y="31750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3"/>
          <p:cNvSpPr txBox="1"/>
          <p:nvPr/>
        </p:nvSpPr>
        <p:spPr>
          <a:xfrm>
            <a:off x="762000" y="33909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3</a:t>
            </a:r>
            <a:endParaRPr/>
          </a:p>
        </p:txBody>
      </p:sp>
      <p:sp>
        <p:nvSpPr>
          <p:cNvPr id="437" name="Google Shape;437;p63"/>
          <p:cNvSpPr txBox="1"/>
          <p:nvPr/>
        </p:nvSpPr>
        <p:spPr>
          <a:xfrm>
            <a:off x="1778000" y="32639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sugere ao atendente a próxima ação com o cliente prestes a sair.</a:t>
            </a:r>
            <a:endParaRPr/>
          </a:p>
        </p:txBody>
      </p:sp>
      <p:sp>
        <p:nvSpPr>
          <p:cNvPr id="438" name="Google Shape;438;p63"/>
          <p:cNvSpPr/>
          <p:nvPr/>
        </p:nvSpPr>
        <p:spPr>
          <a:xfrm>
            <a:off x="6959600" y="33401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39" name="Google Shape;439;p63"/>
          <p:cNvSpPr/>
          <p:nvPr/>
        </p:nvSpPr>
        <p:spPr>
          <a:xfrm>
            <a:off x="546100" y="39751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3"/>
          <p:cNvSpPr txBox="1"/>
          <p:nvPr/>
        </p:nvSpPr>
        <p:spPr>
          <a:xfrm>
            <a:off x="762000" y="41910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4</a:t>
            </a:r>
            <a:endParaRPr/>
          </a:p>
        </p:txBody>
      </p:sp>
      <p:sp>
        <p:nvSpPr>
          <p:cNvPr id="441" name="Google Shape;441;p63"/>
          <p:cNvSpPr txBox="1"/>
          <p:nvPr/>
        </p:nvSpPr>
        <p:spPr>
          <a:xfrm>
            <a:off x="1778000" y="40640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Fluxo recebe a nota fiscal, concilia e só escala a exceção.</a:t>
            </a:r>
            <a:endParaRPr/>
          </a:p>
        </p:txBody>
      </p:sp>
      <p:sp>
        <p:nvSpPr>
          <p:cNvPr id="442" name="Google Shape;442;p63"/>
          <p:cNvSpPr/>
          <p:nvPr/>
        </p:nvSpPr>
        <p:spPr>
          <a:xfrm>
            <a:off x="6959600" y="41402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pic>
        <p:nvPicPr>
          <p:cNvPr id="443" name="Picture 442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Laboratório: Mesa de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Análise com n8n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3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LABORATÓRIO · ARQUITETURA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Um navegador, um n8n, um modelo: nada roda na máquina de ninguém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0947" y="1404000"/>
            <a:ext cx="6442105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A página só conversa com o webhook. A chave do modelo fica no n8n. Entra apenas dado fictício ou público, como combinado no encontro 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DENTRO DO N8N · O PROMPT DO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system prompt de /analisar: papel, regras, formato e o que não fazer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"Você é analista de farmacovigilância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de uma indústria farmacêutica brasileira.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Classifique cada relato: evento adverso,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queixa técnica, combinação, pedido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informação ou outro. Copie em trecho as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palavras exatas que justificam. Não avalie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causalidade. Produto ausente: não localizado.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Responda SOMENTE em JSON: {resumo, itens[],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alertas[]}."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mesmo C do CREATE que o Afonso mostrou, agora fixo no workflow.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TRECHO   </a:t>
            </a:r>
            <a:r>
              <a:rPr sz="1050" b="0">
                <a:solidFill>
                  <a:srgbClr val="3A3A4A"/>
                </a:solidFill>
                <a:latin typeface="Manrope"/>
              </a:rPr>
              <a:t>cada linha vem com a prova; a conferência é rápida.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NÃO LOCALIZADO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lacuna fica à vista em vez de virar palpite.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JSON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saída tem forma fixa porque a página precisa desenhar com ela.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O prompt é um artefato do sistema, com versão e dono. Quem muda o prompt muda o produto.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1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v1: o esqueleto, antes de qualquer função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"Crie uma página HTML única, em um só arquivo,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chamada Mesa de Análise, para uma indústria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farmacêutica. Três abas: Dados, Perguntas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Agentes. Visual escuro, moderno, com cartões.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Sem servidor próprio: tudo em HTML, CSS e JS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no mesmo arquivo. No topo, um indicador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conexão com o n8n e um campo para a URL base,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guardado no navegador. Entregue o arquivo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completo, pronto para salvar como index.html."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UMA PÁGINA SÓ   </a:t>
            </a:r>
            <a:r>
              <a:rPr sz="1050" b="0">
                <a:solidFill>
                  <a:srgbClr val="3A3A4A"/>
                </a:solidFill>
                <a:latin typeface="Manrope"/>
              </a:rPr>
              <a:t>nenhuma instalação: salvar o arquivo e abrir no navegador.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TRÊS ABAS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escopo inteiro declarado antes da primeira função.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CONFIGURAÇÃO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URL do n8n vive no navegador, não no código.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abre sem erro, troca de aba, salva a URL.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Rode, abra o arquivo e confira o critério de aceite antes de pedir a próxima função.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2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v2: os dados entram e aparecem em tabela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"Na aba Dados: área para arrastar ou escolher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um CSV ou XLSX, leitura no navegador, prévia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tabela com as colunas do arquivo. Inclua um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botão Usar exemplo com os 30 relatos fictícios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abaixo, já embutidos. Mostre quantas linhas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colunas foram lidas. Mantenha tudo o que já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existe. [cole os relatos de exemplo]"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MANTENHA   </a:t>
            </a:r>
            <a:r>
              <a:rPr sz="1050" b="0">
                <a:solidFill>
                  <a:srgbClr val="3A3A4A"/>
                </a:solidFill>
                <a:latin typeface="Manrope"/>
              </a:rPr>
              <a:t>sem essa frase, o modelo reescreve e perde o que estava bom.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EXEMPLO EMBUTIDO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demonstração nunca depende de um arquivo que alguém esqueceu.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PRÉVIA   </a:t>
            </a:r>
            <a:r>
              <a:rPr sz="1050" b="0">
                <a:solidFill>
                  <a:srgbClr val="3A3A4A"/>
                </a:solidFill>
                <a:latin typeface="Manrope"/>
              </a:rPr>
              <a:t>ver os dados antes de mandar para o modelo é a primeira conferência.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30 linhas na tabela, CSV e XLSX abrindo.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Dado fictício dentro da página. O real nunca entra aqui.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3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v3: a página chama o n8n e desenha a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"Botão Analisar com IA: faz POST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inteli.app.n8n.cloud/webhook/analisar com {rows, instrucoes}. 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resposta é JSON {resumo, itens[{id,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classificacao, gravidade, motivo, trecho,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alerta}], alertas[]}. Mostre o resumo, quatro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contadores (eventos adversos, queixas técnicas,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pedidos de informação, graves), um gráfico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barras por classificação e a tabela com 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trecho citado. Trate carregando, erro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tempo esgotado."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CONTRATO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forma do JSON combinada entre página e workflow.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TRECHO NA TABELA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interface força a conferência que o encontro 1 pediu.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ERRO E ESPERA   </a:t>
            </a:r>
            <a:r>
              <a:rPr sz="1050" b="0">
                <a:solidFill>
                  <a:srgbClr val="3A3A4A"/>
                </a:solidFill>
                <a:latin typeface="Manrope"/>
              </a:rPr>
              <a:t>sem isso, o botão parece morto por 40 segundos.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análise aparece; sem n8n, mensagem clara.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Se a resposta não tiver a forma combinada, a página quebra. O contrato vale para os dois lados.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4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v4: perguntas aos dados, com conta e incerteza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"Aba Perguntas: campo de texto, botão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Perguntar e três atalhos (lotes repetidos,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gravidade a avaliar, cenários). POST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inteli.app.n8n.cloud/webhook/perguntar com {pergunta, rows, analise}.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Resposta JSON {resposta, conta, evidencias[],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suposicoes[], faltante[], confianca}. Mostre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cada parte com título próprio e a confiança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em destaque."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ATALHOS   </a:t>
            </a:r>
            <a:r>
              <a:rPr sz="1050" b="0">
                <a:solidFill>
                  <a:srgbClr val="3A3A4A"/>
                </a:solidFill>
                <a:latin typeface="Manrope"/>
              </a:rPr>
              <a:t>as perguntas que valem a pena já ficam escritas.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CONTA À VISTA   </a:t>
            </a:r>
            <a:r>
              <a:rPr sz="1050" b="0">
                <a:solidFill>
                  <a:srgbClr val="3A3A4A"/>
                </a:solidFill>
                <a:latin typeface="Manrope"/>
              </a:rPr>
              <a:t>é o bloco de análise de cenários da ementa, em um clique.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SUPOSIÇÃO SEPARADA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que o modelo deduziu não se mistura com o que leu.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resposta aparece em partes, com confiança.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Pergunta boa tem decisão em jogo. 'O que há de interessante' não é pergunta.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5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v5: a aba Agentes gera um arquivo 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"Aba Agentes: formulário com nome, papel,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objetivo, fontes autorizadas, o que não fazer,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formato de saída e ponto de aprovação humana.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Botão Gerar monta um arquivo markdown com um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título por campo; Salvar guarda no navegador;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Baixar entrega o .md. Botão Testar manda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{agente_md, mensagem, rows} para inteli.app.n8n.cloud/webhook/agente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 mostra a resposta."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SETE CAMPOS   </a:t>
            </a:r>
            <a:r>
              <a:rPr sz="1050" b="0">
                <a:solidFill>
                  <a:srgbClr val="3A3A4A"/>
                </a:solidFill>
                <a:latin typeface="Manrope"/>
              </a:rPr>
              <a:t>cada campo é uma decisão humana, um nível acima da ferramenta.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ARQUIVO .MD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agente vira texto versionável, legível por qualquer modelo.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TESTAR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mesmo .md roda no n8n como system prompt.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.md baixa, salva e responde no teste.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É o terreno do encontro 3: o caso priorizado hoje vira um agente desenhado em arquivo.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DADOS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Trinta relatos, trinta segundos, e a conferência continua humana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Resumo para diretor, contadores, gráfico por classificação e a tabela com o trecho citado em cada linha.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PERGUNTAS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 resposta separa conta, evidência, suposição e o que falta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Lotes repetidos: o modelo aponta o L24C22 com quatro relatos e diz que falta o denominador para calcular taxa.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AGENTES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formulário vira agente.md, e o .md já responde pelo n8n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Papel, objetivo, fontes, limites, formato e aprovação humana. Salvo no navegador, baixado em arquivo e testado no mesmo clique.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AGENTES · O ARQUIVO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agente.md: seis decisões humanas antes da primeira execução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 Triagem de relatos do SAC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Papel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Analista de farmacovigilância...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Fontes autorizadas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Apenas a planilha anexada. Fora dela: NÃO LOCALIZADO.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O que não fazer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Não avaliar causalidade. Não inventar lote.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Ponto de aprovação humana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Farmacovigilância revisa antes de notificar.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E OBJETIVO   </a:t>
            </a:r>
            <a:r>
              <a:rPr sz="1050" b="0">
                <a:solidFill>
                  <a:srgbClr val="3A3A4A"/>
                </a:solidFill>
                <a:latin typeface="Manrope"/>
              </a:rPr>
              <a:t>por quê e o quê: ficam com a pessoa.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FONTES E LIMITES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harness do encontro 1, escrito em texto.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APROVAÇÃO   </a:t>
            </a:r>
            <a:r>
              <a:rPr sz="1050" b="0">
                <a:solidFill>
                  <a:srgbClr val="3A3A4A"/>
                </a:solidFill>
                <a:latin typeface="Manrope"/>
              </a:rPr>
              <a:t>onde o agente para e chama alguém.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ENCONTRO 3   </a:t>
            </a:r>
            <a:r>
              <a:rPr sz="1050" b="0">
                <a:solidFill>
                  <a:srgbClr val="3A3A4A"/>
                </a:solidFill>
                <a:latin typeface="Manrope"/>
              </a:rPr>
              <a:t>buy vs. build, ROI e MVP partem deste arquivo.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Para 27/10: cada participante traz um agente.md do caso priorizado hoje.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Priorização de 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Projetos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3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CASOS DE REFERÊNCIA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7" name="Google Shape;537;p6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Resultados reportados por Bradesco, Klarna e Merck, cada um em um processo</a:t>
            </a:r>
            <a:endParaRPr/>
          </a:p>
        </p:txBody>
      </p:sp>
      <p:sp>
        <p:nvSpPr>
          <p:cNvPr id="538" name="Google Shape;538;p6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9" name="Google Shape;539;p67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0" name="Google Shape;540;p67"/>
          <p:cNvSpPr/>
          <p:nvPr/>
        </p:nvSpPr>
        <p:spPr>
          <a:xfrm>
            <a:off x="768096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BRADESCO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1" name="Google Shape;541;p67"/>
          <p:cNvSpPr/>
          <p:nvPr/>
        </p:nvSpPr>
        <p:spPr>
          <a:xfrm>
            <a:off x="749808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+118%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2" name="Google Shape;542;p67"/>
          <p:cNvSpPr/>
          <p:nvPr/>
        </p:nvSpPr>
        <p:spPr>
          <a:xfrm>
            <a:off x="768096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em funcionalidades entregues pela TI, de 2023 a 2025, numa transformação que também teve mais desenvolvedores e métodos ágeis.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3" name="Google Shape;543;p67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4" name="Google Shape;544;p67"/>
          <p:cNvSpPr/>
          <p:nvPr/>
        </p:nvSpPr>
        <p:spPr>
          <a:xfrm>
            <a:off x="3535680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KLARNA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5" name="Google Shape;545;p67"/>
          <p:cNvSpPr/>
          <p:nvPr/>
        </p:nvSpPr>
        <p:spPr>
          <a:xfrm>
            <a:off x="3517392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US$ 40 mi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6" name="Google Shape;546;p67"/>
          <p:cNvSpPr/>
          <p:nvPr/>
        </p:nvSpPr>
        <p:spPr>
          <a:xfrm>
            <a:off x="3535680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de melhoria de lucro estimada pela própria empresa para 2024, com o assistente de IA no atendimento.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7" name="Google Shape;547;p67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8" name="Google Shape;548;p67"/>
          <p:cNvSpPr/>
          <p:nvPr/>
        </p:nvSpPr>
        <p:spPr>
          <a:xfrm>
            <a:off x="6303264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MERCK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9" name="Google Shape;549;p67"/>
          <p:cNvSpPr/>
          <p:nvPr/>
        </p:nvSpPr>
        <p:spPr>
          <a:xfrm>
            <a:off x="6284976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4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180 → 80 h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0" name="Google Shape;550;p67"/>
          <p:cNvSpPr/>
          <p:nvPr/>
        </p:nvSpPr>
        <p:spPr>
          <a:xfrm>
            <a:off x="6303264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no primeiro rascunho do relatório de estudo clínico, com 50% menos erros, segundo a empresa.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1" name="Google Shape;551;p6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Fontes: Bradesco, resultados 4T25 e NeoFeed, 2026; Klarna, 27/02/2024; Merck, 25/06/2025. Números autodeclarados, sem auditoria independente.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2" name="Google Shape;552;p6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3" name="Google Shape;553;p6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4" name="Google Shape;554;p67" descr="Produtividade Bradesco"/>
          <p:cNvSpPr/>
          <p:nvPr/>
        </p:nvSpPr>
        <p:spPr>
          <a:xfrm>
            <a:off x="24765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Google Shape;555;p67" descr="Atendimento Klarna"/>
          <p:cNvSpPr/>
          <p:nvPr/>
        </p:nvSpPr>
        <p:spPr>
          <a:xfrm>
            <a:off x="52451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Google Shape;556;p67" descr="Pesquisa Merck"/>
          <p:cNvSpPr/>
          <p:nvPr/>
        </p:nvSpPr>
        <p:spPr>
          <a:xfrm>
            <a:off x="80137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57" name="Picture 556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58" name="TAG_CLASSE"/>
          <p:cNvSpPr txBox="1"/>
          <p:nvPr/>
        </p:nvSpPr>
        <p:spPr>
          <a:xfrm>
            <a:off x="6295643" y="256032"/>
            <a:ext cx="1586484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RESULTADO REPORTADO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POR QUE PROJETOS TRAVAM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Cinco causas recorrentes: negócio e dados pesam mais que o modelo</a:t>
            </a:r>
            <a:endParaRPr/>
          </a:p>
        </p:txBody>
      </p:sp>
      <p:sp>
        <p:nvSpPr>
          <p:cNvPr id="521" name="Google Shape;521;p6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2" name="Google Shape;522;p64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Síntese do instrutor a partir de McKinsey (2025), BCG (2024) e MIT NANDA (2025). A ordem não indica peso.</a:t>
            </a:r>
            <a:endParaRPr sz="9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3" name="Google Shape;523;p6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4" name="Google Shape;524;p6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64"/>
          <p:cNvSpPr/>
          <p:nvPr/>
        </p:nvSpPr>
        <p:spPr>
          <a:xfrm>
            <a:off x="546100" y="15748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Problema de negócio mal definido.</a:t>
            </a:r>
            <a:endParaRPr/>
          </a:p>
        </p:txBody>
      </p:sp>
      <p:sp>
        <p:nvSpPr>
          <p:cNvPr id="526" name="Google Shape;526;p64"/>
          <p:cNvSpPr/>
          <p:nvPr/>
        </p:nvSpPr>
        <p:spPr>
          <a:xfrm>
            <a:off x="546100" y="21590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 de baixa qualidade ou indisponíveis (governança de dados).</a:t>
            </a:r>
            <a:endParaRPr/>
          </a:p>
        </p:txBody>
      </p:sp>
      <p:sp>
        <p:nvSpPr>
          <p:cNvPr id="527" name="Google Shape;527;p64"/>
          <p:cNvSpPr/>
          <p:nvPr/>
        </p:nvSpPr>
        <p:spPr>
          <a:xfrm>
            <a:off x="546100" y="27432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Dificuldade de integração com os sistemas legados.</a:t>
            </a:r>
            <a:endParaRPr/>
          </a:p>
        </p:txBody>
      </p:sp>
      <p:sp>
        <p:nvSpPr>
          <p:cNvPr id="528" name="Google Shape;528;p64"/>
          <p:cNvSpPr/>
          <p:nvPr/>
        </p:nvSpPr>
        <p:spPr>
          <a:xfrm>
            <a:off x="546100" y="33274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4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Sem dono do processo e sem indicador de ROI.</a:t>
            </a:r>
            <a:endParaRPr/>
          </a:p>
        </p:txBody>
      </p:sp>
      <p:sp>
        <p:nvSpPr>
          <p:cNvPr id="529" name="Google Shape;529;p64"/>
          <p:cNvSpPr/>
          <p:nvPr/>
        </p:nvSpPr>
        <p:spPr>
          <a:xfrm>
            <a:off x="546100" y="39116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5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Lacuna de verificação: ninguém confere a saída do agente.</a:t>
            </a:r>
            <a:endParaRPr/>
          </a:p>
        </p:txBody>
      </p:sp>
      <p:pic>
        <p:nvPicPr>
          <p:cNvPr id="530" name="Picture 529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31" name="TAG_CLASSE"/>
          <p:cNvSpPr txBox="1"/>
          <p:nvPr/>
        </p:nvSpPr>
        <p:spPr>
          <a:xfrm>
            <a:off x="7228331" y="256032"/>
            <a:ext cx="653796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SÍNTESE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10-20-70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5" name="Google Shape;1485;p4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Heurística 10-20-70: onde as empresas líderes põem o esforço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6" name="Google Shape;1486;p4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7" name="Google Shape;1487;p47"/>
          <p:cNvSpPr/>
          <p:nvPr/>
        </p:nvSpPr>
        <p:spPr>
          <a:xfrm>
            <a:off x="548640" y="1645920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8" name="Google Shape;1488;p47"/>
          <p:cNvSpPr/>
          <p:nvPr/>
        </p:nvSpPr>
        <p:spPr>
          <a:xfrm>
            <a:off x="2926080" y="1773936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9" name="Google Shape;1489;p47"/>
          <p:cNvSpPr/>
          <p:nvPr/>
        </p:nvSpPr>
        <p:spPr>
          <a:xfrm>
            <a:off x="3154680" y="1645920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algoritmo e modelo.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0" name="Google Shape;1490;p47"/>
          <p:cNvSpPr/>
          <p:nvPr/>
        </p:nvSpPr>
        <p:spPr>
          <a:xfrm>
            <a:off x="548640" y="2578608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20%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1" name="Google Shape;1491;p47"/>
          <p:cNvSpPr/>
          <p:nvPr/>
        </p:nvSpPr>
        <p:spPr>
          <a:xfrm>
            <a:off x="2926080" y="2706624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2" name="Google Shape;1492;p47"/>
          <p:cNvSpPr/>
          <p:nvPr/>
        </p:nvSpPr>
        <p:spPr>
          <a:xfrm>
            <a:off x="3154680" y="2578608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tecnologia e dados.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3" name="Google Shape;1493;p47"/>
          <p:cNvSpPr/>
          <p:nvPr/>
        </p:nvSpPr>
        <p:spPr>
          <a:xfrm>
            <a:off x="548640" y="3511296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70%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4" name="Google Shape;1494;p47"/>
          <p:cNvSpPr/>
          <p:nvPr/>
        </p:nvSpPr>
        <p:spPr>
          <a:xfrm>
            <a:off x="2926080" y="3639312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5" name="Google Shape;1495;p47"/>
          <p:cNvSpPr/>
          <p:nvPr/>
        </p:nvSpPr>
        <p:spPr>
          <a:xfrm>
            <a:off x="3154680" y="3511296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pessoas e processos: adoção, redesenho do fluxo e governança.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6" name="Google Shape;1496;p4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Fonte: BCG, Where’s the value in AI?, 24/10/2024. Regra de alocação observada nas empresas que geram valor com IA. Serve de referência para o programa; cada projeto tem a sua proporção.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7" name="Google Shape;1497;p4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8" name="Google Shape;1498;p4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99" name="Picture 1498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500" name="TAG_CLASSE"/>
          <p:cNvSpPr txBox="1"/>
          <p:nvPr/>
        </p:nvSpPr>
        <p:spPr>
          <a:xfrm>
            <a:off x="6995159" y="256032"/>
            <a:ext cx="886968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HEURÍSTICA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8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VISÃO BASEADA EM RECURSOS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4" name="Google Shape;564;p68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 vantagem duradoura está nos recursos próprios, não na ferramenta</a:t>
            </a:r>
            <a:endParaRPr/>
          </a:p>
        </p:txBody>
      </p:sp>
      <p:sp>
        <p:nvSpPr>
          <p:cNvPr id="565" name="Google Shape;565;p68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6" name="Google Shape;566;p68"/>
          <p:cNvSpPr/>
          <p:nvPr/>
        </p:nvSpPr>
        <p:spPr>
          <a:xfrm>
            <a:off x="548640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7" name="Google Shape;567;p68"/>
          <p:cNvSpPr/>
          <p:nvPr/>
        </p:nvSpPr>
        <p:spPr>
          <a:xfrm>
            <a:off x="768096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ATIVOS DE DADOS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8" name="Google Shape;568;p68"/>
          <p:cNvSpPr/>
          <p:nvPr/>
        </p:nvSpPr>
        <p:spPr>
          <a:xfrm>
            <a:off x="768096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histórico de operações e de clientes que só a sua empresa tem.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9" name="Google Shape;569;p68"/>
          <p:cNvSpPr/>
          <p:nvPr/>
        </p:nvSpPr>
        <p:spPr>
          <a:xfrm>
            <a:off x="4700016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0" name="Google Shape;570;p68"/>
          <p:cNvSpPr/>
          <p:nvPr/>
        </p:nvSpPr>
        <p:spPr>
          <a:xfrm>
            <a:off x="4919472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CAPACIDADES TÉCNICAS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1" name="Google Shape;571;p68"/>
          <p:cNvSpPr/>
          <p:nvPr/>
        </p:nvSpPr>
        <p:spPr>
          <a:xfrm>
            <a:off x="4919472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Plataformas, integração e engenharia próprias.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2" name="Google Shape;572;p68"/>
          <p:cNvSpPr/>
          <p:nvPr/>
        </p:nvSpPr>
        <p:spPr>
          <a:xfrm>
            <a:off x="548640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3" name="Google Shape;573;p68"/>
          <p:cNvSpPr/>
          <p:nvPr/>
        </p:nvSpPr>
        <p:spPr>
          <a:xfrm>
            <a:off x="768096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CAPITAL HUMANO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4" name="Google Shape;574;p68"/>
          <p:cNvSpPr/>
          <p:nvPr/>
        </p:nvSpPr>
        <p:spPr>
          <a:xfrm>
            <a:off x="768096" y="36576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conhecimento de quem opera o negócio há décadas.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5" name="Google Shape;575;p68"/>
          <p:cNvSpPr/>
          <p:nvPr/>
        </p:nvSpPr>
        <p:spPr>
          <a:xfrm>
            <a:off x="4700016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6" name="Google Shape;576;p68"/>
          <p:cNvSpPr/>
          <p:nvPr/>
        </p:nvSpPr>
        <p:spPr>
          <a:xfrm>
            <a:off x="4919472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APRENDIZADO ORGANIZACIONAL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7" name="Google Shape;577;p68"/>
          <p:cNvSpPr/>
          <p:nvPr/>
        </p:nvSpPr>
        <p:spPr>
          <a:xfrm>
            <a:off x="4919472" y="37592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empresa que aprende e se adapta mais rápido.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68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Barney (1991): vantagem sustentada vem de recursos valiosos, raros, difíceis de imitar e bem organizados. Dado próprio conta, junto com processo, integração, confiança, talento e governança.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9" name="Google Shape;579;p68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Rede D’Or · 21/09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0" name="Google Shape;580;p68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1" name="Google Shape;581;p68" descr="Ícone dados"/>
          <p:cNvSpPr/>
          <p:nvPr/>
        </p:nvSpPr>
        <p:spPr>
          <a:xfrm>
            <a:off x="38608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Google Shape;582;p68" descr="Ícone capacidades técnicas"/>
          <p:cNvSpPr/>
          <p:nvPr/>
        </p:nvSpPr>
        <p:spPr>
          <a:xfrm>
            <a:off x="80137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Google Shape;583;p68" descr="Ícone capital humano"/>
          <p:cNvSpPr/>
          <p:nvPr/>
        </p:nvSpPr>
        <p:spPr>
          <a:xfrm>
            <a:off x="38608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Google Shape;584;p68" descr="Ícone aprendizado organizacional"/>
          <p:cNvSpPr/>
          <p:nvPr/>
        </p:nvSpPr>
        <p:spPr>
          <a:xfrm>
            <a:off x="80137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85" name="Picture 5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9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MÉTODO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pelo processo, não pela ferramenta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658368" y="169392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658368" y="169392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1371600" y="160934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Decisões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1371600" y="192024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decisões se repetem nesse processo?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658368" y="244830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658368" y="244830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1371600" y="236372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Regras e exceções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1371600" y="267462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regras de negócio e quais exceções existem?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58368" y="320268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658368" y="320268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1371600" y="311810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e dados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1371600" y="342900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sistemas e quais dados já estão disponíveis?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58368" y="395706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658368" y="395706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1371600" y="387248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1371600" y="418338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que caracteriza um bom resultado ao final?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12" name="Picture 6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613" name="TextBox 612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2E2640"/>
                </a:solidFill>
                <a:latin typeface="Manrope"/>
              </a:rPr>
              <a:t>Para cada etapa, tragam evidência: tempo, volume, erro, retrabalho e impacto.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Escolha o processo que vai atravessar o dia todo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Esse processo será a base do prompt, da priorização e do protótipo da tarde.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Cada grupo escolhe um processo real da sua área e preenche os seis campos: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PROCESSO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DOR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DECISÃO QUE SE REPETE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DADOS QUE EXISTEM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RECURSO ÚNICO QUE ELE TOCA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Dois prompts para mapear o seu processo no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1 · STEP-BACK ·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2 · DECOMPOSIÇÃO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Cole no Copilot, trocando o que está entre colchetes: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"Antes de sugerir qualquer solução, reformule o problema abaixo como uma pergunta de negócio e liste as três decisões que mais se repetem nele. Não proponha tecnologia ainda. Problema: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[descreva o seu processo em cinco linhas]</a:t>
            </a:r>
            <a:r>
              <a:rPr sz="1100">
                <a:solidFill>
                  <a:srgbClr val="E0E0E8"/>
                </a:solidFill>
                <a:latin typeface="Space Mono"/>
              </a:rPr>
              <a:t>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Depois, na mesma conversa: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"Agora quebre esse processo em etapas. Para cada etapa devolva uma linha de tabela com etapa, entrada, saída, regra de negócio e exceção conhecida. Marque com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(?)</a:t>
            </a:r>
            <a:r>
              <a:rPr sz="1100">
                <a:solidFill>
                  <a:srgbClr val="E0E0E8"/>
                </a:solidFill>
                <a:latin typeface="Space Mono"/>
              </a:rPr>
              <a:t> toda etapa que você inferiu. Não invente decisões: se faltar evidência, escreva DADO FALTANTE e a pergunta para o dono do processo."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370832"/>
            <a:ext cx="84201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2640"/>
                </a:solidFill>
                <a:latin typeface="Manrope"/>
              </a:rPr>
              <a:t>O (?) é o ponto da atividade. O Copilot não conhece o fluxo de vocês e vai preencher buraco. Riscar o que ele inventou é o trabalho.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que sai do Copilot, e o que você corta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última coluna é a mais importante: vira o teste do prompt da tarde. Para priorizar, anotem também impacto, risco, reversibilidade e evidência atual.</a:t>
            </a:r>
            <a:endParaRPr sz="1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Traga a tabela do passo 2 para esta ficha. Só entra a linha que você confirma.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ETAPA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ENTRADA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SAÍDA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DE NEGÓCIO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EXCEÇÃO CONHECIDA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O QUE ELE INVENTOU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8"/>
          <p:cNvSpPr/>
          <p:nvPr/>
        </p:nvSpPr>
        <p:spPr>
          <a:xfrm>
            <a:off x="2757813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3" name="Google Shape;803;p78"/>
          <p:cNvSpPr/>
          <p:nvPr/>
        </p:nvSpPr>
        <p:spPr>
          <a:xfrm>
            <a:off x="3777024" y="205241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4" name="Google Shape;804;p78"/>
          <p:cNvSpPr txBox="1"/>
          <p:nvPr/>
        </p:nvSpPr>
        <p:spPr>
          <a:xfrm>
            <a:off x="408975" y="309825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 características de cada "fatia" nos levam às tecnologias certas</a:t>
            </a:r>
            <a:endParaRPr sz="19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5" name="Google Shape;805;p78"/>
          <p:cNvSpPr/>
          <p:nvPr/>
        </p:nvSpPr>
        <p:spPr>
          <a:xfrm>
            <a:off x="-237525" y="1644800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Carga de Repetição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Frequência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6" name="Google Shape;806;p78"/>
          <p:cNvSpPr txBox="1"/>
          <p:nvPr/>
        </p:nvSpPr>
        <p:spPr>
          <a:xfrm>
            <a:off x="341373" y="1397980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Caracterizadores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7" name="Google Shape;807;p78"/>
          <p:cNvSpPr/>
          <p:nvPr/>
        </p:nvSpPr>
        <p:spPr>
          <a:xfrm>
            <a:off x="-237525" y="212434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Eficiência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Velocidade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8" name="Google Shape;808;p78"/>
          <p:cNvSpPr/>
          <p:nvPr/>
        </p:nvSpPr>
        <p:spPr>
          <a:xfrm>
            <a:off x="-237525" y="3071628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Integração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Sistêmica &amp; Automação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9" name="Google Shape;809;p78"/>
          <p:cNvSpPr/>
          <p:nvPr/>
        </p:nvSpPr>
        <p:spPr>
          <a:xfrm>
            <a:off x="-237525" y="354327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Adaptação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&amp; Especialização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0" name="Google Shape;810;p78"/>
          <p:cNvSpPr/>
          <p:nvPr/>
        </p:nvSpPr>
        <p:spPr>
          <a:xfrm>
            <a:off x="-237525" y="401660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Uso de Linguagem Natural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1" name="Google Shape;811;p78"/>
          <p:cNvSpPr/>
          <p:nvPr/>
        </p:nvSpPr>
        <p:spPr>
          <a:xfrm>
            <a:off x="2757813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Manual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2" name="Google Shape;812;p78"/>
          <p:cNvSpPr/>
          <p:nvPr/>
        </p:nvSpPr>
        <p:spPr>
          <a:xfrm>
            <a:off x="364824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Excel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3" name="Google Shape;813;p78"/>
          <p:cNvSpPr/>
          <p:nvPr/>
        </p:nvSpPr>
        <p:spPr>
          <a:xfrm>
            <a:off x="4538692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Sistema / Ferramenta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4" name="Google Shape;814;p78"/>
          <p:cNvSpPr/>
          <p:nvPr/>
        </p:nvSpPr>
        <p:spPr>
          <a:xfrm>
            <a:off x="542930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RPA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5" name="Google Shape;815;p78"/>
          <p:cNvSpPr/>
          <p:nvPr/>
        </p:nvSpPr>
        <p:spPr>
          <a:xfrm>
            <a:off x="631957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IA Clássica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6" name="Google Shape;816;p78"/>
          <p:cNvSpPr/>
          <p:nvPr/>
        </p:nvSpPr>
        <p:spPr>
          <a:xfrm>
            <a:off x="720559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LLM / IA generativa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7" name="Google Shape;817;p78"/>
          <p:cNvSpPr/>
          <p:nvPr/>
        </p:nvSpPr>
        <p:spPr>
          <a:xfrm>
            <a:off x="8086887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 de IA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8" name="Google Shape;818;p78"/>
          <p:cNvSpPr txBox="1"/>
          <p:nvPr/>
        </p:nvSpPr>
        <p:spPr>
          <a:xfrm>
            <a:off x="2757810" y="905511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Tecnologias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9" name="Google Shape;819;p78"/>
          <p:cNvSpPr/>
          <p:nvPr/>
        </p:nvSpPr>
        <p:spPr>
          <a:xfrm>
            <a:off x="-237525" y="259857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Complexidade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0" name="Google Shape;820;p78"/>
          <p:cNvSpPr/>
          <p:nvPr/>
        </p:nvSpPr>
        <p:spPr>
          <a:xfrm>
            <a:off x="2757813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1" name="Google Shape;821;p78"/>
          <p:cNvSpPr/>
          <p:nvPr/>
        </p:nvSpPr>
        <p:spPr>
          <a:xfrm>
            <a:off x="2757813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2" name="Google Shape;822;p78"/>
          <p:cNvSpPr/>
          <p:nvPr/>
        </p:nvSpPr>
        <p:spPr>
          <a:xfrm>
            <a:off x="2990163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3" name="Google Shape;823;p78"/>
          <p:cNvSpPr/>
          <p:nvPr/>
        </p:nvSpPr>
        <p:spPr>
          <a:xfrm>
            <a:off x="2990163" y="215598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4" name="Google Shape;824;p78"/>
          <p:cNvSpPr/>
          <p:nvPr/>
        </p:nvSpPr>
        <p:spPr>
          <a:xfrm>
            <a:off x="2990163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5" name="Google Shape;825;p78"/>
          <p:cNvSpPr/>
          <p:nvPr/>
        </p:nvSpPr>
        <p:spPr>
          <a:xfrm>
            <a:off x="3880599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6" name="Google Shape;826;p78"/>
          <p:cNvSpPr/>
          <p:nvPr/>
        </p:nvSpPr>
        <p:spPr>
          <a:xfrm>
            <a:off x="377702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7" name="Google Shape;827;p78"/>
          <p:cNvSpPr/>
          <p:nvPr/>
        </p:nvSpPr>
        <p:spPr>
          <a:xfrm>
            <a:off x="3880599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8" name="Google Shape;828;p78"/>
          <p:cNvSpPr/>
          <p:nvPr/>
        </p:nvSpPr>
        <p:spPr>
          <a:xfrm>
            <a:off x="3777024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9" name="Google Shape;829;p78"/>
          <p:cNvSpPr/>
          <p:nvPr/>
        </p:nvSpPr>
        <p:spPr>
          <a:xfrm>
            <a:off x="3777024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0" name="Google Shape;830;p78"/>
          <p:cNvSpPr/>
          <p:nvPr/>
        </p:nvSpPr>
        <p:spPr>
          <a:xfrm>
            <a:off x="4667467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1" name="Google Shape;831;p78"/>
          <p:cNvSpPr/>
          <p:nvPr/>
        </p:nvSpPr>
        <p:spPr>
          <a:xfrm>
            <a:off x="4667467" y="206297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2" name="Google Shape;832;p78"/>
          <p:cNvSpPr/>
          <p:nvPr/>
        </p:nvSpPr>
        <p:spPr>
          <a:xfrm>
            <a:off x="4538692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3" name="Google Shape;833;p78"/>
          <p:cNvSpPr/>
          <p:nvPr/>
        </p:nvSpPr>
        <p:spPr>
          <a:xfrm>
            <a:off x="4667467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4" name="Google Shape;834;p78"/>
          <p:cNvSpPr/>
          <p:nvPr/>
        </p:nvSpPr>
        <p:spPr>
          <a:xfrm>
            <a:off x="4538692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5" name="Google Shape;835;p78"/>
          <p:cNvSpPr/>
          <p:nvPr/>
        </p:nvSpPr>
        <p:spPr>
          <a:xfrm>
            <a:off x="4667467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6" name="Google Shape;836;p78"/>
          <p:cNvSpPr/>
          <p:nvPr/>
        </p:nvSpPr>
        <p:spPr>
          <a:xfrm>
            <a:off x="542930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7" name="Google Shape;837;p78"/>
          <p:cNvSpPr/>
          <p:nvPr/>
        </p:nvSpPr>
        <p:spPr>
          <a:xfrm>
            <a:off x="5429304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8" name="Google Shape;838;p78"/>
          <p:cNvSpPr/>
          <p:nvPr/>
        </p:nvSpPr>
        <p:spPr>
          <a:xfrm>
            <a:off x="542930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9" name="Google Shape;839;p78"/>
          <p:cNvSpPr/>
          <p:nvPr/>
        </p:nvSpPr>
        <p:spPr>
          <a:xfrm>
            <a:off x="5429304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0" name="Google Shape;840;p78"/>
          <p:cNvSpPr/>
          <p:nvPr/>
        </p:nvSpPr>
        <p:spPr>
          <a:xfrm>
            <a:off x="5661654" y="3574913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1" name="Google Shape;841;p78"/>
          <p:cNvSpPr/>
          <p:nvPr/>
        </p:nvSpPr>
        <p:spPr>
          <a:xfrm>
            <a:off x="5661654" y="4048244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2" name="Google Shape;842;p78"/>
          <p:cNvSpPr/>
          <p:nvPr/>
        </p:nvSpPr>
        <p:spPr>
          <a:xfrm>
            <a:off x="631957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3" name="Google Shape;843;p78"/>
          <p:cNvSpPr/>
          <p:nvPr/>
        </p:nvSpPr>
        <p:spPr>
          <a:xfrm>
            <a:off x="6319574" y="19190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4" name="Google Shape;844;p78"/>
          <p:cNvSpPr/>
          <p:nvPr/>
        </p:nvSpPr>
        <p:spPr>
          <a:xfrm>
            <a:off x="631957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5" name="Google Shape;845;p78"/>
          <p:cNvSpPr/>
          <p:nvPr/>
        </p:nvSpPr>
        <p:spPr>
          <a:xfrm>
            <a:off x="6448349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6" name="Google Shape;846;p78"/>
          <p:cNvSpPr/>
          <p:nvPr/>
        </p:nvSpPr>
        <p:spPr>
          <a:xfrm>
            <a:off x="6448349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7" name="Google Shape;847;p78"/>
          <p:cNvSpPr/>
          <p:nvPr/>
        </p:nvSpPr>
        <p:spPr>
          <a:xfrm>
            <a:off x="6448349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8" name="Google Shape;848;p78"/>
          <p:cNvSpPr/>
          <p:nvPr/>
        </p:nvSpPr>
        <p:spPr>
          <a:xfrm>
            <a:off x="7334374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9" name="Google Shape;849;p78"/>
          <p:cNvSpPr/>
          <p:nvPr/>
        </p:nvSpPr>
        <p:spPr>
          <a:xfrm>
            <a:off x="7334374" y="199282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0" name="Google Shape;850;p78"/>
          <p:cNvSpPr/>
          <p:nvPr/>
        </p:nvSpPr>
        <p:spPr>
          <a:xfrm>
            <a:off x="733437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1" name="Google Shape;851;p78"/>
          <p:cNvSpPr/>
          <p:nvPr/>
        </p:nvSpPr>
        <p:spPr>
          <a:xfrm>
            <a:off x="7334374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2" name="Google Shape;852;p78"/>
          <p:cNvSpPr/>
          <p:nvPr/>
        </p:nvSpPr>
        <p:spPr>
          <a:xfrm>
            <a:off x="7205599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3" name="Google Shape;853;p78"/>
          <p:cNvSpPr/>
          <p:nvPr/>
        </p:nvSpPr>
        <p:spPr>
          <a:xfrm>
            <a:off x="7205599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4" name="Google Shape;854;p78"/>
          <p:cNvSpPr/>
          <p:nvPr/>
        </p:nvSpPr>
        <p:spPr>
          <a:xfrm>
            <a:off x="8086887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5" name="Google Shape;855;p78"/>
          <p:cNvSpPr/>
          <p:nvPr/>
        </p:nvSpPr>
        <p:spPr>
          <a:xfrm>
            <a:off x="8086887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6" name="Google Shape;856;p78"/>
          <p:cNvSpPr/>
          <p:nvPr/>
        </p:nvSpPr>
        <p:spPr>
          <a:xfrm>
            <a:off x="8086887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7" name="Google Shape;857;p78"/>
          <p:cNvSpPr/>
          <p:nvPr/>
        </p:nvSpPr>
        <p:spPr>
          <a:xfrm>
            <a:off x="8086887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8" name="Google Shape;858;p78"/>
          <p:cNvSpPr/>
          <p:nvPr/>
        </p:nvSpPr>
        <p:spPr>
          <a:xfrm>
            <a:off x="8086887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9" name="Google Shape;859;p78"/>
          <p:cNvSpPr/>
          <p:nvPr/>
        </p:nvSpPr>
        <p:spPr>
          <a:xfrm>
            <a:off x="8086887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60" name="Picture 8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861" name="TextBox 860"/>
          <p:cNvSpPr txBox="1"/>
          <p:nvPr/>
        </p:nvSpPr>
        <p:spPr>
          <a:xfrm>
            <a:off x="365760" y="461772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757575"/>
                </a:solidFill>
                <a:latin typeface="Manrope"/>
              </a:rPr>
              <a:t>Tamanho da bolha: aderência da tecnologia à característica, avaliação ilustrativa do instrutor.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MATRIZ VALOR X VIABILIDADE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onde a IA entrega mais valor com menos esforço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186537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1"/>
          <p:cNvSpPr/>
          <p:nvPr/>
        </p:nvSpPr>
        <p:spPr>
          <a:xfrm>
            <a:off x="1865376" y="1636776"/>
            <a:ext cx="3218688" cy="2560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1"/>
          <p:cNvSpPr/>
          <p:nvPr/>
        </p:nvSpPr>
        <p:spPr>
          <a:xfrm>
            <a:off x="195681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QUICK WINS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1"/>
          <p:cNvSpPr/>
          <p:nvPr/>
        </p:nvSpPr>
        <p:spPr>
          <a:xfrm>
            <a:off x="195681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Implementar primeiro. Ex.: resumo automático de reclamações de clientes.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1"/>
          <p:cNvSpPr/>
          <p:nvPr/>
        </p:nvSpPr>
        <p:spPr>
          <a:xfrm>
            <a:off x="515721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1"/>
          <p:cNvSpPr/>
          <p:nvPr/>
        </p:nvSpPr>
        <p:spPr>
          <a:xfrm>
            <a:off x="5157216" y="1636776"/>
            <a:ext cx="3218688" cy="256032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1"/>
          <p:cNvSpPr/>
          <p:nvPr/>
        </p:nvSpPr>
        <p:spPr>
          <a:xfrm>
            <a:off x="524865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MOON SHOTS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1"/>
          <p:cNvSpPr/>
          <p:nvPr/>
        </p:nvSpPr>
        <p:spPr>
          <a:xfrm>
            <a:off x="524865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Planejar 12 a 24 meses. Ex.: previsão de demanda ponta a ponta.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1"/>
          <p:cNvSpPr/>
          <p:nvPr/>
        </p:nvSpPr>
        <p:spPr>
          <a:xfrm>
            <a:off x="186537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1"/>
          <p:cNvSpPr/>
          <p:nvPr/>
        </p:nvSpPr>
        <p:spPr>
          <a:xfrm>
            <a:off x="1865376" y="3076956"/>
            <a:ext cx="3218688" cy="256032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51"/>
          <p:cNvSpPr/>
          <p:nvPr/>
        </p:nvSpPr>
        <p:spPr>
          <a:xfrm>
            <a:off x="195681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FILL-INS</a:t>
            </a:r>
            <a:endParaRPr sz="1400" b="0" i="0" u="none" strike="noStrike" cap="none">
              <a:solidFill>
                <a:srgbClr val="2E26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1"/>
          <p:cNvSpPr/>
          <p:nvPr/>
        </p:nvSpPr>
        <p:spPr>
          <a:xfrm>
            <a:off x="195681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Fazer se sobrar capacidade do time.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1"/>
          <p:cNvSpPr/>
          <p:nvPr/>
        </p:nvSpPr>
        <p:spPr>
          <a:xfrm>
            <a:off x="515721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1"/>
          <p:cNvSpPr/>
          <p:nvPr/>
        </p:nvSpPr>
        <p:spPr>
          <a:xfrm>
            <a:off x="5157216" y="3076956"/>
            <a:ext cx="3218688" cy="2560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1"/>
          <p:cNvSpPr/>
          <p:nvPr/>
        </p:nvSpPr>
        <p:spPr>
          <a:xfrm>
            <a:off x="524865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AVOID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1"/>
          <p:cNvSpPr/>
          <p:nvPr/>
        </p:nvSpPr>
        <p:spPr>
          <a:xfrm>
            <a:off x="524865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Não priorizar agora. Reavaliar quando houver dados.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1"/>
          <p:cNvSpPr/>
          <p:nvPr/>
        </p:nvSpPr>
        <p:spPr>
          <a:xfrm>
            <a:off x="685800" y="155448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1"/>
          <p:cNvSpPr/>
          <p:nvPr/>
        </p:nvSpPr>
        <p:spPr>
          <a:xfrm>
            <a:off x="685800" y="42245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1"/>
          <p:cNvSpPr/>
          <p:nvPr/>
        </p:nvSpPr>
        <p:spPr>
          <a:xfrm rot="-5400000">
            <a:off x="182880" y="29032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IMPACTO NO NEGÓCIO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1"/>
          <p:cNvSpPr/>
          <p:nvPr/>
        </p:nvSpPr>
        <p:spPr>
          <a:xfrm>
            <a:off x="182880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1"/>
          <p:cNvSpPr/>
          <p:nvPr/>
        </p:nvSpPr>
        <p:spPr>
          <a:xfrm>
            <a:off x="512064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1"/>
          <p:cNvSpPr/>
          <p:nvPr/>
        </p:nvSpPr>
        <p:spPr>
          <a:xfrm>
            <a:off x="1828800" y="477316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ESFORÇO DE IMPLEMENTAÇÃO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87" name="Google Shape;1587;p51"/>
          <p:cNvSpPr/>
          <p:nvPr/>
        </p:nvSpPr>
        <p:spPr>
          <a:xfrm>
            <a:off x="1778000" y="1676400"/>
            <a:ext cx="19050" cy="2768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1"/>
          <p:cNvSpPr/>
          <p:nvPr/>
        </p:nvSpPr>
        <p:spPr>
          <a:xfrm>
            <a:off x="1708150" y="1536700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1"/>
          <p:cNvSpPr/>
          <p:nvPr/>
        </p:nvSpPr>
        <p:spPr>
          <a:xfrm>
            <a:off x="1866900" y="4470400"/>
            <a:ext cx="6502400" cy="1905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51"/>
          <p:cNvSpPr/>
          <p:nvPr/>
        </p:nvSpPr>
        <p:spPr>
          <a:xfrm rot="5400000">
            <a:off x="8356600" y="4410075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1" name="Picture 1590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00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FRAMEWORK RICE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0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RICE: um número comparável para priorizar projetos</a:t>
            </a:r>
            <a:endParaRPr/>
          </a:p>
        </p:txBody>
      </p:sp>
      <p:sp>
        <p:nvSpPr>
          <p:cNvPr id="1599" name="Google Shape;1599;p100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solidFill>
            <a:srgbClr val="EEF1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  =  </a:t>
            </a:r>
            <a:r>
              <a:rPr lang="en-US" sz="1600" b="1" i="0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( Alcance × Impacto × Confiança )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  /  </a:t>
            </a: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Esforço</a:t>
            </a:r>
            <a:endParaRPr/>
          </a:p>
        </p:txBody>
      </p:sp>
      <p:sp>
        <p:nvSpPr>
          <p:cNvPr id="1602" name="Google Shape;1602;p100"/>
          <p:cNvSpPr/>
          <p:nvPr/>
        </p:nvSpPr>
        <p:spPr>
          <a:xfrm>
            <a:off x="548640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100"/>
          <p:cNvSpPr/>
          <p:nvPr/>
        </p:nvSpPr>
        <p:spPr>
          <a:xfrm>
            <a:off x="548640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00"/>
          <p:cNvSpPr/>
          <p:nvPr/>
        </p:nvSpPr>
        <p:spPr>
          <a:xfrm>
            <a:off x="640080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 · ALCANCE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100"/>
          <p:cNvSpPr/>
          <p:nvPr/>
        </p:nvSpPr>
        <p:spPr>
          <a:xfrm>
            <a:off x="658368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Quantas operações ou pessoas o projeto afeta.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00"/>
          <p:cNvSpPr/>
          <p:nvPr/>
        </p:nvSpPr>
        <p:spPr>
          <a:xfrm>
            <a:off x="658368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5 milhões de clientes atendidos.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00"/>
          <p:cNvSpPr/>
          <p:nvPr/>
        </p:nvSpPr>
        <p:spPr>
          <a:xfrm>
            <a:off x="2587752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100"/>
          <p:cNvSpPr/>
          <p:nvPr/>
        </p:nvSpPr>
        <p:spPr>
          <a:xfrm>
            <a:off x="2587752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00"/>
          <p:cNvSpPr/>
          <p:nvPr/>
        </p:nvSpPr>
        <p:spPr>
          <a:xfrm>
            <a:off x="2679192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 · IMPACTO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00"/>
          <p:cNvSpPr/>
          <p:nvPr/>
        </p:nvSpPr>
        <p:spPr>
          <a:xfrm>
            <a:off x="2697480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Magnitude da melhoria por operação (0,25 a 3).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00"/>
          <p:cNvSpPr/>
          <p:nvPr/>
        </p:nvSpPr>
        <p:spPr>
          <a:xfrm>
            <a:off x="2697480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reduzir o tempo de resposta ao cliente.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00"/>
          <p:cNvSpPr/>
          <p:nvPr/>
        </p:nvSpPr>
        <p:spPr>
          <a:xfrm>
            <a:off x="4626864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00"/>
          <p:cNvSpPr/>
          <p:nvPr/>
        </p:nvSpPr>
        <p:spPr>
          <a:xfrm>
            <a:off x="4626864" y="2286000"/>
            <a:ext cx="1920240" cy="310896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00"/>
          <p:cNvSpPr/>
          <p:nvPr/>
        </p:nvSpPr>
        <p:spPr>
          <a:xfrm>
            <a:off x="4718304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 · CONFIANÇA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100"/>
          <p:cNvSpPr/>
          <p:nvPr/>
        </p:nvSpPr>
        <p:spPr>
          <a:xfrm>
            <a:off x="4736592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Certeza de que a solução funciona (50% a 100%).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100"/>
          <p:cNvSpPr/>
          <p:nvPr/>
        </p:nvSpPr>
        <p:spPr>
          <a:xfrm>
            <a:off x="4736592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caso com dado histórico farto = alta.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100"/>
          <p:cNvSpPr/>
          <p:nvPr/>
        </p:nvSpPr>
        <p:spPr>
          <a:xfrm>
            <a:off x="6665976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00"/>
          <p:cNvSpPr/>
          <p:nvPr/>
        </p:nvSpPr>
        <p:spPr>
          <a:xfrm>
            <a:off x="6665976" y="2286000"/>
            <a:ext cx="1920240" cy="31089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00"/>
          <p:cNvSpPr/>
          <p:nvPr/>
        </p:nvSpPr>
        <p:spPr>
          <a:xfrm>
            <a:off x="6757416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 · ESFORÇO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00"/>
          <p:cNvSpPr/>
          <p:nvPr/>
        </p:nvSpPr>
        <p:spPr>
          <a:xfrm>
            <a:off x="6775704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Tempo e custo de integração (pessoa-mês).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00"/>
          <p:cNvSpPr/>
          <p:nvPr/>
        </p:nvSpPr>
        <p:spPr>
          <a:xfrm>
            <a:off x="6775704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integrar o ERP e a base de clientes.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00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00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24" name="Picture 1623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5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CRITÉRIOS PARA PROJETOS DE 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IA, RICE precisa de critérios que ele não captura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3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https://josercf.github.io/rice-scoring/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35" name="Google Shape;1635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435" y="1394448"/>
            <a:ext cx="2877312" cy="287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Picture 1635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0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GESTÃO DE PORTFÓLIO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3" name="Google Shape;1643;p10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a carteira, não o projeto isolado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4" name="Google Shape;1644;p10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5" name="Google Shape;1645;p101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6" name="Google Shape;1646;p101"/>
          <p:cNvSpPr/>
          <p:nvPr/>
        </p:nvSpPr>
        <p:spPr>
          <a:xfrm>
            <a:off x="768096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VITÓRIAS RÁPIDAS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7" name="Google Shape;1647;p101"/>
          <p:cNvSpPr/>
          <p:nvPr/>
        </p:nvSpPr>
        <p:spPr>
          <a:xfrm>
            <a:off x="768096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Retorno imediato, geram confiança e dado.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8" name="Google Shape;1648;p101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9" name="Google Shape;1649;p101"/>
          <p:cNvSpPr/>
          <p:nvPr/>
        </p:nvSpPr>
        <p:spPr>
          <a:xfrm>
            <a:off x="3535680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PROJETOS DE BASE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0" name="Google Shape;1650;p101"/>
          <p:cNvSpPr/>
          <p:nvPr/>
        </p:nvSpPr>
        <p:spPr>
          <a:xfrm>
            <a:off x="3535680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Dados, plataforma e competências reutilizáveis. Constroem o recurso único de amanhã.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1" name="Google Shape;1651;p101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2" name="Google Shape;1652;p101"/>
          <p:cNvSpPr/>
          <p:nvPr/>
        </p:nvSpPr>
        <p:spPr>
          <a:xfrm>
            <a:off x="6303264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TRANSFORMACIONAIS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3" name="Google Shape;1653;p101"/>
          <p:cNvSpPr/>
          <p:nvPr/>
        </p:nvSpPr>
        <p:spPr>
          <a:xfrm>
            <a:off x="6303264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Alto impacto e longo prazo. Dependem da base.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4" name="Google Shape;1654;p101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Três critérios: valor, risco e alinhamento estratégico. Projetos interagem: uma base de dados destrava vários outros. (Benaija e Kjiri, 2015). Considerem também a capacidade do time e um limite de projetos simultâneos.</a:t>
            </a:r>
            <a:endParaRPr sz="9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5" name="Google Shape;1655;p10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6" name="Google Shape;1656;p10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7" name="Google Shape;1657;p101" descr="Vitórias rápidas"/>
          <p:cNvSpPr/>
          <p:nvPr/>
        </p:nvSpPr>
        <p:spPr>
          <a:xfrm>
            <a:off x="24765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8" name="Google Shape;1658;p101" descr="Projetos de base"/>
          <p:cNvSpPr/>
          <p:nvPr/>
        </p:nvSpPr>
        <p:spPr>
          <a:xfrm>
            <a:off x="52451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9" name="Google Shape;1659;p101" descr="Transformacionais"/>
          <p:cNvSpPr/>
          <p:nvPr/>
        </p:nvSpPr>
        <p:spPr>
          <a:xfrm>
            <a:off x="80137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660" name="Picture 16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02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7" name="Google Shape;1667;p102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o seu projeto e defenda a nota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8" name="Google Shape;1668;p102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9" name="Google Shape;1669;p102"/>
          <p:cNvSpPr/>
          <p:nvPr/>
        </p:nvSpPr>
        <p:spPr>
          <a:xfrm>
            <a:off x="548640" y="4267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4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Cada nota precisa de uma evidência, ou fica marcada como hipótese a validar.</a:t>
            </a:r>
            <a:endParaRPr sz="14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0" name="Google Shape;1670;p102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1" name="Google Shape;1671;p102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2" name="Google Shape;1672;p102"/>
          <p:cNvSpPr/>
          <p:nvPr/>
        </p:nvSpPr>
        <p:spPr>
          <a:xfrm>
            <a:off x="5461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3" name="Google Shape;1673;p102"/>
          <p:cNvSpPr txBox="1"/>
          <p:nvPr/>
        </p:nvSpPr>
        <p:spPr>
          <a:xfrm>
            <a:off x="7239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Aplique</a:t>
            </a:r>
            <a:endParaRPr/>
          </a:p>
        </p:txBody>
      </p:sp>
      <p:sp>
        <p:nvSpPr>
          <p:cNvPr id="1674" name="Google Shape;1674;p102"/>
          <p:cNvSpPr txBox="1"/>
          <p:nvPr/>
        </p:nvSpPr>
        <p:spPr>
          <a:xfrm>
            <a:off x="7239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Matriz Valor × Viabilidade e RICE no processo do seu grupo.</a:t>
            </a:r>
            <a:endParaRPr/>
          </a:p>
        </p:txBody>
      </p:sp>
      <p:sp>
        <p:nvSpPr>
          <p:cNvPr id="1675" name="Google Shape;1675;p102"/>
          <p:cNvSpPr/>
          <p:nvPr/>
        </p:nvSpPr>
        <p:spPr>
          <a:xfrm>
            <a:off x="327025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6" name="Google Shape;1676;p102"/>
          <p:cNvSpPr txBox="1"/>
          <p:nvPr/>
        </p:nvSpPr>
        <p:spPr>
          <a:xfrm>
            <a:off x="344805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Verifique</a:t>
            </a:r>
            <a:endParaRPr/>
          </a:p>
        </p:txBody>
      </p:sp>
      <p:sp>
        <p:nvSpPr>
          <p:cNvPr id="1677" name="Google Shape;1677;p102"/>
          <p:cNvSpPr txBox="1"/>
          <p:nvPr/>
        </p:nvSpPr>
        <p:spPr>
          <a:xfrm>
            <a:off x="344805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Apoia-se em recurso único? Destrava outros projetos?</a:t>
            </a:r>
            <a:endParaRPr/>
          </a:p>
        </p:txBody>
      </p:sp>
      <p:sp>
        <p:nvSpPr>
          <p:cNvPr id="1678" name="Google Shape;1678;p102"/>
          <p:cNvSpPr/>
          <p:nvPr/>
        </p:nvSpPr>
        <p:spPr>
          <a:xfrm>
            <a:off x="59944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9" name="Google Shape;1679;p102"/>
          <p:cNvSpPr txBox="1"/>
          <p:nvPr/>
        </p:nvSpPr>
        <p:spPr>
          <a:xfrm>
            <a:off x="61722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Defenda</a:t>
            </a:r>
            <a:endParaRPr/>
          </a:p>
        </p:txBody>
      </p:sp>
      <p:sp>
        <p:nvSpPr>
          <p:cNvPr id="1680" name="Google Shape;1680;p102"/>
          <p:cNvSpPr txBox="1"/>
          <p:nvPr/>
        </p:nvSpPr>
        <p:spPr>
          <a:xfrm>
            <a:off x="61722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Apresente a escolha e justifique a nota.</a:t>
            </a:r>
            <a:endParaRPr/>
          </a:p>
        </p:txBody>
      </p:sp>
      <p:sp>
        <p:nvSpPr>
          <p:cNvPr id="1681" name="Google Shape;1681;p102"/>
          <p:cNvSpPr txBox="1"/>
          <p:nvPr/>
        </p:nvSpPr>
        <p:spPr>
          <a:xfrm>
            <a:off x="546100" y="304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ENTREGÁVEIS</a:t>
            </a:r>
            <a:endParaRPr/>
          </a:p>
        </p:txBody>
      </p:sp>
      <p:sp>
        <p:nvSpPr>
          <p:cNvPr id="1682" name="Google Shape;1682;p102"/>
          <p:cNvSpPr/>
          <p:nvPr/>
        </p:nvSpPr>
        <p:spPr>
          <a:xfrm>
            <a:off x="5461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QUADRANTE DA MATRIZ</a:t>
            </a:r>
            <a:endParaRPr/>
          </a:p>
        </p:txBody>
      </p:sp>
      <p:sp>
        <p:nvSpPr>
          <p:cNvPr id="1683" name="Google Shape;1683;p102"/>
          <p:cNvSpPr/>
          <p:nvPr/>
        </p:nvSpPr>
        <p:spPr>
          <a:xfrm>
            <a:off x="33020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SCORE RICE</a:t>
            </a:r>
            <a:endParaRPr/>
          </a:p>
        </p:txBody>
      </p:sp>
      <p:sp>
        <p:nvSpPr>
          <p:cNvPr id="1684" name="Google Shape;1684;p102"/>
          <p:cNvSpPr/>
          <p:nvPr/>
        </p:nvSpPr>
        <p:spPr>
          <a:xfrm>
            <a:off x="6057900" y="3378200"/>
            <a:ext cx="2540000" cy="406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JUSTIFICATIVA EM 1 FRASE</a:t>
            </a:r>
            <a:endParaRPr/>
          </a:p>
        </p:txBody>
      </p:sp>
      <p:pic>
        <p:nvPicPr>
          <p:cNvPr id="1685" name="Picture 16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640"/>
        </a:solidFill>
        <a:effectLst/>
      </p:bgPr>
    </p:bg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07"/>
          <p:cNvSpPr/>
          <p:nvPr/>
        </p:nvSpPr>
        <p:spPr>
          <a:xfrm>
            <a:off x="-762135" y="1444040"/>
            <a:ext cx="2739300" cy="16005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8" name="Google Shape;1788;p107"/>
          <p:cNvSpPr/>
          <p:nvPr/>
        </p:nvSpPr>
        <p:spPr>
          <a:xfrm rot="10800000">
            <a:off x="6807184" y="3062896"/>
            <a:ext cx="2298771" cy="2057400"/>
          </a:xfrm>
          <a:custGeom>
            <a:avLst/>
            <a:gdLst/>
            <a:ahLst/>
            <a:cxnLst/>
            <a:rect l="l" t="t" r="r" b="b"/>
            <a:pathLst>
              <a:path w="4597542" h="4114800" extrusionOk="0">
                <a:moveTo>
                  <a:pt x="0" y="4114800"/>
                </a:moveTo>
                <a:lnTo>
                  <a:pt x="4597542" y="4114800"/>
                </a:lnTo>
                <a:lnTo>
                  <a:pt x="45975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9" name="Google Shape;1789;p107"/>
          <p:cNvSpPr txBox="1"/>
          <p:nvPr/>
        </p:nvSpPr>
        <p:spPr>
          <a:xfrm>
            <a:off x="852468" y="283238"/>
            <a:ext cx="3108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39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Key Takeaways</a:t>
            </a:r>
            <a:endParaRPr sz="2500" b="0" i="0" u="none" strike="noStrike" cap="non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0" name="Google Shape;1790;p107"/>
          <p:cNvSpPr txBox="1"/>
          <p:nvPr/>
        </p:nvSpPr>
        <p:spPr>
          <a:xfrm>
            <a:off x="738544" y="1551581"/>
            <a:ext cx="1185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0"/>
              <a:buFont typeface="Arial"/>
              <a:buNone/>
            </a:pPr>
            <a:r>
              <a:rPr lang="en-US" sz="9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0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1" name="Google Shape;1791;p107"/>
          <p:cNvSpPr txBox="1"/>
          <p:nvPr/>
        </p:nvSpPr>
        <p:spPr>
          <a:xfrm>
            <a:off x="2196581" y="1482581"/>
            <a:ext cx="3154680" cy="151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4700"/>
              <a:buFont typeface="Arial"/>
              <a:buNone/>
            </a:pPr>
            <a:r>
              <a:rPr lang="en-US" sz="3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 diferencial é o processo</a:t>
            </a:r>
            <a:endParaRPr/>
          </a:p>
        </p:txBody>
      </p:sp>
      <p:sp>
        <p:nvSpPr>
          <p:cNvPr id="1792" name="Google Shape;1792;p107"/>
          <p:cNvSpPr txBox="1"/>
          <p:nvPr/>
        </p:nvSpPr>
        <p:spPr>
          <a:xfrm>
            <a:off x="5499338" y="3048000"/>
            <a:ext cx="3444600" cy="180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 tecnologia tende a ficar parecida entre empresas; dados, processo e pessoas fazem a diferença.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Problema claro, dado de qualidade e governança vêm antes do modelo.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Agentes orquestram o processo, e o humano desenha onde eles param.</a:t>
            </a:r>
            <a:endParaRPr/>
          </a:p>
        </p:txBody>
      </p:sp>
      <p:cxnSp>
        <p:nvCxnSpPr>
          <p:cNvPr id="1793" name="Google Shape;1793;p107"/>
          <p:cNvCxnSpPr/>
          <p:nvPr/>
        </p:nvCxnSpPr>
        <p:spPr>
          <a:xfrm>
            <a:off x="5320613" y="2978663"/>
            <a:ext cx="0" cy="176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94" name="Picture 1793" descr="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FECHAMENTO DO ENCONTRO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você leva daqui, e o que segue em 27/10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prompt versionado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Os achados conferidos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com o trecho citado e o veredito de cada ponto.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parecer com cenários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 estressada por red team.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caso de uso priorizado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Quadrante da matriz, score e justificativa em uma frase.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Em 27/10, o caso escolhido hoje passa por buy vs. build, ROI e definição de MVP. Em 29/10, presencial, vira business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Mercado, adoção e 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ADOÇÃO E RETORNO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4"/>
              </a:rPr>
              <a:t>Microsoft. Work Trend Index 2025: the year the Frontier Firm is born.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5"/>
              </a:rPr>
              <a:t>Gartner. 3 bold and actionable predictions for the future of GenAI. 2024. Previsão para 2028.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6"/>
              </a:rPr>
              <a:t>Jakkal, V. 80% of Fortune 500 use active AI agents. Microsoft Security Blog, 10/02/2026.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7"/>
              </a:rPr>
              <a:t>McKinsey. Seizing the agentic AI advantage. 13/06/2025.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</a:rPr>
              <a:t>Challapally, A. et al. The GenAI Divide: state of AI in business 2025. MIT NANDA,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8"/>
              </a:rPr>
              <a:t>Schuman, E. 88% of AI pilots fail to reach production. CIO.com, 25/03/2025. Dados IDC e Lenovo.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9"/>
              </a:rPr>
              <a:t>Deloitte. State of AI in the Enterprise 2026. 21/01/2026.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ESFORÇO, CASOS E CUSTO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0"/>
              </a:rPr>
              <a:t>BCG. Where’s the value in AI? 24/10/2024.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1"/>
              </a:rPr>
              <a:t>Brynjolfsson, E.; Rock, D.; Syverson, C. The productivity J-curve. American Economic Journal: Macroeconomics, 13(1), 2021.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2"/>
              </a:rPr>
              <a:t>Merck. Merck expands innovative internal generative AI solutions. 25/06/2025.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3"/>
              </a:rPr>
              <a:t>Klarna. Klarna AI assistant handles two-thirds of customer service chats in its first month. 27/02/2024.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4"/>
              </a:rPr>
              <a:t>Bradesco. Apresentação de resultados 4T25, 2026. NeoFeed, entrevista com a CTO, 2026.</a:t>
            </a:r>
          </a:p>
          <a:p>
            <a:pPr>
              <a:spcAft>
                <a:spcPts val="300"/>
              </a:spcAft>
            </a:pPr>
            <a:endParaRPr sz="900" b="0" i="0">
              <a:solidFill>
                <a:srgbClr val="3A3A4A"/>
              </a:solidFill>
              <a:latin typeface="Manrope"/>
              <a:hlinkClick r:id="rId14"/>
            </a:endParaRP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5"/>
              </a:rPr>
              <a:t>InfoMoney. Conta da IA chega às empresas e força limites para funcionários. Acesso em 15/07/2026.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f07a913747_0_1729"/>
          <p:cNvSpPr txBox="1"/>
          <p:nvPr/>
        </p:nvSpPr>
        <p:spPr>
          <a:xfrm>
            <a:off x="1967138" y="3710981"/>
            <a:ext cx="581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José Romualdo </a:t>
            </a:r>
            <a: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| Professor Inteli</a:t>
            </a:r>
            <a:b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US" sz="13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0" name="Google Shape;1800;g3f07a913747_0_17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734" y="35624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g3f07a913747_0_17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025" y="3367425"/>
            <a:ext cx="1140113" cy="1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Picture 1801" descr="logo_st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LABORATÓRIO · ACESSO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Abra a Mesa de Análise e aponte para o n8n da turma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6737" y="1404000"/>
            <a:ext cx="6290526" cy="29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Quem preferir construir a própria página usa os cinco prompts a seguir; quem preferir acompanhar usa esta. Repositório: github.com/josercf/sindusfarma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9948</Words>
  <Application>Microsoft Macintosh PowerPoint</Application>
  <PresentationFormat>On-screen Show (16:9)</PresentationFormat>
  <Paragraphs>1158</Paragraphs>
  <Slides>82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Manrope</vt:lpstr>
      <vt:lpstr>Arial</vt:lpstr>
      <vt:lpstr>Helvetica Neue</vt:lpstr>
      <vt:lpstr>Platypi Light</vt:lpstr>
      <vt:lpstr>Manrope Medium</vt:lpstr>
      <vt:lpstr>Platypi</vt:lpstr>
      <vt:lpstr>Space Mono</vt:lpstr>
      <vt:lpstr>Calibri</vt:lpstr>
      <vt:lpstr>Platypi Medium</vt:lpstr>
      <vt:lpstr>Manrope Light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Somos uma organização sem fins lucrativos, fundada por líderes do setor privado do Brasil, com o propósito de criar um instituto de tecnologia de excelência, comprometido em formar os futuros líderes de tecnologia que vão revolucionar a América Latina.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Embarque nessa "viagem"</vt:lpstr>
      <vt:lpstr>Tokens: "fatiando" uma mensagem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Inteli</dc:creator>
  <cp:lastModifiedBy>José Romualdo Costa Filho</cp:lastModifiedBy>
  <cp:revision>6</cp:revision>
  <dcterms:created xsi:type="dcterms:W3CDTF">2026-07-02T20:01:51Z</dcterms:created>
  <dcterms:modified xsi:type="dcterms:W3CDTF">2026-10-22T16:21:49Z</dcterms:modified>
</cp:coreProperties>
</file>